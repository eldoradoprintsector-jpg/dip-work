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charts/chart3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71" r:id="rId7"/>
    <p:sldId id="272" r:id="rId8"/>
    <p:sldId id="262" r:id="rId9"/>
    <p:sldId id="274" r:id="rId10"/>
    <p:sldId id="263" r:id="rId11"/>
    <p:sldId id="264" r:id="rId12"/>
    <p:sldId id="275" r:id="rId13"/>
    <p:sldId id="266" r:id="rId14"/>
    <p:sldId id="267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0033"/>
    <a:srgbClr val="660033"/>
    <a:srgbClr val="A500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504" autoAdjust="0"/>
    <p:restoredTop sz="94610"/>
  </p:normalViewPr>
  <p:slideViewPr>
    <p:cSldViewPr snapToGrid="0" snapToObjects="1">
      <p:cViewPr>
        <p:scale>
          <a:sx n="125" d="100"/>
          <a:sy n="125" d="100"/>
        </p:scale>
        <p:origin x="461" y="-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6D2E46"/>
                </a:solidFill>
                <a:latin typeface="Cambria"/>
              </a:defRPr>
            </a:pPr>
            <a:r>
              <a:rPr lang="ru-RU" sz="1200" b="0" i="0" u="none" strike="noStrike" dirty="0">
                <a:solidFill>
                  <a:srgbClr val="6D2E46"/>
                </a:solidFill>
                <a:latin typeface="Cambria"/>
              </a:rPr>
              <a:t>Динамика ВВП в </a:t>
            </a:r>
            <a:r>
              <a:rPr lang="ru-RU" sz="1200" b="0" i="0" u="none" strike="noStrike" dirty="0" smtClean="0">
                <a:solidFill>
                  <a:srgbClr val="6D2E46"/>
                </a:solidFill>
                <a:latin typeface="Cambria"/>
              </a:rPr>
              <a:t>2020 </a:t>
            </a:r>
            <a:r>
              <a:rPr lang="ru-RU" sz="1200" b="0" i="0" u="none" strike="noStrike" dirty="0">
                <a:solidFill>
                  <a:srgbClr val="6D2E46"/>
                </a:solidFill>
                <a:latin typeface="Cambria"/>
              </a:rPr>
              <a:t>г., %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Падение ВВП в 2020, %</c:v>
                </c:pt>
              </c:strCache>
            </c:strRef>
          </c:tx>
          <c:spPr>
            <a:solidFill>
              <a:srgbClr val="6D2E46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 i="0" u="none" strike="noStrike">
                    <a:solidFill>
                      <a:srgbClr val="6D2E46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Эстония</c:v>
                </c:pt>
                <c:pt idx="1">
                  <c:v>Корея</c:v>
                </c:pt>
                <c:pt idx="2">
                  <c:v>Сингапур</c:v>
                </c:pt>
                <c:pt idx="3">
                  <c:v>Польша</c:v>
                </c:pt>
                <c:pt idx="4">
                  <c:v>ЕС-27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-3</c:v>
                </c:pt>
                <c:pt idx="1">
                  <c:v>-0.7</c:v>
                </c:pt>
                <c:pt idx="2">
                  <c:v>-3.9</c:v>
                </c:pt>
                <c:pt idx="3">
                  <c:v>-2</c:v>
                </c:pt>
                <c:pt idx="4">
                  <c:v>-6.1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F4D-41C9-A739-491EF52249E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2D2D2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6CFC4"/>
              </a:solidFill>
              <a:prstDash val="dash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chemeClr val="accent1">
        <a:lumMod val="20000"/>
        <a:lumOff val="80000"/>
      </a:schemeClr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6D2E46"/>
                </a:solidFill>
                <a:latin typeface="Cambria"/>
              </a:defRPr>
            </a:pPr>
            <a:r>
              <a:rPr lang="ru-RU" sz="1200" b="0" i="0" u="none" strike="noStrike" dirty="0">
                <a:solidFill>
                  <a:srgbClr val="6D2E46"/>
                </a:solidFill>
                <a:latin typeface="Cambria"/>
              </a:rPr>
              <a:t>Динамика ВВП в </a:t>
            </a:r>
            <a:r>
              <a:rPr lang="ru-RU" sz="1200" b="0" i="0" u="none" strike="noStrike" dirty="0" smtClean="0">
                <a:solidFill>
                  <a:srgbClr val="6D2E46"/>
                </a:solidFill>
                <a:latin typeface="Cambria"/>
              </a:rPr>
              <a:t>2021 </a:t>
            </a:r>
            <a:r>
              <a:rPr lang="ru-RU" sz="1200" b="0" i="0" u="none" strike="noStrike" dirty="0">
                <a:solidFill>
                  <a:srgbClr val="6D2E46"/>
                </a:solidFill>
                <a:latin typeface="Cambria"/>
              </a:rPr>
              <a:t>г., %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Восстановление ВВП в 2021, %</c:v>
                </c:pt>
              </c:strCache>
            </c:strRef>
          </c:tx>
          <c:spPr>
            <a:solidFill>
              <a:srgbClr val="6D2E46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 i="0" u="none" strike="noStrike">
                    <a:solidFill>
                      <a:srgbClr val="6D2E46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Sheet1!$A$2:$A$6</c:f>
              <c:strCache>
                <c:ptCount val="4"/>
                <c:pt idx="0">
                  <c:v>Эстония</c:v>
                </c:pt>
                <c:pt idx="1">
                  <c:v>Корея</c:v>
                </c:pt>
                <c:pt idx="2">
                  <c:v>Сингапур</c:v>
                </c:pt>
                <c:pt idx="3">
                  <c:v>Польша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8.6</c:v>
                </c:pt>
                <c:pt idx="1">
                  <c:v>4.5999999999999996</c:v>
                </c:pt>
                <c:pt idx="2">
                  <c:v>7.6</c:v>
                </c:pt>
                <c:pt idx="3">
                  <c:v>5.9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F4D-41C9-A739-491EF52249E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2D2D2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6CFC4"/>
              </a:solidFill>
              <a:prstDash val="dash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chemeClr val="accent1">
        <a:lumMod val="20000"/>
        <a:lumOff val="80000"/>
      </a:schemeClr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6D2E46"/>
                </a:solidFill>
                <a:latin typeface="Cambria"/>
              </a:defRPr>
            </a:pPr>
            <a:r>
              <a:rPr lang="ru-RU" sz="1200" b="0" i="0" u="none" strike="noStrike" dirty="0">
                <a:solidFill>
                  <a:srgbClr val="6D2E46"/>
                </a:solidFill>
                <a:latin typeface="Cambria"/>
              </a:rPr>
              <a:t>Динамика ВВП в </a:t>
            </a:r>
            <a:r>
              <a:rPr lang="ru-RU" sz="1200" b="0" i="0" u="none" strike="noStrike" dirty="0" smtClean="0">
                <a:solidFill>
                  <a:srgbClr val="6D2E46"/>
                </a:solidFill>
                <a:latin typeface="Cambria"/>
              </a:rPr>
              <a:t>2020 </a:t>
            </a:r>
            <a:r>
              <a:rPr lang="ru-RU" sz="1200" b="0" i="0" u="none" strike="noStrike" dirty="0">
                <a:solidFill>
                  <a:srgbClr val="6D2E46"/>
                </a:solidFill>
                <a:latin typeface="Cambria"/>
              </a:rPr>
              <a:t>г., %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Восстановление ВВП в 2021, %</c:v>
                </c:pt>
              </c:strCache>
            </c:strRef>
          </c:tx>
          <c:spPr>
            <a:solidFill>
              <a:srgbClr val="6D2E46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 i="0" u="none" strike="noStrike">
                    <a:solidFill>
                      <a:srgbClr val="6D2E46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Sheet1!$A$2:$A$6</c:f>
              <c:strCache>
                <c:ptCount val="4"/>
                <c:pt idx="0">
                  <c:v>Эстония</c:v>
                </c:pt>
                <c:pt idx="1">
                  <c:v>Корея</c:v>
                </c:pt>
                <c:pt idx="2">
                  <c:v>Сингапур</c:v>
                </c:pt>
                <c:pt idx="3">
                  <c:v>Польша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-1.3</c:v>
                </c:pt>
                <c:pt idx="1">
                  <c:v>2.7</c:v>
                </c:pt>
                <c:pt idx="2">
                  <c:v>3.6</c:v>
                </c:pt>
                <c:pt idx="3">
                  <c:v>4.9000000000000004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F4D-41C9-A739-491EF52249E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2D2D2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6CFC4"/>
              </a:solidFill>
              <a:prstDash val="dash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chemeClr val="accent1">
        <a:lumMod val="20000"/>
        <a:lumOff val="80000"/>
      </a:schemeClr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79141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7757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6987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3793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3921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gradFill flip="none" rotWithShape="1">
          <a:gsLst>
            <a:gs pos="0">
              <a:schemeClr val="accent1"/>
            </a:gs>
            <a:gs pos="0">
              <a:scrgbClr r="0" g="0" b="0"/>
            </a:gs>
            <a:gs pos="0">
              <a:scrgbClr r="0" g="0" b="0"/>
            </a:gs>
            <a:gs pos="0">
              <a:schemeClr val="accent1"/>
            </a:gs>
            <a:gs pos="0">
              <a:scrgbClr r="0" g="0" b="0"/>
            </a:gs>
            <a:gs pos="100000">
              <a:schemeClr val="accent1"/>
            </a:gs>
            <a:gs pos="100000">
              <a:srgbClr val="DFE7F5"/>
            </a:gs>
            <a:gs pos="100000">
              <a:srgbClr val="DFE7F5"/>
            </a:gs>
            <a:gs pos="0">
              <a:scrgbClr r="0" g="0" b="0"/>
            </a:gs>
            <a:gs pos="0">
              <a:schemeClr val="accent1">
                <a:lumMod val="30000"/>
                <a:lumOff val="70000"/>
              </a:schemeClr>
            </a:gs>
          </a:gsLst>
          <a:path path="rect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371600" cy="18288"/>
          </a:xfrm>
          <a:prstGeom prst="rect">
            <a:avLst/>
          </a:prstGeom>
          <a:solidFill>
            <a:srgbClr val="A88B4A"/>
          </a:solidFill>
          <a:ln w="12700">
            <a:solidFill>
              <a:srgbClr val="A88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65760"/>
            <a:ext cx="18288" cy="914400"/>
          </a:xfrm>
          <a:prstGeom prst="rect">
            <a:avLst/>
          </a:prstGeom>
          <a:solidFill>
            <a:srgbClr val="A88B4A"/>
          </a:solidFill>
          <a:ln w="12700">
            <a:solidFill>
              <a:srgbClr val="A88B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06640" y="4741164"/>
            <a:ext cx="1371600" cy="18288"/>
          </a:xfrm>
          <a:prstGeom prst="rect">
            <a:avLst/>
          </a:prstGeom>
          <a:solidFill>
            <a:srgbClr val="A88B4A"/>
          </a:solidFill>
          <a:ln w="12700">
            <a:solidFill>
              <a:srgbClr val="A88B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59952" y="3840480"/>
            <a:ext cx="18288" cy="914400"/>
          </a:xfrm>
          <a:prstGeom prst="rect">
            <a:avLst/>
          </a:prstGeom>
          <a:solidFill>
            <a:srgbClr val="A88B4A"/>
          </a:solidFill>
          <a:ln w="12700">
            <a:solidFill>
              <a:srgbClr val="A88B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МИНИСТЕРСТВО ИНОСТРАННЫХ ДЕЛ РЕСПУБЛИКИ УЗБЕКИСТАН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5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Университет мировой экономики и дипломатии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463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600" dirty="0">
                <a:solidFill>
                  <a:srgbClr val="A88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ВЫПУСКНАЯ КВАЛИФИКАЦИОННАЯ РАБОТА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18745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Цифровизация экономики и устойчивость стран к глобальным кризисам: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международный опыт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kern="0" spc="400" dirty="0">
                <a:solidFill>
                  <a:schemeClr val="accent2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Ташкент  •  2026</a:t>
            </a:r>
            <a:endParaRPr lang="en-US" sz="12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9" name="Прямоугольник 18"/>
          <p:cNvSpPr/>
          <p:nvPr/>
        </p:nvSpPr>
        <p:spPr>
          <a:xfrm>
            <a:off x="2512881" y="3378815"/>
            <a:ext cx="402542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2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Выполнил</a:t>
            </a:r>
            <a:r>
              <a:rPr lang="en-US" sz="12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  <a:r>
              <a:rPr lang="ru-RU" sz="1200" dirty="0" err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Уктамов</a:t>
            </a:r>
            <a:r>
              <a:rPr lang="ru-RU" sz="12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sz="1200" dirty="0" err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Мухаммаджон</a:t>
            </a:r>
            <a:r>
              <a:rPr lang="ru-RU" sz="12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sz="1200" dirty="0" err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Уткирович</a:t>
            </a:r>
            <a:endParaRPr lang="ru-RU" sz="12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r>
              <a:rPr lang="ru-RU" sz="12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Научный руководитель</a:t>
            </a:r>
            <a:r>
              <a:rPr lang="en-US" sz="12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  <a:r>
              <a:rPr lang="ru-RU" sz="12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доцент </a:t>
            </a:r>
            <a:r>
              <a:rPr lang="ru-RU" sz="1200" dirty="0" err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Умарова</a:t>
            </a:r>
            <a:r>
              <a:rPr lang="ru-RU" sz="12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Ш. Г.</a:t>
            </a:r>
            <a:endParaRPr lang="en-US" sz="12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gradFill>
          <a:gsLst>
            <a:gs pos="100000">
              <a:schemeClr val="accent1"/>
            </a:gs>
            <a:gs pos="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670657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Актуальность исследования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</a:pPr>
            <a:r>
              <a:rPr lang="ru-RU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Мировой финансовый кризис 2008-2009 годов, </a:t>
            </a:r>
            <a:r>
              <a:rPr lang="ru-RU" sz="1200" dirty="0" smtClean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экзогенный </a:t>
            </a:r>
            <a:r>
              <a:rPr lang="ru-RU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шок </a:t>
            </a:r>
            <a:r>
              <a:rPr lang="ru-RU" sz="1200" dirty="0" smtClean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 года </a:t>
            </a:r>
            <a:r>
              <a:rPr lang="ru-RU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геополитический </a:t>
            </a:r>
            <a:r>
              <a:rPr lang="ru-RU" sz="1200" dirty="0" smtClean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кризис </a:t>
            </a:r>
            <a:r>
              <a:rPr lang="ru-RU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 года показали: устойчивость экономики зависит не только от макроэкономической политики, но и от структурных факторов.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488817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Цифровизация </a:t>
            </a: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становится одним из факторов, способных усиливать устойчивость национальной экономики, особенно в условиях </a:t>
            </a:r>
            <a:r>
              <a:rPr lang="en-US" sz="1200" i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четвёртой промышленной революции</a:t>
            </a: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483864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Узбекистана </a:t>
            </a: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 особенно актуален: реализуется Стратегия </a:t>
            </a:r>
            <a:r>
              <a:rPr lang="en-US" sz="1200" b="1" i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«Цифровой </a:t>
            </a:r>
            <a:r>
              <a:rPr lang="en-US" sz="1200" b="1" i="1" dirty="0" err="1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Узбекистан</a:t>
            </a:r>
            <a:r>
              <a:rPr lang="en-US" sz="1200" b="1" i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i="1" dirty="0" smtClean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200" b="1" i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2030»</a:t>
            </a: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и важно понимать, какие направления цифровизации действительно повышают устойчивость.</a:t>
            </a:r>
            <a:endParaRPr lang="en-US" sz="1200" dirty="0"/>
          </a:p>
        </p:txBody>
      </p:sp>
      <p:pic>
        <p:nvPicPr>
          <p:cNvPr id="22" name="图片 1"/>
          <p:cNvPicPr/>
          <p:nvPr/>
        </p:nvPicPr>
        <p:blipFill>
          <a:blip r:embed="rId3"/>
          <a:stretch>
            <a:fillRect/>
          </a:stretch>
        </p:blipFill>
        <p:spPr>
          <a:xfrm>
            <a:off x="8448675" y="292608"/>
            <a:ext cx="476250" cy="381762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pic>
        <p:nvPicPr>
          <p:cNvPr id="19" name="Рисунок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7204" y="1366617"/>
            <a:ext cx="3942476" cy="299986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38912" y="455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Объект, предмет и цель исследования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2743200" cy="1783080"/>
          </a:xfrm>
          <a:prstGeom prst="rect">
            <a:avLst/>
          </a:prstGeom>
          <a:solidFill>
            <a:srgbClr val="FAF6EE"/>
          </a:solidFill>
          <a:ln w="6350">
            <a:solidFill>
              <a:srgbClr val="D6CFC4"/>
            </a:solidFill>
            <a:prstDash val="solid"/>
          </a:ln>
          <a:effectLst>
            <a:reflection blurRad="6350" stA="50000" endA="300" endPos="38500" dist="50800" dir="5400000" sy="-100000" algn="bl" rotWithShape="0"/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46304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97280" y="1463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ОБЪЕКТ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0079" y="1966623"/>
            <a:ext cx="2282025" cy="968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sz="1100" dirty="0"/>
              <a:t>национальные экономики и их устойчивость к глобальным кризисам различной природы в условиях цифровой трансформации.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337560" y="1325880"/>
            <a:ext cx="2743200" cy="1783080"/>
          </a:xfrm>
          <a:prstGeom prst="rect">
            <a:avLst/>
          </a:prstGeom>
          <a:solidFill>
            <a:srgbClr val="FAF6EE"/>
          </a:solidFill>
          <a:ln w="6350">
            <a:solidFill>
              <a:srgbClr val="D6CFC4"/>
            </a:solidFill>
            <a:prstDash val="solid"/>
          </a:ln>
          <a:effectLst>
            <a:reflection blurRad="6350" stA="50000" endA="300" endPos="38500" dist="50800" dir="5400000" sy="-100000" algn="bl" rotWithShape="0"/>
          </a:effectLst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0440" y="146304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977640" y="1463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ПРЕДМЕТ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3520440" y="1920240"/>
            <a:ext cx="2423160" cy="889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sz="1100" dirty="0"/>
              <a:t>механизмы и каналы воздействия цифровых технологий на макроэкономическую устойчивость национальных экономик в условиях глобальных кризисов различной природы.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217920" y="1325880"/>
            <a:ext cx="2743200" cy="1783080"/>
          </a:xfrm>
          <a:prstGeom prst="rect">
            <a:avLst/>
          </a:prstGeom>
          <a:solidFill>
            <a:srgbClr val="FAF6EE"/>
          </a:solidFill>
          <a:ln w="6350">
            <a:solidFill>
              <a:srgbClr val="D6CFC4"/>
            </a:solidFill>
            <a:prstDash val="solid"/>
          </a:ln>
          <a:effectLst>
            <a:reflection blurRad="6350" stA="50000" endA="300" endPos="38500" dist="50800" dir="5400000" sy="-100000" algn="bl" rotWithShape="0"/>
          </a:effectLst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146304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858000" y="1463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6400800" y="1932167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Выявить и эмпирически обосновать каналы влияния цифровизации на устойчивость, разработать рекомендации для Республики Узбекистан.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457200" y="33375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Задачи исследования</a:t>
            </a:r>
            <a:endParaRPr lang="en-US" sz="1500" dirty="0"/>
          </a:p>
        </p:txBody>
      </p:sp>
      <p:sp>
        <p:nvSpPr>
          <p:cNvPr id="20" name="Shape 15"/>
          <p:cNvSpPr/>
          <p:nvPr/>
        </p:nvSpPr>
        <p:spPr>
          <a:xfrm>
            <a:off x="457200" y="3739896"/>
            <a:ext cx="256032" cy="256032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457200" y="37398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804672" y="370332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Раскрыть теоретические основы цифровизации и каналы воздействия на устойчивость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4663440" y="3739896"/>
            <a:ext cx="256032" cy="256032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4663440" y="37398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5010912" y="370332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Проанализировать подходы к категории устойчивости и её ключевые компоненты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457200" y="4105656"/>
            <a:ext cx="256032" cy="256032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457200" y="41056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804672" y="406908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Сравнить модели Эстонии, Кореи, Сингапура и Польши, их реакцию </a:t>
            </a:r>
            <a:r>
              <a:rPr lang="en-US" sz="10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</a:t>
            </a: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000" dirty="0" smtClean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глобальные </a:t>
            </a:r>
            <a:r>
              <a:rPr lang="en-US" sz="1000" dirty="0" err="1" smtClean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кризис</a:t>
            </a:r>
            <a:r>
              <a:rPr lang="ru-RU" sz="1000" dirty="0" smtClean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ы различной природы 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4663440" y="4105656"/>
            <a:ext cx="256032" cy="256032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4663440" y="41056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00" dirty="0"/>
          </a:p>
        </p:txBody>
      </p:sp>
      <p:sp>
        <p:nvSpPr>
          <p:cNvPr id="31" name="Text 26"/>
          <p:cNvSpPr/>
          <p:nvPr/>
        </p:nvSpPr>
        <p:spPr>
          <a:xfrm>
            <a:off x="5010912" y="406908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Построить эконометрическую модель на панельных данных и интерпретировать результаты</a:t>
            </a:r>
            <a:endParaRPr lang="en-US" sz="1000" dirty="0"/>
          </a:p>
        </p:txBody>
      </p:sp>
      <p:sp>
        <p:nvSpPr>
          <p:cNvPr id="32" name="Shape 27"/>
          <p:cNvSpPr/>
          <p:nvPr/>
        </p:nvSpPr>
        <p:spPr>
          <a:xfrm>
            <a:off x="457200" y="4471416"/>
            <a:ext cx="256032" cy="256032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457200" y="44714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100" dirty="0"/>
          </a:p>
        </p:txBody>
      </p:sp>
      <p:sp>
        <p:nvSpPr>
          <p:cNvPr id="34" name="Text 29"/>
          <p:cNvSpPr/>
          <p:nvPr/>
        </p:nvSpPr>
        <p:spPr>
          <a:xfrm>
            <a:off x="804672" y="443484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Оценить состояние цифровой трансформации Узбекистана в рамках Стратегии 2030</a:t>
            </a:r>
            <a:endParaRPr lang="en-US" sz="1000" dirty="0"/>
          </a:p>
        </p:txBody>
      </p:sp>
      <p:sp>
        <p:nvSpPr>
          <p:cNvPr id="35" name="Shape 30"/>
          <p:cNvSpPr/>
          <p:nvPr/>
        </p:nvSpPr>
        <p:spPr>
          <a:xfrm>
            <a:off x="4663440" y="4471416"/>
            <a:ext cx="256032" cy="256032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4663440" y="44714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100" dirty="0"/>
          </a:p>
        </p:txBody>
      </p:sp>
      <p:sp>
        <p:nvSpPr>
          <p:cNvPr id="37" name="Text 32"/>
          <p:cNvSpPr/>
          <p:nvPr/>
        </p:nvSpPr>
        <p:spPr>
          <a:xfrm>
            <a:off x="5010912" y="443484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Разработать практические рекомендации по укреплению цифровой устойчивости РУз</a:t>
            </a:r>
            <a:endParaRPr lang="en-US" sz="1000" dirty="0"/>
          </a:p>
        </p:txBody>
      </p:sp>
      <p:pic>
        <p:nvPicPr>
          <p:cNvPr id="40" name="图片 1"/>
          <p:cNvPicPr/>
          <p:nvPr/>
        </p:nvPicPr>
        <p:blipFill>
          <a:blip r:embed="rId6"/>
          <a:stretch>
            <a:fillRect/>
          </a:stretch>
        </p:blipFill>
        <p:spPr>
          <a:xfrm>
            <a:off x="8448675" y="292608"/>
            <a:ext cx="476250" cy="381762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459144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Гипотезы и методология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A88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ГИПОТЕЗЫ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4206240" cy="1143000"/>
          </a:xfrm>
          <a:prstGeom prst="rect">
            <a:avLst/>
          </a:prstGeom>
          <a:solidFill>
            <a:srgbClr val="FAF6EE"/>
          </a:solidFill>
          <a:ln w="6350">
            <a:solidFill>
              <a:srgbClr val="D6CFC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691640"/>
            <a:ext cx="54864" cy="114300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78308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H₁ </a:t>
            </a: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Цифровизация </a:t>
            </a: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положительно связана с ВВП на душу населения во всех группах стран.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4206240" cy="1280160"/>
          </a:xfrm>
          <a:prstGeom prst="rect">
            <a:avLst/>
          </a:prstGeom>
          <a:solidFill>
            <a:srgbClr val="FAF6EE"/>
          </a:solidFill>
          <a:ln w="6350">
            <a:solidFill>
              <a:srgbClr val="D6CFC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926080"/>
            <a:ext cx="54864" cy="1280160"/>
          </a:xfrm>
          <a:prstGeom prst="rect">
            <a:avLst/>
          </a:prstGeom>
          <a:solidFill>
            <a:srgbClr val="A88B4A"/>
          </a:solidFill>
          <a:ln w="12700">
            <a:solidFill>
              <a:srgbClr val="A88B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017520"/>
            <a:ext cx="3931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A88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H₂ </a:t>
            </a: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Антикризисный буферный эффект </a:t>
            </a: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цифровизации проявляется только при достижении высокого уровня цифровой зрелости (порог).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937760" y="12344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A88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МЕТОДОЛОГИЯ И ДАННЫЕ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937760" y="1773936"/>
            <a:ext cx="91440" cy="91440"/>
          </a:xfrm>
          <a:prstGeom prst="ellipse">
            <a:avLst/>
          </a:prstGeom>
          <a:solidFill>
            <a:srgbClr val="A88B4A"/>
          </a:solidFill>
          <a:ln w="12700">
            <a:solidFill>
              <a:srgbClr val="A88B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20640" y="16916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172200" y="16916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Панельная регрессия с фиксированными эффектами (FE), HC1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937760" y="2157984"/>
            <a:ext cx="91440" cy="91440"/>
          </a:xfrm>
          <a:prstGeom prst="ellipse">
            <a:avLst/>
          </a:prstGeom>
          <a:solidFill>
            <a:srgbClr val="A88B4A"/>
          </a:solidFill>
          <a:ln w="12700">
            <a:solidFill>
              <a:srgbClr val="A88B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20640" y="20756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Среда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172200" y="20756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RStudio, пакет plm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937760" y="2542032"/>
            <a:ext cx="91440" cy="91440"/>
          </a:xfrm>
          <a:prstGeom prst="ellipse">
            <a:avLst/>
          </a:prstGeom>
          <a:solidFill>
            <a:srgbClr val="A88B4A"/>
          </a:solidFill>
          <a:ln w="12700">
            <a:solidFill>
              <a:srgbClr val="A88B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0" y="245973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Выборка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172200" y="245973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стран, 707 наблюдений, 2010–2024 гг.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937760" y="2926080"/>
            <a:ext cx="91440" cy="91440"/>
          </a:xfrm>
          <a:prstGeom prst="ellipse">
            <a:avLst/>
          </a:prstGeom>
          <a:solidFill>
            <a:srgbClr val="A88B4A"/>
          </a:solidFill>
          <a:ln w="12700">
            <a:solidFill>
              <a:srgbClr val="A88B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20640" y="284378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Группы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172200" y="284378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Развитые (22) • Переходные (16) • Развивающиеся (11)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937760" y="3310128"/>
            <a:ext cx="91440" cy="91440"/>
          </a:xfrm>
          <a:prstGeom prst="ellipse">
            <a:avLst/>
          </a:prstGeom>
          <a:solidFill>
            <a:srgbClr val="A88B4A"/>
          </a:solidFill>
          <a:ln w="12700">
            <a:solidFill>
              <a:srgbClr val="A88B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20640" y="322783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Источники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172200" y="32278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ОЭСР, МВФ, Всемирный банк, ЕК, ООН, WDI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937760" y="3694176"/>
            <a:ext cx="91440" cy="91440"/>
          </a:xfrm>
          <a:prstGeom prst="ellipse">
            <a:avLst/>
          </a:prstGeom>
          <a:solidFill>
            <a:srgbClr val="A88B4A"/>
          </a:solidFill>
          <a:ln w="12700">
            <a:solidFill>
              <a:srgbClr val="A88B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20640" y="36118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Индикаторы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172200" y="36118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EGDI • NRI • DESI • интернет-проникновение</a:t>
            </a:r>
            <a:endParaRPr lang="en-US" sz="1000" dirty="0"/>
          </a:p>
        </p:txBody>
      </p:sp>
      <p:pic>
        <p:nvPicPr>
          <p:cNvPr id="33" name="图片 1"/>
          <p:cNvPicPr/>
          <p:nvPr/>
        </p:nvPicPr>
        <p:blipFill>
          <a:blip r:embed="rId3"/>
          <a:stretch>
            <a:fillRect/>
          </a:stretch>
        </p:blipFill>
        <p:spPr>
          <a:xfrm>
            <a:off x="8448675" y="292608"/>
            <a:ext cx="476250" cy="381762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72440" y="285187"/>
            <a:ext cx="8229600" cy="594360"/>
          </a:xfrm>
          <a:prstGeom prst="rect">
            <a:avLst/>
          </a:prstGeom>
          <a:noFill/>
          <a:ln/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Пять каналов влияния цифровизации на устойчивость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4846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1627632" cy="3246120"/>
          </a:xfrm>
          <a:prstGeom prst="rect">
            <a:avLst/>
          </a:prstGeom>
          <a:solidFill>
            <a:srgbClr val="FAF6EE"/>
          </a:solidFill>
          <a:ln w="6350">
            <a:solidFill>
              <a:srgbClr val="D6CFC4"/>
            </a:solidFill>
            <a:prstDash val="solid"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50976" y="1554480"/>
            <a:ext cx="640080" cy="64008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" y="1709928"/>
            <a:ext cx="329184" cy="32918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8640" y="2331720"/>
            <a:ext cx="1444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Непрерывность гос. функций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66928" y="2978426"/>
            <a:ext cx="140817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Электронная идентификация, межведомственный обмен данными и онлайн-сервисы сохраняют работу институтов даже при ограничении физического взаимодействия.</a:t>
            </a:r>
            <a:endParaRPr lang="en-US" sz="900" i="1" dirty="0"/>
          </a:p>
        </p:txBody>
      </p:sp>
      <p:sp>
        <p:nvSpPr>
          <p:cNvPr id="12" name="Shape 9"/>
          <p:cNvSpPr/>
          <p:nvPr/>
        </p:nvSpPr>
        <p:spPr>
          <a:xfrm>
            <a:off x="2194560" y="1325880"/>
            <a:ext cx="1627632" cy="3246120"/>
          </a:xfrm>
          <a:prstGeom prst="rect">
            <a:avLst/>
          </a:prstGeom>
          <a:solidFill>
            <a:srgbClr val="FAF6EE"/>
          </a:solidFill>
          <a:ln w="6350">
            <a:solidFill>
              <a:srgbClr val="D6CFC4"/>
            </a:solidFill>
            <a:prstDash val="solid"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688336" y="1554480"/>
            <a:ext cx="640080" cy="64008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3784" y="1709928"/>
            <a:ext cx="329184" cy="32918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286000" y="2331720"/>
            <a:ext cx="1444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Фискальная трансмиссия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2304288" y="2978426"/>
            <a:ext cx="140817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Цифровые платежи и интегрированные данные ускоряют доставку господдержки конечным получателям, сокращая лаги и издержки.</a:t>
            </a:r>
            <a:endParaRPr lang="en-US" sz="900" i="1" dirty="0"/>
          </a:p>
        </p:txBody>
      </p:sp>
      <p:sp>
        <p:nvSpPr>
          <p:cNvPr id="17" name="Shape 13"/>
          <p:cNvSpPr/>
          <p:nvPr/>
        </p:nvSpPr>
        <p:spPr>
          <a:xfrm>
            <a:off x="3931920" y="1325880"/>
            <a:ext cx="1627632" cy="3246120"/>
          </a:xfrm>
          <a:prstGeom prst="rect">
            <a:avLst/>
          </a:prstGeom>
          <a:solidFill>
            <a:srgbClr val="FAF6EE"/>
          </a:solidFill>
          <a:ln w="6350">
            <a:solidFill>
              <a:srgbClr val="D6CFC4"/>
            </a:solidFill>
            <a:prstDash val="solid"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425696" y="1554480"/>
            <a:ext cx="640080" cy="64008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81144" y="1709928"/>
            <a:ext cx="329184" cy="32918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023360" y="2331720"/>
            <a:ext cx="1444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Адаптация частного сектора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4041648" y="2978426"/>
            <a:ext cx="140817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Фирмы с высоким уровнем ИТ-внедрения показали меньшее падение занятости и выручки в период пандемии.</a:t>
            </a:r>
            <a:endParaRPr lang="en-US" sz="900" i="1" dirty="0"/>
          </a:p>
        </p:txBody>
      </p:sp>
      <p:sp>
        <p:nvSpPr>
          <p:cNvPr id="22" name="Shape 17"/>
          <p:cNvSpPr/>
          <p:nvPr/>
        </p:nvSpPr>
        <p:spPr>
          <a:xfrm>
            <a:off x="5669280" y="1325880"/>
            <a:ext cx="1627632" cy="3246120"/>
          </a:xfrm>
          <a:prstGeom prst="rect">
            <a:avLst/>
          </a:prstGeom>
          <a:solidFill>
            <a:srgbClr val="FAF6EE"/>
          </a:solidFill>
          <a:ln w="6350">
            <a:solidFill>
              <a:srgbClr val="D6CFC4"/>
            </a:solidFill>
            <a:prstDash val="solid"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163056" y="1554480"/>
            <a:ext cx="640080" cy="64008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18504" y="1709928"/>
            <a:ext cx="329184" cy="32918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760720" y="2331720"/>
            <a:ext cx="1444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Структура спроса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5779008" y="2978426"/>
            <a:ext cx="140817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Онлайн-торговля и цифровые услуги частично сохраняют потребление при ограничениях мобильности.</a:t>
            </a:r>
            <a:endParaRPr lang="en-US" sz="900" i="1" dirty="0"/>
          </a:p>
        </p:txBody>
      </p:sp>
      <p:sp>
        <p:nvSpPr>
          <p:cNvPr id="27" name="Shape 21"/>
          <p:cNvSpPr/>
          <p:nvPr/>
        </p:nvSpPr>
        <p:spPr>
          <a:xfrm>
            <a:off x="7406640" y="1325880"/>
            <a:ext cx="1627632" cy="3246120"/>
          </a:xfrm>
          <a:prstGeom prst="rect">
            <a:avLst/>
          </a:prstGeom>
          <a:solidFill>
            <a:srgbClr val="FAF6EE"/>
          </a:solidFill>
          <a:ln w="6350">
            <a:solidFill>
              <a:srgbClr val="D6CFC4"/>
            </a:solidFill>
            <a:prstDash val="solid"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7900416" y="1554480"/>
            <a:ext cx="640080" cy="64008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55864" y="1709928"/>
            <a:ext cx="329184" cy="329184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7498080" y="2331720"/>
            <a:ext cx="1444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Устойчивость ИКТ-сектора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7516368" y="2978426"/>
            <a:ext cx="140817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2020 г. ИКТ-сектор ОЭСР рос на 6,6%, к 2021 г. шок пандемии в нём практически не прослеживался.</a:t>
            </a:r>
            <a:endParaRPr lang="en-US" sz="900" i="1" dirty="0"/>
          </a:p>
        </p:txBody>
      </p:sp>
      <p:sp>
        <p:nvSpPr>
          <p:cNvPr id="32" name="Text 25"/>
          <p:cNvSpPr/>
          <p:nvPr/>
        </p:nvSpPr>
        <p:spPr>
          <a:xfrm>
            <a:off x="457200" y="463600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800" dirty="0"/>
          </a:p>
        </p:txBody>
      </p:sp>
      <p:pic>
        <p:nvPicPr>
          <p:cNvPr id="33" name="图片 1"/>
          <p:cNvPicPr/>
          <p:nvPr/>
        </p:nvPicPr>
        <p:blipFill>
          <a:blip r:embed="rId8"/>
          <a:stretch>
            <a:fillRect/>
          </a:stretch>
        </p:blipFill>
        <p:spPr>
          <a:xfrm>
            <a:off x="8448675" y="292608"/>
            <a:ext cx="476250" cy="381762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45516" y="37719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Четыре модели цифровой трансформации (2024)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4846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pic>
        <p:nvPicPr>
          <p:cNvPr id="15" name="图片 1"/>
          <p:cNvPicPr/>
          <p:nvPr/>
        </p:nvPicPr>
        <p:blipFill>
          <a:blip r:embed="rId3"/>
          <a:stretch>
            <a:fillRect/>
          </a:stretch>
        </p:blipFill>
        <p:spPr>
          <a:xfrm>
            <a:off x="8448675" y="292608"/>
            <a:ext cx="476250" cy="381762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sp>
        <p:nvSpPr>
          <p:cNvPr id="16" name="Shape 5"/>
          <p:cNvSpPr/>
          <p:nvPr/>
        </p:nvSpPr>
        <p:spPr>
          <a:xfrm>
            <a:off x="528320" y="1132915"/>
            <a:ext cx="3586480" cy="1630680"/>
          </a:xfrm>
          <a:prstGeom prst="rect">
            <a:avLst/>
          </a:prstGeom>
          <a:solidFill>
            <a:srgbClr val="FAF6EE"/>
          </a:solidFill>
          <a:ln w="6350">
            <a:solidFill>
              <a:srgbClr val="D6CFC4"/>
            </a:solidFill>
            <a:prstDash val="solid"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sp>
      <p:sp>
        <p:nvSpPr>
          <p:cNvPr id="20" name="Shape 5"/>
          <p:cNvSpPr/>
          <p:nvPr/>
        </p:nvSpPr>
        <p:spPr>
          <a:xfrm>
            <a:off x="528320" y="2915995"/>
            <a:ext cx="3586480" cy="1630680"/>
          </a:xfrm>
          <a:prstGeom prst="rect">
            <a:avLst/>
          </a:prstGeom>
          <a:solidFill>
            <a:srgbClr val="FAF6EE"/>
          </a:solidFill>
          <a:ln w="6350">
            <a:solidFill>
              <a:srgbClr val="D6CFC4"/>
            </a:solidFill>
            <a:prstDash val="solid"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sp>
      <p:sp>
        <p:nvSpPr>
          <p:cNvPr id="21" name="Shape 5"/>
          <p:cNvSpPr/>
          <p:nvPr/>
        </p:nvSpPr>
        <p:spPr>
          <a:xfrm>
            <a:off x="4872355" y="2915995"/>
            <a:ext cx="3576320" cy="1630680"/>
          </a:xfrm>
          <a:prstGeom prst="rect">
            <a:avLst/>
          </a:prstGeom>
          <a:solidFill>
            <a:srgbClr val="FAF6EE"/>
          </a:solidFill>
          <a:ln w="6350">
            <a:solidFill>
              <a:srgbClr val="D6CFC4"/>
            </a:solidFill>
            <a:prstDash val="solid"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sp>
      <p:sp>
        <p:nvSpPr>
          <p:cNvPr id="22" name="Shape 5"/>
          <p:cNvSpPr/>
          <p:nvPr/>
        </p:nvSpPr>
        <p:spPr>
          <a:xfrm>
            <a:off x="4872355" y="1132915"/>
            <a:ext cx="3576320" cy="1630680"/>
          </a:xfrm>
          <a:prstGeom prst="rect">
            <a:avLst/>
          </a:prstGeom>
          <a:solidFill>
            <a:srgbClr val="FAF6EE"/>
          </a:solidFill>
          <a:ln w="6350">
            <a:solidFill>
              <a:srgbClr val="D6CFC4"/>
            </a:solidFill>
            <a:prstDash val="solid"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sp>
      <p:sp>
        <p:nvSpPr>
          <p:cNvPr id="12" name="Text 5"/>
          <p:cNvSpPr/>
          <p:nvPr/>
        </p:nvSpPr>
        <p:spPr>
          <a:xfrm>
            <a:off x="752038" y="1512554"/>
            <a:ext cx="3169280" cy="1260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sz="1000" b="1" dirty="0" err="1" smtClean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Tiger</a:t>
            </a:r>
            <a:r>
              <a:rPr lang="ru-RU" sz="1000" b="1" dirty="0" smtClean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1000" b="1" dirty="0" err="1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Leap</a:t>
            </a:r>
            <a:r>
              <a:rPr lang="ru-RU" sz="1000" b="1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(1996) </a:t>
            </a:r>
            <a:r>
              <a:rPr lang="ru-RU" sz="10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компьютеры и интернет в каждую школу.</a:t>
            </a:r>
          </a:p>
          <a:p>
            <a:r>
              <a:rPr lang="ru-RU" sz="1000" b="1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X-</a:t>
            </a:r>
            <a:r>
              <a:rPr lang="ru-RU" sz="1000" b="1" dirty="0" err="1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Road</a:t>
            </a:r>
            <a:r>
              <a:rPr lang="ru-RU" sz="1000" b="1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(2001) </a:t>
            </a:r>
            <a:r>
              <a:rPr lang="ru-RU" sz="10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платформа обмена данными, 2,2 млрд транзакций/год.</a:t>
            </a:r>
          </a:p>
          <a:p>
            <a:r>
              <a:rPr lang="ru-RU" sz="1000" b="1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e-</a:t>
            </a:r>
            <a:r>
              <a:rPr lang="ru-RU" sz="1000" b="1" dirty="0" err="1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Residency</a:t>
            </a:r>
            <a:r>
              <a:rPr lang="ru-RU" sz="1000" b="1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(2014) </a:t>
            </a:r>
            <a:r>
              <a:rPr lang="ru-RU" sz="10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- 128 тыс. чел. из 185 стран, 342 млн евро.</a:t>
            </a:r>
          </a:p>
          <a:p>
            <a:r>
              <a:rPr lang="ru-RU" sz="1000" b="1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ВВП 2020</a:t>
            </a:r>
            <a:r>
              <a:rPr lang="ru-RU" sz="10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-3% - </a:t>
            </a:r>
            <a:r>
              <a:rPr lang="ru-RU" sz="1000" dirty="0" err="1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цифровизация</a:t>
            </a:r>
            <a:r>
              <a:rPr lang="ru-RU" sz="10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смягчила удар пандемии</a:t>
            </a:r>
            <a:r>
              <a:rPr lang="ru-RU" sz="1000" dirty="0" smtClean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ru-RU" sz="1000" dirty="0">
              <a:solidFill>
                <a:srgbClr val="2D2D2D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4977661" y="3223236"/>
            <a:ext cx="347101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000" b="1" dirty="0" smtClean="0">
                <a:solidFill>
                  <a:srgbClr val="6600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1000" b="1" dirty="0" smtClean="0"/>
              <a:t>«</a:t>
            </a:r>
            <a:r>
              <a:rPr lang="ru-RU" sz="1000" b="1" dirty="0"/>
              <a:t>Цифровая Польша» </a:t>
            </a:r>
            <a:r>
              <a:rPr lang="ru-RU" sz="1000" dirty="0"/>
              <a:t>2014-2020 - 2,17 млрд евро из фондов ЕС.</a:t>
            </a:r>
          </a:p>
          <a:p>
            <a:r>
              <a:rPr lang="ru-RU" sz="1000" b="1" dirty="0" err="1"/>
              <a:t>mObywatel</a:t>
            </a:r>
            <a:r>
              <a:rPr lang="ru-RU" sz="1000" b="1" dirty="0"/>
              <a:t> (2017) </a:t>
            </a:r>
            <a:r>
              <a:rPr lang="ru-RU" sz="1000" dirty="0"/>
              <a:t>- цифровой паспорт + 40+ </a:t>
            </a:r>
            <a:r>
              <a:rPr lang="ru-RU" sz="1000" dirty="0" err="1"/>
              <a:t>госуслуг</a:t>
            </a:r>
            <a:r>
              <a:rPr lang="ru-RU" sz="1000" dirty="0"/>
              <a:t>, 10 млн польз.</a:t>
            </a:r>
          </a:p>
          <a:p>
            <a:r>
              <a:rPr lang="ru-RU" sz="1000" b="1" dirty="0"/>
              <a:t>Разрыв: </a:t>
            </a:r>
            <a:r>
              <a:rPr lang="ru-RU" sz="1000" dirty="0"/>
              <a:t>госсектор цифровой, ИИ в бизнесе - лишь 3,7% (ЕС: 8%).</a:t>
            </a:r>
          </a:p>
          <a:p>
            <a:r>
              <a:rPr lang="ru-RU" sz="1000" b="1" dirty="0"/>
              <a:t>Цифровые навыки: </a:t>
            </a:r>
            <a:r>
              <a:rPr lang="ru-RU" sz="1000" dirty="0"/>
              <a:t>44% населения (ниже среднего по ЕС - 56%).</a:t>
            </a:r>
          </a:p>
          <a:p>
            <a:endParaRPr lang="en-US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 6"/>
          <p:cNvSpPr/>
          <p:nvPr/>
        </p:nvSpPr>
        <p:spPr>
          <a:xfrm>
            <a:off x="5077747" y="1545514"/>
            <a:ext cx="2877533" cy="933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b="1" dirty="0" smtClean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Digital </a:t>
            </a:r>
            <a:r>
              <a:rPr lang="en-US" sz="1000" b="1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New Deal (2020) </a:t>
            </a:r>
            <a:r>
              <a:rPr lang="en-US" sz="10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- 160 </a:t>
            </a:r>
            <a:r>
              <a:rPr lang="ru-RU" sz="10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трлн вон (5,9% ВВП).</a:t>
            </a:r>
          </a:p>
          <a:p>
            <a:r>
              <a:rPr lang="en-US" sz="1000" b="1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DNA-</a:t>
            </a:r>
            <a:r>
              <a:rPr lang="ru-RU" sz="1000" b="1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концепция: </a:t>
            </a:r>
            <a:r>
              <a:rPr lang="en-US" sz="10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+ Network + AI - </a:t>
            </a:r>
            <a:r>
              <a:rPr lang="ru-RU" sz="10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единая </a:t>
            </a:r>
            <a:r>
              <a:rPr lang="ru-RU" sz="1000" dirty="0" smtClean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экосистема. 18 </a:t>
            </a:r>
            <a:r>
              <a:rPr lang="ru-RU" sz="10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больниц с 5</a:t>
            </a:r>
            <a:r>
              <a:rPr lang="en-US" sz="10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 </a:t>
            </a:r>
            <a:r>
              <a:rPr lang="ru-RU" sz="10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и </a:t>
            </a:r>
            <a:r>
              <a:rPr lang="en-US" sz="1000" dirty="0" err="1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IoT</a:t>
            </a:r>
            <a:r>
              <a:rPr lang="en-US" sz="10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310 000 </a:t>
            </a:r>
            <a:r>
              <a:rPr lang="ru-RU" sz="10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классов с интернетом.</a:t>
            </a:r>
          </a:p>
          <a:p>
            <a:r>
              <a:rPr lang="ru-RU" sz="1000" b="1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ОЭСР </a:t>
            </a:r>
            <a:r>
              <a:rPr lang="en-US" sz="1000" b="1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Digital Government 2023: </a:t>
            </a:r>
            <a:r>
              <a:rPr lang="en-US" sz="10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№1 - </a:t>
            </a:r>
            <a:r>
              <a:rPr lang="ru-RU" sz="10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государство-дирижёр</a:t>
            </a:r>
            <a:r>
              <a:rPr lang="ru-RU" sz="1000" dirty="0" smtClean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ru-RU" sz="1000" dirty="0">
              <a:solidFill>
                <a:srgbClr val="2D2D2D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Text 7"/>
          <p:cNvSpPr/>
          <p:nvPr/>
        </p:nvSpPr>
        <p:spPr>
          <a:xfrm>
            <a:off x="752038" y="3292375"/>
            <a:ext cx="3076514" cy="957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b="1" dirty="0" smtClean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Smart </a:t>
            </a:r>
            <a:r>
              <a:rPr lang="en-US" sz="1000" b="1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Nation (2014) </a:t>
            </a:r>
            <a:r>
              <a:rPr lang="en-US" sz="10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- 99% </a:t>
            </a:r>
            <a:r>
              <a:rPr lang="az-Cyrl-AZ" sz="10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госуслуг онлайн, 99% домохозяйств.</a:t>
            </a:r>
          </a:p>
          <a:p>
            <a:r>
              <a:rPr lang="en-US" sz="1000" b="1" dirty="0" err="1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Singpass</a:t>
            </a:r>
            <a:r>
              <a:rPr lang="en-US" sz="10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- </a:t>
            </a:r>
            <a:r>
              <a:rPr lang="az-Cyrl-AZ" sz="10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единый </a:t>
            </a:r>
            <a:r>
              <a:rPr lang="en-US" sz="10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ID; </a:t>
            </a:r>
            <a:r>
              <a:rPr lang="en-US" sz="1000" dirty="0" err="1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PayNow</a:t>
            </a:r>
            <a:r>
              <a:rPr lang="en-US" sz="10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- </a:t>
            </a:r>
            <a:r>
              <a:rPr lang="az-Cyrl-AZ" sz="10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адресные выплаты за дни.</a:t>
            </a:r>
          </a:p>
          <a:p>
            <a:r>
              <a:rPr lang="az-Cyrl-AZ" sz="1000" b="1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Цифровая экономика: </a:t>
            </a:r>
            <a:r>
              <a:rPr lang="az-Cyrl-AZ" sz="10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13,3% ВВП (2017) → 17,7% (2023).</a:t>
            </a:r>
          </a:p>
          <a:p>
            <a:r>
              <a:rPr lang="en-US" sz="1000" b="1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Smart Nation 2.0 (2024) </a:t>
            </a:r>
            <a:r>
              <a:rPr lang="en-US" sz="10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</a:t>
            </a:r>
            <a:r>
              <a:rPr lang="az-Cyrl-AZ" sz="10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акцент на ИИ, 120 млн </a:t>
            </a:r>
            <a:r>
              <a:rPr lang="en-US" sz="10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SGD </a:t>
            </a:r>
            <a:r>
              <a:rPr lang="az-Cyrl-AZ" sz="10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на науку</a:t>
            </a:r>
            <a:r>
              <a:rPr lang="az-Cyrl-AZ" sz="1000" dirty="0" smtClean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az-Cyrl-AZ" sz="1000" dirty="0">
              <a:solidFill>
                <a:srgbClr val="2D2D2D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050" name="Picture 2" descr="🇪🇪 Flag: Estonia on Twitter Emoji Stickers 13.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4059" y="1191308"/>
            <a:ext cx="321246" cy="321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Флаг: Республика Корея эмодзи 🇰🇷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5059" y="1186782"/>
            <a:ext cx="350299" cy="350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🇸🇬 Flag: Singapore Emoji: Meaning &amp; Usage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4442" y="2915995"/>
            <a:ext cx="376380" cy="3763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🇵🇱 Flag: Poland Emoji: Meaning &amp; Usage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0633" y="2915995"/>
            <a:ext cx="377645" cy="3776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ext 5"/>
          <p:cNvSpPr/>
          <p:nvPr/>
        </p:nvSpPr>
        <p:spPr>
          <a:xfrm>
            <a:off x="844804" y="1236619"/>
            <a:ext cx="1250696" cy="260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sz="1200" b="1" i="1" dirty="0" smtClean="0">
                <a:ea typeface="Calibri" panose="020F0502020204030204" pitchFamily="34" charset="0"/>
                <a:cs typeface="Calibri" panose="020F0502020204030204" pitchFamily="34" charset="0"/>
              </a:rPr>
              <a:t>Эстония</a:t>
            </a:r>
            <a:endParaRPr lang="en-US" sz="1200" b="1" i="1" dirty="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Text 5"/>
          <p:cNvSpPr/>
          <p:nvPr/>
        </p:nvSpPr>
        <p:spPr>
          <a:xfrm>
            <a:off x="844804" y="3012818"/>
            <a:ext cx="1250696" cy="260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sz="1200" b="1" i="1" dirty="0" smtClean="0">
                <a:ea typeface="Calibri" panose="020F0502020204030204" pitchFamily="34" charset="0"/>
                <a:cs typeface="Calibri" panose="020F0502020204030204" pitchFamily="34" charset="0"/>
              </a:rPr>
              <a:t>Сингапур</a:t>
            </a:r>
            <a:endParaRPr lang="en-US" sz="1200" b="1" i="1" dirty="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Text 5"/>
          <p:cNvSpPr/>
          <p:nvPr/>
        </p:nvSpPr>
        <p:spPr>
          <a:xfrm>
            <a:off x="5194808" y="1252089"/>
            <a:ext cx="1250696" cy="260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sz="1200" b="1" i="1" dirty="0" smtClean="0">
                <a:ea typeface="Calibri" panose="020F0502020204030204" pitchFamily="34" charset="0"/>
                <a:cs typeface="Calibri" panose="020F0502020204030204" pitchFamily="34" charset="0"/>
              </a:rPr>
              <a:t>Республика Корея</a:t>
            </a:r>
            <a:endParaRPr lang="en-US" sz="1200" b="1" i="1" dirty="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Text 5"/>
          <p:cNvSpPr/>
          <p:nvPr/>
        </p:nvSpPr>
        <p:spPr>
          <a:xfrm>
            <a:off x="5194808" y="3004140"/>
            <a:ext cx="1250696" cy="260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sz="1200" b="1" i="1" dirty="0" smtClean="0">
                <a:ea typeface="Calibri" panose="020F0502020204030204" pitchFamily="34" charset="0"/>
                <a:cs typeface="Calibri" panose="020F0502020204030204" pitchFamily="34" charset="0"/>
              </a:rPr>
              <a:t>Польша</a:t>
            </a:r>
            <a:endParaRPr lang="en-US" sz="1200" b="1" i="1" dirty="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9293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5"/>
          <p:cNvSpPr/>
          <p:nvPr/>
        </p:nvSpPr>
        <p:spPr>
          <a:xfrm>
            <a:off x="5179832" y="1596887"/>
            <a:ext cx="3506967" cy="3067878"/>
          </a:xfrm>
          <a:prstGeom prst="rect">
            <a:avLst/>
          </a:prstGeom>
          <a:solidFill>
            <a:srgbClr val="FAF6EE"/>
          </a:solidFill>
          <a:ln w="6350">
            <a:noFill/>
            <a:prstDash val="solid"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 prst="relaxedInset"/>
          </a:sp3d>
        </p:spPr>
      </p:sp>
      <p:sp>
        <p:nvSpPr>
          <p:cNvPr id="3" name="Text 1"/>
          <p:cNvSpPr/>
          <p:nvPr/>
        </p:nvSpPr>
        <p:spPr>
          <a:xfrm>
            <a:off x="457200" y="45770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Падение</a:t>
            </a:r>
            <a:r>
              <a:rPr lang="en-US" sz="2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600" b="1" dirty="0" smtClean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ВВП </a:t>
            </a:r>
            <a:r>
              <a:rPr lang="en-US" sz="2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 </a:t>
            </a:r>
            <a:r>
              <a:rPr lang="ru-RU" sz="2600" b="1" dirty="0" smtClean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2020 году</a:t>
            </a:r>
            <a:endParaRPr lang="en-US" sz="2600" dirty="0">
              <a:solidFill>
                <a:srgbClr val="FF0000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4846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graphicFrame>
        <p:nvGraphicFramePr>
          <p:cNvPr id="7" name="Chart 0"/>
          <p:cNvGraphicFramePr/>
          <p:nvPr>
            <p:extLst/>
          </p:nvPr>
        </p:nvGraphicFramePr>
        <p:xfrm>
          <a:off x="457200" y="164592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409651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413248" y="11892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A88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КЛЮЧЕВЫЕ НАБЛЮДЕНИЯ</a:t>
            </a:r>
            <a:endParaRPr lang="en-US" sz="1000" dirty="0"/>
          </a:p>
        </p:txBody>
      </p:sp>
      <p:pic>
        <p:nvPicPr>
          <p:cNvPr id="19" name="图片 1"/>
          <p:cNvPicPr/>
          <p:nvPr/>
        </p:nvPicPr>
        <p:blipFill>
          <a:blip r:embed="rId4"/>
          <a:stretch>
            <a:fillRect/>
          </a:stretch>
        </p:blipFill>
        <p:spPr>
          <a:xfrm>
            <a:off x="8448675" y="292608"/>
            <a:ext cx="476250" cy="381762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sp>
        <p:nvSpPr>
          <p:cNvPr id="4" name="Прямоугольник 3"/>
          <p:cNvSpPr/>
          <p:nvPr/>
        </p:nvSpPr>
        <p:spPr>
          <a:xfrm>
            <a:off x="5283199" y="1745893"/>
            <a:ext cx="34036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dirty="0">
                <a:latin typeface="-apple-system"/>
              </a:rPr>
              <a:t>🇪🇪 </a:t>
            </a:r>
            <a:r>
              <a:rPr lang="ru-RU" sz="1200" b="1" dirty="0">
                <a:latin typeface="-apple-system"/>
              </a:rPr>
              <a:t>Эстония:</a:t>
            </a:r>
            <a:r>
              <a:rPr lang="ru-RU" sz="1200" dirty="0">
                <a:latin typeface="-apple-system"/>
              </a:rPr>
              <a:t> ВВП: -3,0% (ЕС: -6,1%). 99% </a:t>
            </a:r>
            <a:r>
              <a:rPr lang="ru-RU" sz="1200" dirty="0" err="1">
                <a:latin typeface="-apple-system"/>
              </a:rPr>
              <a:t>госуслуг</a:t>
            </a:r>
            <a:r>
              <a:rPr lang="ru-RU" sz="1200" dirty="0">
                <a:latin typeface="-apple-system"/>
              </a:rPr>
              <a:t> онлайн через X-</a:t>
            </a:r>
            <a:r>
              <a:rPr lang="ru-RU" sz="1200" dirty="0" err="1">
                <a:latin typeface="-apple-system"/>
              </a:rPr>
              <a:t>Road</a:t>
            </a:r>
            <a:r>
              <a:rPr lang="ru-RU" sz="1200" dirty="0">
                <a:latin typeface="-apple-system"/>
              </a:rPr>
              <a:t> - </a:t>
            </a:r>
            <a:r>
              <a:rPr lang="ru-RU" sz="1200" dirty="0" err="1">
                <a:latin typeface="-apple-system"/>
              </a:rPr>
              <a:t>локдаун</a:t>
            </a:r>
            <a:r>
              <a:rPr lang="ru-RU" sz="1200" dirty="0">
                <a:latin typeface="-apple-system"/>
              </a:rPr>
              <a:t> не остановил государство.</a:t>
            </a:r>
          </a:p>
          <a:p>
            <a:r>
              <a:rPr lang="ru-RU" sz="1200" dirty="0">
                <a:latin typeface="-apple-system"/>
              </a:rPr>
              <a:t>🇰🇷 </a:t>
            </a:r>
            <a:r>
              <a:rPr lang="ru-RU" sz="1200" b="1" dirty="0">
                <a:latin typeface="-apple-system"/>
              </a:rPr>
              <a:t>Корея:</a:t>
            </a:r>
            <a:r>
              <a:rPr lang="ru-RU" sz="1200" dirty="0">
                <a:latin typeface="-apple-system"/>
              </a:rPr>
              <a:t> ВВП: -0,7% - лучший результат среди развитых. Цифровой трекинг контактов заменил жёсткий </a:t>
            </a:r>
            <a:r>
              <a:rPr lang="ru-RU" sz="1200" dirty="0" err="1">
                <a:latin typeface="-apple-system"/>
              </a:rPr>
              <a:t>локдаун</a:t>
            </a:r>
            <a:r>
              <a:rPr lang="ru-RU" sz="1200" dirty="0">
                <a:latin typeface="-apple-system"/>
              </a:rPr>
              <a:t>.</a:t>
            </a:r>
          </a:p>
          <a:p>
            <a:r>
              <a:rPr lang="ru-RU" sz="1200" dirty="0">
                <a:latin typeface="-apple-system"/>
              </a:rPr>
              <a:t>🇸🇬 </a:t>
            </a:r>
            <a:r>
              <a:rPr lang="ru-RU" sz="1200" b="1" dirty="0">
                <a:latin typeface="-apple-system"/>
              </a:rPr>
              <a:t>Сингапур:</a:t>
            </a:r>
            <a:r>
              <a:rPr lang="ru-RU" sz="1200" dirty="0">
                <a:latin typeface="-apple-system"/>
              </a:rPr>
              <a:t> ВВП: -3,9% - пострадал из-за торговли и туризма. </a:t>
            </a:r>
            <a:r>
              <a:rPr lang="ru-RU" sz="1200" dirty="0" err="1">
                <a:latin typeface="-apple-system"/>
              </a:rPr>
              <a:t>TraceTogether</a:t>
            </a:r>
            <a:r>
              <a:rPr lang="ru-RU" sz="1200" dirty="0">
                <a:latin typeface="-apple-system"/>
              </a:rPr>
              <a:t> за 8 недель, помощь 20% ВВП через </a:t>
            </a:r>
            <a:r>
              <a:rPr lang="ru-RU" sz="1200" dirty="0" err="1">
                <a:latin typeface="-apple-system"/>
              </a:rPr>
              <a:t>Singpass</a:t>
            </a:r>
            <a:r>
              <a:rPr lang="ru-RU" sz="1200" dirty="0">
                <a:latin typeface="-apple-system"/>
              </a:rPr>
              <a:t>.</a:t>
            </a:r>
          </a:p>
          <a:p>
            <a:r>
              <a:rPr lang="ru-RU" sz="1200" dirty="0">
                <a:latin typeface="-apple-system"/>
              </a:rPr>
              <a:t>🇵🇱 </a:t>
            </a:r>
            <a:r>
              <a:rPr lang="ru-RU" sz="1200" b="1" dirty="0">
                <a:latin typeface="-apple-system"/>
              </a:rPr>
              <a:t>Польша:</a:t>
            </a:r>
            <a:r>
              <a:rPr lang="ru-RU" sz="1200" dirty="0">
                <a:latin typeface="-apple-system"/>
              </a:rPr>
              <a:t> ВВП: -2,0% - лучший в ЕС среди крупных экономик. Антикризисный щит </a:t>
            </a:r>
            <a:r>
              <a:rPr lang="ru-RU" sz="1200" dirty="0" err="1">
                <a:latin typeface="-apple-system"/>
              </a:rPr>
              <a:t>Tarcza</a:t>
            </a:r>
            <a:r>
              <a:rPr lang="ru-RU" sz="1200" dirty="0">
                <a:latin typeface="-apple-system"/>
              </a:rPr>
              <a:t> - 55 млрд долларов на зарплаты и бизнес.</a:t>
            </a:r>
          </a:p>
          <a:p>
            <a:r>
              <a:rPr lang="ru-RU" sz="1200" dirty="0"/>
              <a:t/>
            </a:r>
            <a:br>
              <a:rPr lang="ru-RU" sz="1200" dirty="0"/>
            </a:b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53128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5"/>
          <p:cNvSpPr/>
          <p:nvPr/>
        </p:nvSpPr>
        <p:spPr>
          <a:xfrm>
            <a:off x="5179832" y="1596887"/>
            <a:ext cx="3506967" cy="306787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6350">
            <a:solidFill>
              <a:srgbClr val="D6CFC4"/>
            </a:solidFill>
            <a:prstDash val="solid"/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</p:sp>
      <p:sp>
        <p:nvSpPr>
          <p:cNvPr id="3" name="Text 1"/>
          <p:cNvSpPr/>
          <p:nvPr/>
        </p:nvSpPr>
        <p:spPr>
          <a:xfrm>
            <a:off x="457200" y="45770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2600" b="1" dirty="0" smtClean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Восстановление</a:t>
            </a:r>
            <a:r>
              <a:rPr lang="en-US" sz="2600" b="1" dirty="0" smtClean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ВВП в </a:t>
            </a:r>
            <a:r>
              <a:rPr lang="ru-RU" sz="2600" b="1" dirty="0" smtClean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ru-RU" sz="2600" b="1" dirty="0" smtClean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2021 году</a:t>
            </a:r>
            <a:endParaRPr lang="en-US" sz="2600" dirty="0">
              <a:solidFill>
                <a:srgbClr val="FF0000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4846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graphicFrame>
        <p:nvGraphicFramePr>
          <p:cNvPr id="7" name="Chart 0"/>
          <p:cNvGraphicFramePr/>
          <p:nvPr>
            <p:extLst>
              <p:ext uri="{D42A27DB-BD31-4B8C-83A1-F6EECF244321}">
                <p14:modId xmlns:p14="http://schemas.microsoft.com/office/powerpoint/2010/main" val="91255374"/>
              </p:ext>
            </p:extLst>
          </p:nvPr>
        </p:nvGraphicFramePr>
        <p:xfrm>
          <a:off x="457200" y="164592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409651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374404" y="117312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A88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КЛЮЧЕВЫЕ НАБЛЮДЕНИЯ</a:t>
            </a:r>
            <a:endParaRPr lang="en-US" sz="1000" dirty="0"/>
          </a:p>
        </p:txBody>
      </p:sp>
      <p:pic>
        <p:nvPicPr>
          <p:cNvPr id="19" name="图片 1"/>
          <p:cNvPicPr/>
          <p:nvPr/>
        </p:nvPicPr>
        <p:blipFill>
          <a:blip r:embed="rId4"/>
          <a:stretch>
            <a:fillRect/>
          </a:stretch>
        </p:blipFill>
        <p:spPr>
          <a:xfrm>
            <a:off x="8448675" y="292608"/>
            <a:ext cx="476250" cy="381762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sp>
        <p:nvSpPr>
          <p:cNvPr id="4" name="Прямоугольник 3"/>
          <p:cNvSpPr/>
          <p:nvPr/>
        </p:nvSpPr>
        <p:spPr>
          <a:xfrm>
            <a:off x="5374404" y="1824228"/>
            <a:ext cx="30988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dirty="0">
                <a:latin typeface="-apple-system"/>
              </a:rPr>
              <a:t>🇪🇪 </a:t>
            </a:r>
            <a:r>
              <a:rPr lang="ru-RU" sz="1200" b="1" dirty="0">
                <a:latin typeface="-apple-system"/>
              </a:rPr>
              <a:t>Эстония:</a:t>
            </a:r>
            <a:r>
              <a:rPr lang="ru-RU" sz="1200" dirty="0">
                <a:latin typeface="-apple-system"/>
              </a:rPr>
              <a:t> ВВП: +8,6% - один из лучших в ЕС. Цифровая инфраструктура ускорила перезапуск бизнеса.</a:t>
            </a:r>
          </a:p>
          <a:p>
            <a:r>
              <a:rPr lang="ru-RU" sz="1200" dirty="0">
                <a:latin typeface="-apple-system"/>
              </a:rPr>
              <a:t>🇰🇷 </a:t>
            </a:r>
            <a:r>
              <a:rPr lang="ru-RU" sz="1200" b="1" dirty="0">
                <a:latin typeface="-apple-system"/>
              </a:rPr>
              <a:t>Корея:</a:t>
            </a:r>
            <a:r>
              <a:rPr lang="ru-RU" sz="1200" dirty="0">
                <a:latin typeface="-apple-system"/>
              </a:rPr>
              <a:t> ВВП: +4,6% - лучший за 11 лет. К маю 2021 вернулись к докризисному уровню.</a:t>
            </a:r>
          </a:p>
          <a:p>
            <a:r>
              <a:rPr lang="ru-RU" sz="1200" dirty="0">
                <a:latin typeface="-apple-system"/>
              </a:rPr>
              <a:t>🇸🇬 </a:t>
            </a:r>
            <a:r>
              <a:rPr lang="ru-RU" sz="1200" b="1" dirty="0">
                <a:latin typeface="-apple-system"/>
              </a:rPr>
              <a:t>Сингапур:</a:t>
            </a:r>
            <a:r>
              <a:rPr lang="ru-RU" sz="1200" dirty="0">
                <a:latin typeface="-apple-system"/>
              </a:rPr>
              <a:t> ВВП: +7,6% - мощный отскок после открытия границ и возобновления торговли.</a:t>
            </a:r>
          </a:p>
          <a:p>
            <a:r>
              <a:rPr lang="ru-RU" sz="1200" dirty="0">
                <a:latin typeface="-apple-system"/>
              </a:rPr>
              <a:t>🇵🇱 </a:t>
            </a:r>
            <a:r>
              <a:rPr lang="ru-RU" sz="1200" b="1" dirty="0">
                <a:latin typeface="-apple-system"/>
              </a:rPr>
              <a:t>Польша:</a:t>
            </a:r>
            <a:r>
              <a:rPr lang="ru-RU" sz="1200" dirty="0">
                <a:latin typeface="-apple-system"/>
              </a:rPr>
              <a:t> ВВП: +5,9% - быстрое восстановление на внутреннем спросе. </a:t>
            </a:r>
            <a:r>
              <a:rPr lang="ru-RU" sz="1200" dirty="0" err="1">
                <a:latin typeface="-apple-system"/>
              </a:rPr>
              <a:t>mObywatel</a:t>
            </a:r>
            <a:r>
              <a:rPr lang="ru-RU" sz="1200" dirty="0">
                <a:latin typeface="-apple-system"/>
              </a:rPr>
              <a:t> достиг 10 млн пользователей.</a:t>
            </a:r>
            <a:endParaRPr lang="ru-RU" sz="1200" b="0" i="0" dirty="0">
              <a:effectLst/>
              <a:latin typeface="-apple-system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5"/>
          <p:cNvSpPr/>
          <p:nvPr/>
        </p:nvSpPr>
        <p:spPr>
          <a:xfrm>
            <a:off x="5179832" y="1596887"/>
            <a:ext cx="3506967" cy="306787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6350">
            <a:solidFill>
              <a:srgbClr val="D6CFC4"/>
            </a:solidFill>
            <a:prstDash val="solid"/>
          </a:ln>
          <a:scene3d>
            <a:camera prst="orthographicFront"/>
            <a:lightRig rig="threePt" dir="t"/>
          </a:scene3d>
          <a:sp3d>
            <a:bevelT w="101600" prst="riblet"/>
          </a:sp3d>
        </p:spPr>
      </p:sp>
      <p:sp>
        <p:nvSpPr>
          <p:cNvPr id="3" name="Text 1"/>
          <p:cNvSpPr/>
          <p:nvPr/>
        </p:nvSpPr>
        <p:spPr>
          <a:xfrm>
            <a:off x="457200" y="45770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2600" b="1" dirty="0" smtClean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Динамика</a:t>
            </a:r>
            <a:r>
              <a:rPr lang="en-US" sz="2600" b="1" dirty="0" smtClean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ВВП </a:t>
            </a:r>
            <a:r>
              <a:rPr lang="en-US" sz="2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 </a:t>
            </a:r>
            <a:r>
              <a:rPr lang="ru-RU" sz="2600" b="1" dirty="0" smtClean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2022 году</a:t>
            </a:r>
            <a:endParaRPr lang="en-US" sz="2600" dirty="0">
              <a:solidFill>
                <a:srgbClr val="FF0000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4846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graphicFrame>
        <p:nvGraphicFramePr>
          <p:cNvPr id="7" name="Chart 0"/>
          <p:cNvGraphicFramePr/>
          <p:nvPr>
            <p:extLst>
              <p:ext uri="{D42A27DB-BD31-4B8C-83A1-F6EECF244321}">
                <p14:modId xmlns:p14="http://schemas.microsoft.com/office/powerpoint/2010/main" val="1176676846"/>
              </p:ext>
            </p:extLst>
          </p:nvPr>
        </p:nvGraphicFramePr>
        <p:xfrm>
          <a:off x="457200" y="164592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409651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413248" y="11183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A88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КЛЮЧЕВЫЕ НАБЛЮДЕНИЯ</a:t>
            </a:r>
            <a:endParaRPr lang="en-US" sz="1000" dirty="0"/>
          </a:p>
        </p:txBody>
      </p:sp>
      <p:pic>
        <p:nvPicPr>
          <p:cNvPr id="19" name="图片 1"/>
          <p:cNvPicPr/>
          <p:nvPr/>
        </p:nvPicPr>
        <p:blipFill>
          <a:blip r:embed="rId4"/>
          <a:stretch>
            <a:fillRect/>
          </a:stretch>
        </p:blipFill>
        <p:spPr>
          <a:xfrm>
            <a:off x="8448675" y="292608"/>
            <a:ext cx="476250" cy="381762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sp>
        <p:nvSpPr>
          <p:cNvPr id="4" name="Прямоугольник 3"/>
          <p:cNvSpPr/>
          <p:nvPr/>
        </p:nvSpPr>
        <p:spPr>
          <a:xfrm>
            <a:off x="5346994" y="1972854"/>
            <a:ext cx="3165476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dirty="0"/>
              <a:t>🇪🇪 </a:t>
            </a:r>
            <a:r>
              <a:rPr lang="ru-RU" sz="1200" b="1" dirty="0"/>
              <a:t>Эстония:</a:t>
            </a:r>
            <a:r>
              <a:rPr lang="ru-RU" sz="1200" dirty="0"/>
              <a:t> ВВП: -1,3%, инфляция 19% - отказ от российского газа ударил по экономике.</a:t>
            </a:r>
          </a:p>
          <a:p>
            <a:r>
              <a:rPr lang="ru-RU" sz="1200" dirty="0"/>
              <a:t>🇰🇷 </a:t>
            </a:r>
            <a:r>
              <a:rPr lang="ru-RU" sz="1200" b="1" dirty="0"/>
              <a:t>Корея:</a:t>
            </a:r>
            <a:r>
              <a:rPr lang="ru-RU" sz="1200" dirty="0"/>
              <a:t> ВВП: +2,7%, инфляция 6,3% - диверсификация </a:t>
            </a:r>
            <a:r>
              <a:rPr lang="ru-RU" sz="1200" dirty="0" err="1"/>
              <a:t>энергопоставок</a:t>
            </a:r>
            <a:r>
              <a:rPr lang="ru-RU" sz="1200" dirty="0"/>
              <a:t> и экспорт чипов спасли экономику.</a:t>
            </a:r>
          </a:p>
          <a:p>
            <a:r>
              <a:rPr lang="ru-RU" sz="1200" dirty="0"/>
              <a:t>🇸🇬 </a:t>
            </a:r>
            <a:r>
              <a:rPr lang="ru-RU" sz="1200" b="1" dirty="0"/>
              <a:t>Сингапур:</a:t>
            </a:r>
            <a:r>
              <a:rPr lang="ru-RU" sz="1200" dirty="0"/>
              <a:t> ВВП: +3,6%, инфляция 6,1% - торговля восстановилась, цифровая экономика 17,7% ВВП.</a:t>
            </a:r>
          </a:p>
          <a:p>
            <a:r>
              <a:rPr lang="ru-RU" sz="1200" dirty="0"/>
              <a:t>🇵🇱 </a:t>
            </a:r>
            <a:r>
              <a:rPr lang="ru-RU" sz="1200" b="1" dirty="0"/>
              <a:t>Польша:</a:t>
            </a:r>
            <a:r>
              <a:rPr lang="ru-RU" sz="1200" dirty="0"/>
              <a:t> ВВП: +4,9%, инфляция 18,4% - рост несмотря на войну, но уголь дал инфляционный удар.</a:t>
            </a:r>
          </a:p>
        </p:txBody>
      </p:sp>
    </p:spTree>
    <p:extLst>
      <p:ext uri="{BB962C8B-B14F-4D97-AF65-F5344CB8AC3E}">
        <p14:creationId xmlns:p14="http://schemas.microsoft.com/office/powerpoint/2010/main" val="1059743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hape 23"/>
          <p:cNvSpPr/>
          <p:nvPr/>
        </p:nvSpPr>
        <p:spPr>
          <a:xfrm>
            <a:off x="429260" y="2370192"/>
            <a:ext cx="4023360" cy="2440548"/>
          </a:xfrm>
          <a:prstGeom prst="rect">
            <a:avLst/>
          </a:prstGeom>
          <a:solidFill>
            <a:srgbClr val="FFFFFF"/>
          </a:solidFill>
          <a:ln w="6350">
            <a:solidFill>
              <a:srgbClr val="D6CFC4"/>
            </a:solidFill>
            <a:prstDash val="solid"/>
          </a:ln>
          <a:effectLst>
            <a:reflection blurRad="6350" stA="52000" endA="300" endPos="35000" dir="5400000" sy="-100000" algn="bl" rotWithShape="0"/>
          </a:effectLst>
        </p:spPr>
      </p:sp>
      <p:sp>
        <p:nvSpPr>
          <p:cNvPr id="3" name="Text 1"/>
          <p:cNvSpPr/>
          <p:nvPr/>
        </p:nvSpPr>
        <p:spPr>
          <a:xfrm>
            <a:off x="512064" y="37719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Спецификация модели на панельных данных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29260" y="463487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12064" y="1161288"/>
            <a:ext cx="8229600" cy="960120"/>
          </a:xfrm>
          <a:prstGeom prst="rect">
            <a:avLst/>
          </a:prstGeom>
          <a:solidFill>
            <a:srgbClr val="FAF6EE"/>
          </a:solidFill>
          <a:ln w="6350">
            <a:solidFill>
              <a:srgbClr val="D6CFC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61288"/>
            <a:ext cx="54864" cy="960120"/>
          </a:xfrm>
          <a:prstGeom prst="rect">
            <a:avLst/>
          </a:prstGeom>
          <a:solidFill>
            <a:srgbClr val="A88B4A"/>
          </a:solidFill>
          <a:ln w="12700">
            <a:solidFill>
              <a:srgbClr val="A88B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0664" y="125272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A88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СПЕЦИФИКАЦИЯ FE-МОДЕЛИ</a:t>
            </a:r>
            <a:endParaRPr lang="en-US" sz="1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 8"/>
              <p:cNvSpPr/>
              <p:nvPr/>
            </p:nvSpPr>
            <p:spPr>
              <a:xfrm>
                <a:off x="740664" y="1527048"/>
                <a:ext cx="7641236" cy="38374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i="1">
                          <a:latin typeface="Cambria Math" panose="02040503050406030204" pitchFamily="18" charset="0"/>
                        </a:rPr>
                        <m:t>𝑙𝑛</m:t>
                      </m:r>
                      <m:d>
                        <m:dPr>
                          <m:ctrlPr>
                            <a:rPr lang="en-US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1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i="1">
                                  <a:latin typeface="Cambria Math" panose="02040503050406030204" pitchFamily="18" charset="0"/>
                                </a:rPr>
                                <m:t>𝐺𝐷𝑃</m:t>
                              </m:r>
                              <m:r>
                                <a:rPr lang="en-US" sz="1100" i="1">
                                  <a:latin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en-US" sz="1100" i="1">
                                  <a:latin typeface="Cambria Math" panose="02040503050406030204" pitchFamily="18" charset="0"/>
                                </a:rPr>
                                <m:t>𝑝𝑐</m:t>
                              </m:r>
                            </m:e>
                            <m:sub>
                              <m:r>
                                <a:rPr lang="en-US" sz="1100" i="1">
                                  <a:latin typeface="Cambria Math" panose="02040503050406030204" pitchFamily="18" charset="0"/>
                                </a:rPr>
                                <m:t>𝑖𝑡</m:t>
                              </m:r>
                            </m:sub>
                          </m:sSub>
                        </m:e>
                      </m:d>
                      <m:r>
                        <a:rPr lang="ru-RU" sz="1100" i="1">
                          <a:latin typeface="Cambria Math" panose="02040503050406030204" pitchFamily="18" charset="0"/>
                        </a:rPr>
                        <m:t> = </m:t>
                      </m:r>
                      <m:sSub>
                        <m:sSubPr>
                          <m:ctrlPr>
                            <a:rPr lang="en-US" sz="1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1100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ru-RU" sz="11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ru-RU" sz="1100" i="1">
                          <a:latin typeface="Cambria Math" panose="02040503050406030204" pitchFamily="18" charset="0"/>
                        </a:rPr>
                        <m:t> + </m:t>
                      </m:r>
                      <m:sSub>
                        <m:sSubPr>
                          <m:ctrlPr>
                            <a:rPr lang="en-US" sz="1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11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ru-RU" sz="11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100" i="1">
                          <a:latin typeface="Cambria Math" panose="02040503050406030204" pitchFamily="18" charset="0"/>
                        </a:rPr>
                        <m:t>𝑙𝑛</m:t>
                      </m:r>
                      <m:d>
                        <m:dPr>
                          <m:ctrlPr>
                            <a:rPr lang="en-US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𝐼𝑛𝑡𝑒𝑟𝑛𝑒</m:t>
                          </m:r>
                          <m:sSub>
                            <m:sSubPr>
                              <m:ctrlPr>
                                <a:rPr lang="en-US" sz="11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1100" i="1">
                                  <a:latin typeface="Cambria Math" panose="02040503050406030204" pitchFamily="18" charset="0"/>
                                </a:rPr>
                                <m:t>𝑖𝑡</m:t>
                              </m:r>
                            </m:sub>
                          </m:sSub>
                        </m:e>
                      </m:d>
                      <m:r>
                        <a:rPr lang="ru-RU" sz="1100" i="1">
                          <a:latin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en-US" sz="1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11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ru-RU" sz="11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100" i="1">
                          <a:latin typeface="Cambria Math" panose="02040503050406030204" pitchFamily="18" charset="0"/>
                        </a:rPr>
                        <m:t>𝐺𝐹𝐶</m:t>
                      </m:r>
                      <m:sSub>
                        <m:sSubPr>
                          <m:ctrlPr>
                            <a:rPr lang="en-US" sz="1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𝑖𝑡</m:t>
                          </m:r>
                        </m:sub>
                      </m:sSub>
                      <m:r>
                        <a:rPr lang="ru-RU" sz="1100" i="1">
                          <a:latin typeface="Cambria Math" panose="02040503050406030204" pitchFamily="18" charset="0"/>
                        </a:rPr>
                        <m:t> + </m:t>
                      </m:r>
                      <m:sSub>
                        <m:sSubPr>
                          <m:ctrlPr>
                            <a:rPr lang="en-US" sz="1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11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ru-RU" sz="11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1100" i="1">
                          <a:latin typeface="Cambria Math" panose="02040503050406030204" pitchFamily="18" charset="0"/>
                        </a:rPr>
                        <m:t>𝐼𝑛𝑓𝑙𝑎𝑡𝑖𝑜</m:t>
                      </m:r>
                      <m:sSub>
                        <m:sSubPr>
                          <m:ctrlPr>
                            <a:rPr lang="en-US" sz="1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𝑖𝑡</m:t>
                          </m:r>
                        </m:sub>
                      </m:sSub>
                      <m:r>
                        <a:rPr lang="ru-RU" sz="1100" i="1">
                          <a:latin typeface="Cambria Math" panose="02040503050406030204" pitchFamily="18" charset="0"/>
                        </a:rPr>
                        <m:t> + </m:t>
                      </m:r>
                      <m:sSub>
                        <m:sSubPr>
                          <m:ctrlPr>
                            <a:rPr lang="en-US" sz="1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11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ru-RU" sz="1100" i="1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1100" i="1">
                          <a:latin typeface="Cambria Math" panose="02040503050406030204" pitchFamily="18" charset="0"/>
                        </a:rPr>
                        <m:t>𝑈𝑛𝑒𝑚𝑝𝑙𝑜𝑦𝑚𝑒𝑛</m:t>
                      </m:r>
                      <m:sSub>
                        <m:sSubPr>
                          <m:ctrlPr>
                            <a:rPr lang="en-US" sz="1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𝑖𝑡</m:t>
                          </m:r>
                        </m:sub>
                      </m:sSub>
                      <m:r>
                        <a:rPr lang="ru-RU" sz="1100" i="1">
                          <a:latin typeface="Cambria Math" panose="02040503050406030204" pitchFamily="18" charset="0"/>
                        </a:rPr>
                        <m:t> + </m:t>
                      </m:r>
                      <m:sSub>
                        <m:sSubPr>
                          <m:ctrlPr>
                            <a:rPr lang="en-US" sz="1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11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ru-RU" sz="1100" i="1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ru-RU" sz="11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100" i="1">
                          <a:latin typeface="Cambria Math" panose="02040503050406030204" pitchFamily="18" charset="0"/>
                        </a:rPr>
                        <m:t>𝐻𝑖𝑔</m:t>
                      </m:r>
                      <m:r>
                        <a:rPr lang="ru-RU" sz="1100" i="1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1100" i="1">
                          <a:latin typeface="Cambria Math" panose="02040503050406030204" pitchFamily="18" charset="0"/>
                        </a:rPr>
                        <m:t>𝑇𝑒𝑐</m:t>
                      </m:r>
                      <m:r>
                        <a:rPr lang="ru-RU" sz="1100" i="1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1100" i="1">
                          <a:latin typeface="Cambria Math" panose="02040503050406030204" pitchFamily="18" charset="0"/>
                        </a:rPr>
                        <m:t>𝐸𝑥𝑝𝑜𝑟</m:t>
                      </m:r>
                      <m:sSub>
                        <m:sSubPr>
                          <m:ctrlPr>
                            <a:rPr lang="en-US" sz="1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𝑖𝑡</m:t>
                          </m:r>
                        </m:sub>
                      </m:sSub>
                      <m:r>
                        <a:rPr lang="ru-RU" sz="1100" i="1">
                          <a:latin typeface="Cambria Math" panose="02040503050406030204" pitchFamily="18" charset="0"/>
                        </a:rPr>
                        <m:t> + </m:t>
                      </m:r>
                      <m:sSub>
                        <m:sSubPr>
                          <m:ctrlPr>
                            <a:rPr lang="en-US" sz="1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11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ru-RU" sz="1100" i="1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sSub>
                        <m:sSubPr>
                          <m:ctrlPr>
                            <a:rPr lang="en-US" sz="11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1100" i="1">
                              <a:latin typeface="Cambria Math" panose="02040503050406030204" pitchFamily="18" charset="0"/>
                            </a:rPr>
                            <m:t>𝐶𝑂𝑉𝐼𝐷</m:t>
                          </m:r>
                        </m:e>
                        <m:sub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ru-RU" sz="1100" i="1">
                          <a:latin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en-US" sz="1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11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ru-RU" sz="1100" i="1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sSub>
                        <m:sSubPr>
                          <m:ctrlPr>
                            <a:rPr lang="en-US" sz="1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1100" i="1">
                              <a:latin typeface="Cambria Math" panose="02040503050406030204" pitchFamily="18" charset="0"/>
                            </a:rPr>
                            <m:t>𝐶𝑟𝑖𝑠𝑖𝑠</m:t>
                          </m:r>
                          <m:r>
                            <a:rPr lang="ru-RU" sz="1100" i="1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ru-RU" sz="1100" i="1">
                              <a:latin typeface="Cambria Math" panose="02040503050406030204" pitchFamily="18" charset="0"/>
                            </a:rPr>
                            <m:t>𝐺𝑒𝑜</m:t>
                          </m:r>
                        </m:e>
                        <m:sub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ru-RU" sz="1100" i="1">
                          <a:latin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en-US" sz="1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11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ru-RU" sz="1100" i="1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  <m:d>
                        <m:dPr>
                          <m:ctrlPr>
                            <a:rPr lang="en-US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𝑙𝑛</m:t>
                          </m:r>
                          <m:d>
                            <m:dPr>
                              <m:ctrlPr>
                                <a:rPr lang="en-US" sz="11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100" i="1">
                                  <a:latin typeface="Cambria Math" panose="02040503050406030204" pitchFamily="18" charset="0"/>
                                </a:rPr>
                                <m:t>𝐼𝑛𝑡𝑒𝑟𝑛𝑒</m:t>
                              </m:r>
                              <m:sSub>
                                <m:sSubPr>
                                  <m:ctrlP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ru-RU" sz="1100" i="1">
                                      <a:latin typeface="Cambria Math" panose="02040503050406030204" pitchFamily="18" charset="0"/>
                                    </a:rPr>
                                    <m:t>𝑖𝑡</m:t>
                                  </m:r>
                                </m:sub>
                              </m:sSub>
                            </m:e>
                          </m:d>
                          <m:r>
                            <a:rPr lang="ru-RU" sz="1100" i="1">
                              <a:latin typeface="Cambria Math" panose="02040503050406030204" pitchFamily="18" charset="0"/>
                            </a:rPr>
                            <m:t>×</m:t>
                          </m:r>
                          <m:sSub>
                            <m:sSubPr>
                              <m:ctrlPr>
                                <a:rPr lang="en-US" sz="11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100" i="1">
                                  <a:latin typeface="Cambria Math" panose="02040503050406030204" pitchFamily="18" charset="0"/>
                                </a:rPr>
                                <m:t>𝐶𝑂𝑉𝐼𝐷</m:t>
                              </m:r>
                            </m:e>
                            <m:sub>
                              <m:r>
                                <a:rPr lang="en-US" sz="11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ru-RU" sz="1100" i="1">
                          <a:latin typeface="Cambria Math" panose="02040503050406030204" pitchFamily="18" charset="0"/>
                        </a:rPr>
                        <m:t> + </m:t>
                      </m:r>
                      <m:sSub>
                        <m:sSubPr>
                          <m:ctrlPr>
                            <a:rPr lang="en-US" sz="1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11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ru-RU" sz="1100" i="1"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  <m:r>
                        <a:rPr lang="ru-RU" sz="11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100" i="1">
                          <a:latin typeface="Cambria Math" panose="02040503050406030204" pitchFamily="18" charset="0"/>
                        </a:rPr>
                        <m:t>𝑙𝑛</m:t>
                      </m:r>
                      <m:r>
                        <a:rPr lang="ru-RU" sz="11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100" i="1">
                          <a:latin typeface="Cambria Math" panose="02040503050406030204" pitchFamily="18" charset="0"/>
                        </a:rPr>
                        <m:t>𝐼𝑛𝑡𝑒𝑟𝑛𝑒</m:t>
                      </m:r>
                      <m:sSub>
                        <m:sSubPr>
                          <m:ctrlPr>
                            <a:rPr lang="en-US" sz="1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ru-RU" sz="1100" i="1">
                              <a:latin typeface="Cambria Math" panose="02040503050406030204" pitchFamily="18" charset="0"/>
                            </a:rPr>
                            <m:t>𝑖𝑡</m:t>
                          </m:r>
                        </m:sub>
                      </m:sSub>
                      <m:r>
                        <a:rPr lang="ru-RU" sz="1100" i="1">
                          <a:latin typeface="Cambria Math" panose="02040503050406030204" pitchFamily="18" charset="0"/>
                        </a:rPr>
                        <m:t>) ×</m:t>
                      </m:r>
                      <m:r>
                        <a:rPr lang="en-US" sz="1100" i="1">
                          <a:latin typeface="Cambria Math" panose="02040503050406030204" pitchFamily="18" charset="0"/>
                        </a:rPr>
                        <m:t>𝐶𝑟𝑖𝑠𝑖𝑠</m:t>
                      </m:r>
                      <m:r>
                        <a:rPr lang="ru-RU" sz="1100" i="1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sz="1100" i="1">
                          <a:latin typeface="Cambria Math" panose="02040503050406030204" pitchFamily="18" charset="0"/>
                        </a:rPr>
                        <m:t>𝐺𝑒</m:t>
                      </m:r>
                      <m:sSub>
                        <m:sSubPr>
                          <m:ctrlPr>
                            <a:rPr lang="en-US" sz="1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ru-RU" sz="1100" i="1">
                          <a:latin typeface="Cambria Math" panose="02040503050406030204" pitchFamily="18" charset="0"/>
                        </a:rPr>
                        <m:t>) + </m:t>
                      </m:r>
                      <m:sSub>
                        <m:sSubPr>
                          <m:ctrlPr>
                            <a:rPr lang="en-US" sz="1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1100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ru-RU" sz="1100" i="1">
                              <a:latin typeface="Cambria Math" panose="02040503050406030204" pitchFamily="18" charset="0"/>
                            </a:rPr>
                            <m:t>𝑖𝑡</m:t>
                          </m:r>
                        </m:sub>
                      </m:sSub>
                    </m:oMath>
                  </m:oMathPara>
                </a14:m>
                <a:endParaRPr lang="en-US" sz="1100" dirty="0"/>
              </a:p>
            </p:txBody>
          </p:sp>
        </mc:Choice>
        <mc:Fallback>
          <p:sp>
            <p:nvSpPr>
              <p:cNvPr id="10" name="Text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664" y="1527048"/>
                <a:ext cx="7641236" cy="383748"/>
              </a:xfrm>
              <a:prstGeom prst="rect">
                <a:avLst/>
              </a:prstGeom>
              <a:blipFill>
                <a:blip r:embed="rId3"/>
                <a:stretch>
                  <a:fillRect b="-45161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 10"/>
          <p:cNvSpPr/>
          <p:nvPr/>
        </p:nvSpPr>
        <p:spPr>
          <a:xfrm>
            <a:off x="612140" y="239459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000" b="1" kern="0" spc="400" dirty="0" smtClean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ПЕРЕМЕННЫЕ МОДЕЛИ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12140" y="271463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000" dirty="0" smtClean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Зависимая переменная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440940" y="271463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000" b="1" dirty="0"/>
              <a:t>ln(</a:t>
            </a:r>
            <a:r>
              <a:rPr lang="az-Cyrl-AZ" sz="1000" b="1" dirty="0"/>
              <a:t>ВВП на душу населения)</a:t>
            </a:r>
            <a:endParaRPr lang="en-US" sz="1000" b="1" dirty="0"/>
          </a:p>
        </p:txBody>
      </p:sp>
      <p:sp>
        <p:nvSpPr>
          <p:cNvPr id="15" name="Text 13"/>
          <p:cNvSpPr/>
          <p:nvPr/>
        </p:nvSpPr>
        <p:spPr>
          <a:xfrm>
            <a:off x="612140" y="296151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000" dirty="0" smtClean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Основной регрессор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440940" y="296151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000" b="1" dirty="0"/>
              <a:t>ln(</a:t>
            </a:r>
            <a:r>
              <a:rPr lang="az-Cyrl-AZ" sz="1000" b="1" dirty="0"/>
              <a:t>интернет-проникновение)</a:t>
            </a:r>
            <a:endParaRPr lang="en-US" sz="1000" b="1" dirty="0"/>
          </a:p>
        </p:txBody>
      </p:sp>
      <p:sp>
        <p:nvSpPr>
          <p:cNvPr id="18" name="Text 16"/>
          <p:cNvSpPr/>
          <p:nvPr/>
        </p:nvSpPr>
        <p:spPr>
          <a:xfrm>
            <a:off x="612140" y="3427862"/>
            <a:ext cx="32842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ru-RU" sz="1000" b="1" dirty="0"/>
              <a:t>GFCF </a:t>
            </a:r>
            <a:r>
              <a:rPr lang="ru-RU" sz="1000" b="1" dirty="0" smtClean="0"/>
              <a:t>- </a:t>
            </a:r>
            <a:r>
              <a:rPr lang="ru-RU" sz="1000" b="1" dirty="0"/>
              <a:t>валовое накопление основного капитала</a:t>
            </a:r>
          </a:p>
        </p:txBody>
      </p:sp>
      <p:sp>
        <p:nvSpPr>
          <p:cNvPr id="20" name="Text 18"/>
          <p:cNvSpPr/>
          <p:nvPr/>
        </p:nvSpPr>
        <p:spPr>
          <a:xfrm>
            <a:off x="612140" y="3656462"/>
            <a:ext cx="29794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az-Cyrl-AZ" sz="1000" b="1" dirty="0"/>
              <a:t>Инфляция </a:t>
            </a:r>
            <a:r>
              <a:rPr lang="az-Cyrl-AZ" sz="1000" b="1" dirty="0" smtClean="0"/>
              <a:t>- </a:t>
            </a:r>
            <a:r>
              <a:rPr lang="az-Cyrl-AZ" sz="1000" b="1" dirty="0"/>
              <a:t>индекс потребительских цен</a:t>
            </a:r>
          </a:p>
        </p:txBody>
      </p:sp>
      <p:sp>
        <p:nvSpPr>
          <p:cNvPr id="22" name="Text 20"/>
          <p:cNvSpPr/>
          <p:nvPr/>
        </p:nvSpPr>
        <p:spPr>
          <a:xfrm>
            <a:off x="612140" y="3789050"/>
            <a:ext cx="28270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az-Cyrl-AZ" sz="1000" b="1" dirty="0"/>
              <a:t>Безработица </a:t>
            </a:r>
            <a:r>
              <a:rPr lang="az-Cyrl-AZ" sz="1000" b="1" dirty="0" smtClean="0"/>
              <a:t>- </a:t>
            </a:r>
            <a:r>
              <a:rPr lang="az-Cyrl-AZ" sz="1000" b="1" dirty="0"/>
              <a:t>доля безработного населения</a:t>
            </a:r>
          </a:p>
        </p:txBody>
      </p:sp>
      <p:sp>
        <p:nvSpPr>
          <p:cNvPr id="24" name="Text 22"/>
          <p:cNvSpPr/>
          <p:nvPr/>
        </p:nvSpPr>
        <p:spPr>
          <a:xfrm>
            <a:off x="612140" y="3926769"/>
            <a:ext cx="32842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 err="1"/>
              <a:t>HighTechExport</a:t>
            </a:r>
            <a:r>
              <a:rPr lang="en-US" sz="1000" b="1" dirty="0"/>
              <a:t> </a:t>
            </a:r>
            <a:r>
              <a:rPr lang="ru-RU" sz="1000" b="1" dirty="0" smtClean="0"/>
              <a:t>-</a:t>
            </a:r>
            <a:r>
              <a:rPr lang="en-US" sz="1000" b="1" dirty="0" smtClean="0"/>
              <a:t> </a:t>
            </a:r>
            <a:r>
              <a:rPr lang="az-Cyrl-AZ" sz="1000" b="1" dirty="0"/>
              <a:t>доля высокотехнологичного экспорта</a:t>
            </a:r>
          </a:p>
        </p:txBody>
      </p:sp>
      <p:sp>
        <p:nvSpPr>
          <p:cNvPr id="25" name="Shape 23"/>
          <p:cNvSpPr/>
          <p:nvPr/>
        </p:nvSpPr>
        <p:spPr>
          <a:xfrm>
            <a:off x="4635500" y="2370192"/>
            <a:ext cx="4023360" cy="2440548"/>
          </a:xfrm>
          <a:prstGeom prst="rect">
            <a:avLst/>
          </a:prstGeom>
          <a:solidFill>
            <a:srgbClr val="FFFFFF"/>
          </a:solidFill>
          <a:ln w="6350">
            <a:solidFill>
              <a:srgbClr val="D6CFC4"/>
            </a:solidFill>
            <a:prstDash val="solid"/>
          </a:ln>
          <a:effectLst>
            <a:reflection blurRad="6350" stA="52000" endA="300" endPos="35000" dir="5400000" sy="-100000" algn="bl" rotWithShape="0"/>
          </a:effectLst>
        </p:spPr>
      </p:sp>
      <p:sp>
        <p:nvSpPr>
          <p:cNvPr id="26" name="Text 24"/>
          <p:cNvSpPr/>
          <p:nvPr/>
        </p:nvSpPr>
        <p:spPr>
          <a:xfrm>
            <a:off x="4818380" y="239459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ДИАГНОСТИКА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18380" y="271463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 Чоу (структурная гетерог.)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921500" y="271463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= 5,34; p &lt; 0,001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18380" y="296151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Хаусман (развитые)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921500" y="296151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χ² = 4,58; p = 0,87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18380" y="3208406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Хаусман (переходные)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921500" y="3208406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χ² = 1,36; p = 0,998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18380" y="3455294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Бройш-Паган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921500" y="3455294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Гетероскедастичность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818380" y="370218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Вулдридж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921500" y="370218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Автокорреляция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818380" y="394907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921500" y="394907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 + кластер. HC1 ошибки</a:t>
            </a:r>
            <a:endParaRPr lang="en-US" sz="1000" dirty="0"/>
          </a:p>
        </p:txBody>
      </p:sp>
      <p:pic>
        <p:nvPicPr>
          <p:cNvPr id="40" name="图片 1"/>
          <p:cNvPicPr/>
          <p:nvPr/>
        </p:nvPicPr>
        <p:blipFill>
          <a:blip r:embed="rId4"/>
          <a:stretch>
            <a:fillRect/>
          </a:stretch>
        </p:blipFill>
        <p:spPr>
          <a:xfrm>
            <a:off x="8448675" y="292608"/>
            <a:ext cx="476250" cy="381762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612140" y="4293317"/>
            <a:ext cx="1413849" cy="394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19025" rIns="0" bIns="119025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1" i="0" u="none" strike="noStrike" cap="none" normalizeH="0" baseline="0" dirty="0" smtClean="0">
                <a:ln>
                  <a:noFill/>
                </a:ln>
                <a:effectLst/>
              </a:rPr>
              <a:t>COVID  </a:t>
            </a:r>
            <a:r>
              <a:rPr kumimoji="0" lang="ru-RU" altLang="en-US" sz="1000" b="1" i="0" u="none" strike="noStrike" cap="none" normalizeH="0" baseline="0" dirty="0" smtClean="0">
                <a:ln>
                  <a:noFill/>
                </a:ln>
                <a:effectLst/>
              </a:rPr>
              <a:t>-</a:t>
            </a:r>
            <a:r>
              <a:rPr kumimoji="0" lang="en-US" altLang="en-US" sz="1000" b="1" i="0" u="none" strike="noStrike" cap="none" normalizeH="0" baseline="0" dirty="0" smtClean="0">
                <a:ln>
                  <a:noFill/>
                </a:ln>
                <a:effectLst/>
              </a:rPr>
              <a:t> </a:t>
            </a:r>
            <a:r>
              <a:rPr kumimoji="0" lang="en-US" altLang="en-US" sz="1000" b="1" i="0" u="none" strike="noStrike" cap="none" normalizeH="0" baseline="0" dirty="0" err="1" smtClean="0">
                <a:ln>
                  <a:noFill/>
                </a:ln>
                <a:effectLst/>
              </a:rPr>
              <a:t>экзогенный</a:t>
            </a:r>
            <a:r>
              <a:rPr kumimoji="0" lang="en-US" altLang="en-US" sz="1000" b="1" i="0" u="none" strike="noStrike" cap="none" normalizeH="0" baseline="0" dirty="0" smtClean="0">
                <a:ln>
                  <a:noFill/>
                </a:ln>
                <a:effectLst/>
              </a:rPr>
              <a:t> </a:t>
            </a:r>
            <a:r>
              <a:rPr kumimoji="0" lang="en-US" altLang="en-US" sz="1000" b="1" i="0" u="none" strike="noStrike" cap="none" normalizeH="0" baseline="0" dirty="0" err="1" smtClean="0">
                <a:ln>
                  <a:noFill/>
                </a:ln>
                <a:effectLst/>
              </a:rPr>
              <a:t>шок</a:t>
            </a:r>
            <a:r>
              <a:rPr kumimoji="0" lang="en-US" altLang="en-US" sz="1000" b="1" i="0" u="none" strike="noStrike" cap="none" normalizeH="0" baseline="0" dirty="0" smtClean="0">
                <a:ln>
                  <a:noFill/>
                </a:ln>
                <a:effectLst/>
              </a:rPr>
              <a:t> </a:t>
            </a:r>
          </a:p>
        </p:txBody>
      </p:sp>
      <p:sp>
        <p:nvSpPr>
          <p:cNvPr id="11" name="Rectangle 3"/>
          <p:cNvSpPr>
            <a:spLocks noChangeArrowheads="1"/>
          </p:cNvSpPr>
          <p:nvPr/>
        </p:nvSpPr>
        <p:spPr bwMode="auto">
          <a:xfrm>
            <a:off x="612140" y="4465082"/>
            <a:ext cx="2090316" cy="394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19025" rIns="0" bIns="119025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1" i="0" u="none" strike="noStrike" cap="none" normalizeH="0" baseline="0" dirty="0" err="1" smtClean="0">
                <a:ln>
                  <a:noFill/>
                </a:ln>
                <a:effectLst/>
                <a:cs typeface="Courier New" panose="02070309020205020404" pitchFamily="49" charset="0"/>
              </a:rPr>
              <a:t>Crisis_Geo</a:t>
            </a:r>
            <a:r>
              <a:rPr kumimoji="0" lang="en-US" altLang="en-US" sz="1000" b="1" i="0" u="none" strike="noStrike" cap="none" normalizeH="0" baseline="0" dirty="0" smtClean="0">
                <a:ln>
                  <a:noFill/>
                </a:ln>
                <a:effectLst/>
                <a:cs typeface="Courier New" panose="02070309020205020404" pitchFamily="49" charset="0"/>
              </a:rPr>
              <a:t> </a:t>
            </a:r>
            <a:r>
              <a:rPr lang="ru-RU" altLang="en-US" sz="1000" b="1" dirty="0">
                <a:cs typeface="Courier New" panose="02070309020205020404" pitchFamily="49" charset="0"/>
              </a:rPr>
              <a:t>-</a:t>
            </a:r>
            <a:r>
              <a:rPr kumimoji="0" lang="en-US" altLang="en-US" sz="1000" b="1" i="0" u="none" strike="noStrike" cap="none" normalizeH="0" baseline="0" dirty="0" smtClean="0">
                <a:ln>
                  <a:noFill/>
                </a:ln>
                <a:effectLst/>
                <a:cs typeface="Courier New" panose="02070309020205020404" pitchFamily="49" charset="0"/>
              </a:rPr>
              <a:t> </a:t>
            </a:r>
            <a:r>
              <a:rPr kumimoji="0" lang="en-US" altLang="en-US" sz="1000" b="1" i="0" u="none" strike="noStrike" cap="none" normalizeH="0" baseline="0" dirty="0" err="1" smtClean="0">
                <a:ln>
                  <a:noFill/>
                </a:ln>
                <a:effectLst/>
                <a:cs typeface="Courier New" panose="02070309020205020404" pitchFamily="49" charset="0"/>
              </a:rPr>
              <a:t>геополитический</a:t>
            </a:r>
            <a:r>
              <a:rPr kumimoji="0" lang="en-US" altLang="en-US" sz="1000" b="1" i="0" u="none" strike="noStrike" cap="none" normalizeH="0" baseline="0" dirty="0" smtClean="0">
                <a:ln>
                  <a:noFill/>
                </a:ln>
                <a:effectLst/>
                <a:cs typeface="Courier New" panose="02070309020205020404" pitchFamily="49" charset="0"/>
              </a:rPr>
              <a:t> </a:t>
            </a:r>
            <a:r>
              <a:rPr kumimoji="0" lang="en-US" altLang="en-US" sz="1000" b="1" i="0" u="none" strike="noStrike" cap="none" normalizeH="0" baseline="0" dirty="0" err="1" smtClean="0">
                <a:ln>
                  <a:noFill/>
                </a:ln>
                <a:effectLst/>
                <a:cs typeface="Courier New" panose="02070309020205020404" pitchFamily="49" charset="0"/>
              </a:rPr>
              <a:t>кризис</a:t>
            </a:r>
            <a:r>
              <a:rPr kumimoji="0" lang="en-US" altLang="en-US" sz="1000" b="1" i="0" u="none" strike="noStrike" cap="none" normalizeH="0" baseline="0" dirty="0" smtClean="0">
                <a:ln>
                  <a:noFill/>
                </a:ln>
                <a:effectLst/>
              </a:rPr>
              <a:t> </a:t>
            </a:r>
          </a:p>
        </p:txBody>
      </p:sp>
      <p:sp>
        <p:nvSpPr>
          <p:cNvPr id="41" name="Text 15"/>
          <p:cNvSpPr/>
          <p:nvPr/>
        </p:nvSpPr>
        <p:spPr>
          <a:xfrm>
            <a:off x="612140" y="320840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000" dirty="0" smtClean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Контрольные переменные</a:t>
            </a:r>
            <a:r>
              <a:rPr lang="en-US" sz="1000" dirty="0" smtClean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1000" dirty="0"/>
          </a:p>
        </p:txBody>
      </p:sp>
      <p:sp>
        <p:nvSpPr>
          <p:cNvPr id="42" name="Text 15"/>
          <p:cNvSpPr/>
          <p:nvPr/>
        </p:nvSpPr>
        <p:spPr>
          <a:xfrm>
            <a:off x="612140" y="4160525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000" dirty="0" smtClean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Кризисные </a:t>
            </a:r>
            <a:r>
              <a:rPr lang="ru-RU" sz="1000" dirty="0" err="1" smtClean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дамми</a:t>
            </a:r>
            <a:r>
              <a:rPr lang="en-US" sz="1000" dirty="0" smtClean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11048" y="28309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Ключевые коэффициенты FE-модели по группам стран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4846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8229600" cy="68580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32588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A88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H₁ ПОДТВЕРЖДЕНА</a:t>
            </a:r>
            <a:r>
              <a:rPr lang="en-US" sz="1100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r>
              <a:rPr lang="en-US" sz="1100" dirty="0" smtClean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2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цифровизация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статистически значимый фактор роста ВВП во всех 3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группах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стран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148840"/>
            <a:ext cx="2715768" cy="2468880"/>
          </a:xfrm>
          <a:prstGeom prst="rect">
            <a:avLst/>
          </a:prstGeom>
          <a:solidFill>
            <a:srgbClr val="FAF6EE"/>
          </a:solidFill>
          <a:ln w="6350">
            <a:solidFill>
              <a:srgbClr val="D6CFC4"/>
            </a:solidFill>
            <a:prstDash val="solid"/>
          </a:ln>
          <a:effectLst>
            <a:reflection blurRad="6350" stA="50000" endA="300" endPos="90000" dist="50800" dir="5400000" sy="-100000" algn="bl" rotWithShape="0"/>
          </a:effectLst>
        </p:spPr>
      </p:sp>
      <p:sp>
        <p:nvSpPr>
          <p:cNvPr id="10" name="Text 8"/>
          <p:cNvSpPr/>
          <p:nvPr/>
        </p:nvSpPr>
        <p:spPr>
          <a:xfrm>
            <a:off x="548640" y="2240280"/>
            <a:ext cx="2532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40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РАЗВИТЫЕ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3912669"/>
            <a:ext cx="2532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</a:t>
            </a:r>
            <a:r>
              <a:rPr lang="en-US" sz="1200" i="1" dirty="0" err="1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страны</a:t>
            </a: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200" i="1" dirty="0" smtClean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200" i="1" dirty="0" smtClean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330 </a:t>
            </a:r>
            <a:r>
              <a:rPr lang="en-US" sz="1200" i="1" dirty="0" err="1" smtClean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набл</a:t>
            </a:r>
            <a:r>
              <a:rPr lang="ru-RU" sz="1200" i="1" dirty="0" err="1" smtClean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юдений</a:t>
            </a:r>
            <a:r>
              <a:rPr lang="ru-RU" sz="1200" i="1" dirty="0" smtClean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2626322"/>
            <a:ext cx="2532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β = 0,212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48640" y="3108960"/>
            <a:ext cx="2532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 = </a:t>
            </a:r>
            <a:r>
              <a:rPr lang="en-US" sz="1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0,049682</a:t>
            </a:r>
          </a:p>
        </p:txBody>
      </p:sp>
      <p:sp>
        <p:nvSpPr>
          <p:cNvPr id="14" name="Text 12"/>
          <p:cNvSpPr/>
          <p:nvPr/>
        </p:nvSpPr>
        <p:spPr>
          <a:xfrm>
            <a:off x="548640" y="3310128"/>
            <a:ext cx="2532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ln(internet) ➜ ln(GDPpc)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31520" y="3566160"/>
            <a:ext cx="2194560" cy="0"/>
          </a:xfrm>
          <a:prstGeom prst="line">
            <a:avLst/>
          </a:prstGeom>
          <a:noFill/>
          <a:ln w="6350">
            <a:solidFill>
              <a:srgbClr val="D6CFC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46120" y="2148840"/>
            <a:ext cx="2715768" cy="2468880"/>
          </a:xfrm>
          <a:prstGeom prst="rect">
            <a:avLst/>
          </a:prstGeom>
          <a:solidFill>
            <a:srgbClr val="FAF6EE"/>
          </a:solidFill>
          <a:ln w="6350">
            <a:solidFill>
              <a:srgbClr val="D6CFC4"/>
            </a:solidFill>
            <a:prstDash val="solid"/>
          </a:ln>
          <a:effectLst>
            <a:reflection blurRad="6350" stA="50000" endA="300" endPos="90000" dist="50800" dir="5400000" sy="-100000" algn="bl" rotWithShape="0"/>
          </a:effectLst>
        </p:spPr>
      </p:sp>
      <p:sp>
        <p:nvSpPr>
          <p:cNvPr id="20" name="Text 18"/>
          <p:cNvSpPr/>
          <p:nvPr/>
        </p:nvSpPr>
        <p:spPr>
          <a:xfrm>
            <a:off x="3337560" y="2240280"/>
            <a:ext cx="2532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40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ПЕРЕХОДНЫЕ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337560" y="3912669"/>
            <a:ext cx="2532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</a:t>
            </a:r>
            <a:r>
              <a:rPr lang="en-US" sz="1200" i="1" dirty="0" err="1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стран</a:t>
            </a: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dirty="0" smtClean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200" i="1" dirty="0" smtClean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200" i="1" dirty="0" smtClean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233 </a:t>
            </a:r>
            <a:r>
              <a:rPr lang="en-US" sz="1200" i="1" dirty="0" err="1" smtClean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набл</a:t>
            </a:r>
            <a:r>
              <a:rPr lang="ru-RU" sz="1200" i="1" dirty="0" err="1" smtClean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юдений</a:t>
            </a:r>
            <a:r>
              <a:rPr lang="ru-RU" sz="1200" i="1" dirty="0" smtClean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337560" y="2633197"/>
            <a:ext cx="2532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β = 0,309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337560" y="3108960"/>
            <a:ext cx="2532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 </a:t>
            </a:r>
            <a:r>
              <a:rPr lang="ru-RU" sz="100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</a:t>
            </a:r>
            <a:r>
              <a:rPr lang="en-US" sz="1000" b="1" i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3,334e-08</a:t>
            </a:r>
          </a:p>
        </p:txBody>
      </p:sp>
      <p:sp>
        <p:nvSpPr>
          <p:cNvPr id="24" name="Text 22"/>
          <p:cNvSpPr/>
          <p:nvPr/>
        </p:nvSpPr>
        <p:spPr>
          <a:xfrm>
            <a:off x="3337560" y="3310128"/>
            <a:ext cx="2532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ln(internet) ➜ ln(GDPpc)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520440" y="3566160"/>
            <a:ext cx="2194560" cy="0"/>
          </a:xfrm>
          <a:prstGeom prst="line">
            <a:avLst/>
          </a:prstGeom>
          <a:noFill/>
          <a:ln w="6350">
            <a:solidFill>
              <a:srgbClr val="D6CFC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035040" y="2148840"/>
            <a:ext cx="2715768" cy="2468880"/>
          </a:xfrm>
          <a:prstGeom prst="rect">
            <a:avLst/>
          </a:prstGeom>
          <a:solidFill>
            <a:srgbClr val="FAF6EE"/>
          </a:solidFill>
          <a:ln w="6350">
            <a:solidFill>
              <a:srgbClr val="D6CFC4"/>
            </a:solidFill>
            <a:prstDash val="solid"/>
          </a:ln>
          <a:effectLst>
            <a:reflection blurRad="6350" stA="50000" endA="300" endPos="90000" dist="50800" dir="5400000" sy="-100000" algn="bl" rotWithShape="0"/>
          </a:effectLst>
        </p:spPr>
      </p:sp>
      <p:sp>
        <p:nvSpPr>
          <p:cNvPr id="30" name="Text 28"/>
          <p:cNvSpPr/>
          <p:nvPr/>
        </p:nvSpPr>
        <p:spPr>
          <a:xfrm>
            <a:off x="6126480" y="2240280"/>
            <a:ext cx="2532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40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РАЗВИВАЮЩИЕСЯ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126480" y="3912669"/>
            <a:ext cx="2532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</a:t>
            </a:r>
            <a:r>
              <a:rPr lang="en-US" sz="1200" i="1" dirty="0" err="1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стран</a:t>
            </a: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dirty="0" smtClean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200" i="1" dirty="0" smtClean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200" i="1" dirty="0" smtClean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144 </a:t>
            </a:r>
            <a:r>
              <a:rPr lang="en-US" sz="1200" i="1" dirty="0" err="1" smtClean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набл</a:t>
            </a:r>
            <a:r>
              <a:rPr lang="ru-RU" sz="1200" i="1" dirty="0" err="1" smtClean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юдений</a:t>
            </a:r>
            <a:r>
              <a:rPr lang="en-US" sz="1200" i="1" dirty="0" smtClean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</a:t>
            </a:r>
            <a:r>
              <a:rPr lang="en-US" sz="1200" i="1" dirty="0" err="1" smtClean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Узбекистан</a:t>
            </a:r>
            <a:r>
              <a:rPr lang="ru-RU" sz="1200" i="1" dirty="0" smtClean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126480" y="2626322"/>
            <a:ext cx="2532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β = 0,198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126480" y="3108960"/>
            <a:ext cx="2532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 </a:t>
            </a:r>
            <a:r>
              <a:rPr lang="ru-RU" sz="1000" b="1" i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 </a:t>
            </a:r>
            <a:r>
              <a:rPr lang="en-US" sz="1000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7,370e-09</a:t>
            </a:r>
            <a:endParaRPr lang="en-US" sz="1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6126480" y="3310128"/>
            <a:ext cx="2532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ln(internet) ➜ ln(GDPpc)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309360" y="3566160"/>
            <a:ext cx="2194560" cy="0"/>
          </a:xfrm>
          <a:prstGeom prst="line">
            <a:avLst/>
          </a:prstGeom>
          <a:noFill/>
          <a:ln w="6350">
            <a:solidFill>
              <a:srgbClr val="D6CFC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463600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  <p:pic>
        <p:nvPicPr>
          <p:cNvPr id="40" name="图片 1"/>
          <p:cNvPicPr/>
          <p:nvPr/>
        </p:nvPicPr>
        <p:blipFill>
          <a:blip r:embed="rId3"/>
          <a:stretch>
            <a:fillRect/>
          </a:stretch>
        </p:blipFill>
        <p:spPr>
          <a:xfrm>
            <a:off x="8448675" y="292608"/>
            <a:ext cx="476250" cy="381762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6"/>
          <p:cNvSpPr/>
          <p:nvPr/>
        </p:nvSpPr>
        <p:spPr>
          <a:xfrm>
            <a:off x="457200" y="1250065"/>
            <a:ext cx="4206240" cy="3379807"/>
          </a:xfrm>
          <a:prstGeom prst="rect">
            <a:avLst/>
          </a:prstGeom>
          <a:solidFill>
            <a:srgbClr val="FAF6EE"/>
          </a:solidFill>
          <a:ln w="6350">
            <a:solidFill>
              <a:srgbClr val="D6CFC4"/>
            </a:solidFill>
            <a:prstDash val="solid"/>
          </a:ln>
          <a:effectLst>
            <a:reflection blurRad="6350" stA="50000" endA="300" endPos="90000" dist="50800" dir="5400000" sy="-100000" algn="bl" rotWithShape="0"/>
          </a:effectLst>
        </p:spPr>
      </p:sp>
      <p:sp>
        <p:nvSpPr>
          <p:cNvPr id="9" name="Shape 7"/>
          <p:cNvSpPr/>
          <p:nvPr/>
        </p:nvSpPr>
        <p:spPr>
          <a:xfrm>
            <a:off x="457200" y="1250065"/>
            <a:ext cx="54864" cy="3387975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518020"/>
            <a:ext cx="3931920" cy="273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dirty="0"/>
              <a:t>Стратегия "Цифровой Узбекистан 2030": 300 приоритетных проектов, цель - войти в топ-30 EGDI к 2030 году.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dirty="0"/>
              <a:t>Интернет-проникновение: 89%, покрытие 4G: 97%, но 5G только 18%, фиксированный интернет 30,3%.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dirty="0"/>
              <a:t>Скорость интернета (2025): фиксированный - 79 Мбит/с (+43%/год), мобильный - 38 Мбит/с (+53%/год).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dirty="0"/>
              <a:t>ИКТ-сектор: 2,4% ВДС (ОЭСР: 6,2%) - темп роста 24,7%/год, в 4 раза быстрее всей экономики.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dirty="0"/>
              <a:t>QR-транзакции: +119%/год (2020-2022), объём вырос в 15 раз за 2 года.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dirty="0"/>
              <a:t>Онлайн-банк: 8 млн (2018) → 30 млн (2022) - рост почти в 4 раза за 4 года.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dirty="0"/>
              <a:t>Межбанковские транзакции 2024: 7 279 трлн </a:t>
            </a:r>
            <a:r>
              <a:rPr lang="ru-RU" sz="1200" dirty="0" err="1"/>
              <a:t>сумов</a:t>
            </a:r>
            <a:r>
              <a:rPr lang="ru-RU" sz="1200" dirty="0"/>
              <a:t> - в 5 раз больше всего ВВП страны.</a:t>
            </a:r>
          </a:p>
        </p:txBody>
      </p:sp>
      <p:sp>
        <p:nvSpPr>
          <p:cNvPr id="13" name="Text 11"/>
          <p:cNvSpPr/>
          <p:nvPr/>
        </p:nvSpPr>
        <p:spPr>
          <a:xfrm>
            <a:off x="640080" y="3017520"/>
            <a:ext cx="3931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36" name="Text 1"/>
          <p:cNvSpPr/>
          <p:nvPr/>
        </p:nvSpPr>
        <p:spPr>
          <a:xfrm>
            <a:off x="457200" y="42745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2600" b="1" dirty="0" smtClean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Достижения и текущие показатели Узбекистана </a:t>
            </a:r>
            <a:endParaRPr lang="en-US" sz="2600" dirty="0"/>
          </a:p>
        </p:txBody>
      </p:sp>
      <p:pic>
        <p:nvPicPr>
          <p:cNvPr id="37" name="图片 1"/>
          <p:cNvPicPr/>
          <p:nvPr/>
        </p:nvPicPr>
        <p:blipFill>
          <a:blip r:embed="rId3"/>
          <a:stretch>
            <a:fillRect/>
          </a:stretch>
        </p:blipFill>
        <p:spPr>
          <a:xfrm>
            <a:off x="8448675" y="292608"/>
            <a:ext cx="476250" cy="381762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pic>
        <p:nvPicPr>
          <p:cNvPr id="3084" name="Picture 12" descr="Picture background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5731" y="1021818"/>
            <a:ext cx="3719194" cy="39288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87232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37719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взять у каждой страны для Узбекистана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8229600" cy="777240"/>
          </a:xfrm>
          <a:prstGeom prst="rect">
            <a:avLst/>
          </a:prstGeom>
          <a:solidFill>
            <a:srgbClr val="FAF6EE"/>
          </a:solidFill>
          <a:ln w="6350">
            <a:solidFill>
              <a:srgbClr val="D6CF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41732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31520" y="143560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ЭСТОНИЯ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170992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ВЫСОКАЯ</a:t>
            </a:r>
            <a:endParaRPr lang="en-US" sz="850" dirty="0">
              <a:solidFill>
                <a:srgbClr val="00B050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2468880" y="1399032"/>
            <a:ext cx="612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A88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ВЗЯТЬ: </a:t>
            </a: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X-Road </a:t>
            </a:r>
            <a:r>
              <a:rPr lang="en-US" sz="950" dirty="0" smtClean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открытая платформа межведомственного обмена данными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468880" y="1627632"/>
            <a:ext cx="612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A88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ЗАЧЕМ: </a:t>
            </a: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Усиление канала фискальной трансмиссии, снижение административных издержек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468880" y="1856232"/>
            <a:ext cx="6126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A88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ОГРАНИЧЕНИЕ: </a:t>
            </a:r>
            <a:r>
              <a:rPr lang="en-US" sz="9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Прямой перенос невозможен: 1,3 vs 36 млн чел.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57200" y="2176272"/>
            <a:ext cx="8229600" cy="777240"/>
          </a:xfrm>
          <a:prstGeom prst="rect">
            <a:avLst/>
          </a:prstGeom>
          <a:solidFill>
            <a:srgbClr val="FAF6EE"/>
          </a:solidFill>
          <a:ln w="6350">
            <a:solidFill>
              <a:srgbClr val="D6CF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267712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731520" y="22860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Р. КОРЕЯ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25603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СРЕДНЯЯ</a:t>
            </a:r>
            <a:endParaRPr lang="en-US" sz="850" dirty="0">
              <a:solidFill>
                <a:srgbClr val="FFC000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2468880" y="2249424"/>
            <a:ext cx="612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A88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ВЗЯТЬ: </a:t>
            </a: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Привязка цифровых проектов к антикризисным бюджетным программам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468880" y="2478024"/>
            <a:ext cx="612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A88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ЗАЧЕМ: </a:t>
            </a: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Принцип институционального дизайна, а не масштаб расходов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468880" y="2706624"/>
            <a:ext cx="6126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A88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ОГРАНИЧЕНИЕ: </a:t>
            </a:r>
            <a:r>
              <a:rPr lang="en-US" sz="9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Невозможно повторить </a:t>
            </a:r>
            <a:r>
              <a:rPr lang="en-US" sz="950" i="1" dirty="0" err="1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объём</a:t>
            </a:r>
            <a:r>
              <a:rPr lang="en-US" sz="9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i="1" dirty="0" smtClean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lang="ru-RU" sz="950" i="1" dirty="0" smtClean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r>
              <a:rPr lang="en-US" sz="950" i="1" dirty="0" smtClean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трлн вон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57200" y="3026664"/>
            <a:ext cx="8229600" cy="777240"/>
          </a:xfrm>
          <a:prstGeom prst="rect">
            <a:avLst/>
          </a:prstGeom>
          <a:solidFill>
            <a:srgbClr val="FAF6EE"/>
          </a:solidFill>
          <a:ln w="6350">
            <a:solidFill>
              <a:srgbClr val="D6CFC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118104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731520" y="319125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ПОЛЬША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31520" y="3465576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ВЫСОКАЯ</a:t>
            </a:r>
            <a:endParaRPr lang="en-US" sz="850" dirty="0">
              <a:solidFill>
                <a:srgbClr val="00B050"/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2468880" y="3099816"/>
            <a:ext cx="612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A88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ВЗЯТЬ: </a:t>
            </a: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Целевая цифровизация малого и среднего бизнеса (mObywatel, FERC)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468880" y="3328416"/>
            <a:ext cx="612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A88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ЗАЧЕМ: </a:t>
            </a: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Преодоление асимметрии: гос. сервисы ↔ частный сектор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468880" y="3557016"/>
            <a:ext cx="6126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A88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ОГРАНИЧЕНИЕ: </a:t>
            </a:r>
            <a:r>
              <a:rPr lang="en-US" sz="9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Финансирование через АБР, ЕБРР, ВБ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57200" y="3877056"/>
            <a:ext cx="8229600" cy="777240"/>
          </a:xfrm>
          <a:prstGeom prst="rect">
            <a:avLst/>
          </a:prstGeom>
          <a:solidFill>
            <a:srgbClr val="FAF6EE"/>
          </a:solidFill>
          <a:ln w="6350">
            <a:solidFill>
              <a:srgbClr val="D6CFC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3968496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731520" y="398678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СИНГАПУР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31520" y="4261104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НИЗКАЯ</a:t>
            </a:r>
            <a:endParaRPr lang="en-US" sz="850" dirty="0">
              <a:solidFill>
                <a:srgbClr val="FF0000"/>
              </a:solidFill>
            </a:endParaRPr>
          </a:p>
        </p:txBody>
      </p:sp>
      <p:sp>
        <p:nvSpPr>
          <p:cNvPr id="32" name="Text 30"/>
          <p:cNvSpPr/>
          <p:nvPr/>
        </p:nvSpPr>
        <p:spPr>
          <a:xfrm>
            <a:off x="2468880" y="3950208"/>
            <a:ext cx="612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A88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ВЗЯТЬ: </a:t>
            </a:r>
            <a:r>
              <a:rPr lang="en-US" sz="95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SingPass</a:t>
            </a: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smtClean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единая цифровая идентификация и адресная фискальная помощь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2468880" y="4178808"/>
            <a:ext cx="612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A88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ЗАЧЕМ: </a:t>
            </a: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Адаптация для крупных городов: Ташкент, Самарканд, Бухара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2468880" y="4407408"/>
            <a:ext cx="6126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A88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ОГРАНИЧЕНИЕ: </a:t>
            </a:r>
            <a:r>
              <a:rPr lang="en-US" sz="9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Масштаб: 728 км² vs 448 000 км²</a:t>
            </a:r>
            <a:endParaRPr lang="en-US" sz="850" dirty="0"/>
          </a:p>
        </p:txBody>
      </p:sp>
      <p:pic>
        <p:nvPicPr>
          <p:cNvPr id="35" name="图片 1"/>
          <p:cNvPicPr/>
          <p:nvPr/>
        </p:nvPicPr>
        <p:blipFill>
          <a:blip r:embed="rId3"/>
          <a:stretch>
            <a:fillRect/>
          </a:stretch>
        </p:blipFill>
        <p:spPr>
          <a:xfrm>
            <a:off x="8448675" y="292608"/>
            <a:ext cx="476250" cy="381762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pic>
        <p:nvPicPr>
          <p:cNvPr id="36" name="Picture 2" descr="🇪🇪 Flag: Estonia on Twitter Emoji Stickers 13.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0838" y="1378611"/>
            <a:ext cx="578543" cy="5785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4" descr="Флаг: Республика Корея эмодзи 🇰🇷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7110" y="2259424"/>
            <a:ext cx="648367" cy="648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8" descr="🇵🇱 Flag: Poland Emoji: Meaning &amp; Usage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4480" y="3163125"/>
            <a:ext cx="604901" cy="604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6" descr="🇸🇬 Flag: Singapore Emoji: Meaning &amp; Usage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4480" y="4029456"/>
            <a:ext cx="622009" cy="622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37719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Пять практических рекомендаций для РУз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4846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8229600" cy="621792"/>
          </a:xfrm>
          <a:prstGeom prst="rect">
            <a:avLst/>
          </a:prstGeom>
          <a:solidFill>
            <a:srgbClr val="FAF6EE"/>
          </a:solidFill>
          <a:ln w="6350">
            <a:solidFill>
              <a:srgbClr val="D6CFC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325880"/>
            <a:ext cx="54864" cy="621792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325880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188720" y="138074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Расширение интернет-проникновения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188720" y="165506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ru-RU" sz="1000" dirty="0"/>
              <a:t>Устранить региональный разрыв и расширить </a:t>
            </a:r>
            <a:r>
              <a:rPr lang="ru-RU" sz="1000" dirty="0" smtClean="0"/>
              <a:t>5G</a:t>
            </a:r>
            <a:r>
              <a:rPr lang="ru-RU" sz="1000" dirty="0"/>
              <a:t> </a:t>
            </a:r>
            <a:r>
              <a:rPr lang="ru-RU" sz="1000" dirty="0" smtClean="0"/>
              <a:t>сеть</a:t>
            </a:r>
            <a:endParaRPr lang="en-US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57200" y="2002536"/>
            <a:ext cx="8229600" cy="621792"/>
          </a:xfrm>
          <a:prstGeom prst="rect">
            <a:avLst/>
          </a:prstGeom>
          <a:solidFill>
            <a:srgbClr val="FAF6EE"/>
          </a:solidFill>
          <a:ln w="6350">
            <a:solidFill>
              <a:srgbClr val="D6CFC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002536"/>
            <a:ext cx="54864" cy="621792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002536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188720" y="205740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ru-RU" sz="1250" b="1" dirty="0" err="1" smtClean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Цифровизация</a:t>
            </a:r>
            <a:r>
              <a:rPr lang="ru-RU" sz="1250" b="1" dirty="0" smtClean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частного сектора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188720" y="233172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Расширить IT Park на текстиль, АПК, </a:t>
            </a:r>
            <a:r>
              <a:rPr lang="en-US" sz="1000" dirty="0" err="1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горнодобычу</a:t>
            </a:r>
            <a:r>
              <a:rPr lang="en-US" sz="10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000" dirty="0" smtClean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</a:t>
            </a:r>
            <a:r>
              <a:rPr lang="en-US" sz="10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не только экспортный IT-сектор</a:t>
            </a:r>
            <a:endParaRPr lang="en-US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57200" y="2679192"/>
            <a:ext cx="8229600" cy="621792"/>
          </a:xfrm>
          <a:prstGeom prst="rect">
            <a:avLst/>
          </a:prstGeom>
          <a:solidFill>
            <a:srgbClr val="FAF6EE"/>
          </a:solidFill>
          <a:ln w="6350">
            <a:solidFill>
              <a:srgbClr val="D6CFC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679192"/>
            <a:ext cx="54864" cy="621792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2679192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1188720" y="273405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ru-RU" sz="1250" b="1" dirty="0" smtClean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Интеграция </a:t>
            </a:r>
            <a:r>
              <a:rPr lang="en-US" sz="1250" b="1" dirty="0" err="1" smtClean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MyID</a:t>
            </a:r>
            <a:r>
              <a:rPr lang="ru-RU" sz="1250" b="1" dirty="0" smtClean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и цифровые платежи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188720" y="3008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Интеграция MyID с межведомственными базами по модели Эстонии (X-Road) + цифровые платежи</a:t>
            </a:r>
            <a:endParaRPr lang="en-US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57200" y="3355848"/>
            <a:ext cx="8229600" cy="621792"/>
          </a:xfrm>
          <a:prstGeom prst="rect">
            <a:avLst/>
          </a:prstGeom>
          <a:solidFill>
            <a:srgbClr val="FAF6EE"/>
          </a:solidFill>
          <a:ln w="6350">
            <a:solidFill>
              <a:srgbClr val="D6CFC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355848"/>
            <a:ext cx="54864" cy="621792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3355848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1188720" y="3410712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Учёт типа кризиса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188720" y="3685032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ru-RU" sz="1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Цифровизация</a:t>
            </a:r>
            <a:r>
              <a:rPr lang="ru-RU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помогает при </a:t>
            </a:r>
            <a:r>
              <a:rPr lang="ru-RU" sz="10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пандемиях, </a:t>
            </a:r>
            <a:r>
              <a:rPr lang="ru-RU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но не заменяет политику </a:t>
            </a:r>
            <a:r>
              <a:rPr lang="ru-RU" sz="1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энергобезопасности</a:t>
            </a:r>
            <a:endParaRPr lang="en-US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457200" y="4032504"/>
            <a:ext cx="8229600" cy="621792"/>
          </a:xfrm>
          <a:prstGeom prst="rect">
            <a:avLst/>
          </a:prstGeom>
          <a:solidFill>
            <a:srgbClr val="FAF6EE"/>
          </a:solidFill>
          <a:ln w="6350">
            <a:solidFill>
              <a:srgbClr val="D6CFC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4032504"/>
            <a:ext cx="54864" cy="621792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4032504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1188720" y="408736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Мониторинг и переоценка модели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1188720" y="436168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ru-RU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Регулярная переоценка модели в рамках Стратегии «Цифровой Узбекистан </a:t>
            </a:r>
            <a:r>
              <a:rPr lang="en-US" sz="10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</a:t>
            </a:r>
            <a:r>
              <a:rPr lang="ru-RU" sz="10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2030»</a:t>
            </a:r>
            <a:endParaRPr lang="en-US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2" name="图片 1"/>
          <p:cNvPicPr/>
          <p:nvPr/>
        </p:nvPicPr>
        <p:blipFill>
          <a:blip r:embed="rId3"/>
          <a:stretch>
            <a:fillRect/>
          </a:stretch>
        </p:blipFill>
        <p:spPr>
          <a:xfrm>
            <a:off x="8448675" y="292608"/>
            <a:ext cx="476250" cy="381762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371600" cy="18288"/>
          </a:xfrm>
          <a:prstGeom prst="rect">
            <a:avLst/>
          </a:prstGeom>
          <a:solidFill>
            <a:srgbClr val="A88B4A"/>
          </a:solidFill>
          <a:ln w="12700">
            <a:solidFill>
              <a:srgbClr val="A88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65760"/>
            <a:ext cx="18288" cy="914400"/>
          </a:xfrm>
          <a:prstGeom prst="rect">
            <a:avLst/>
          </a:prstGeom>
          <a:solidFill>
            <a:srgbClr val="A88B4A"/>
          </a:solidFill>
          <a:ln w="12700">
            <a:solidFill>
              <a:srgbClr val="A88B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06640" y="4741164"/>
            <a:ext cx="1371600" cy="18288"/>
          </a:xfrm>
          <a:prstGeom prst="rect">
            <a:avLst/>
          </a:prstGeom>
          <a:solidFill>
            <a:srgbClr val="A88B4A"/>
          </a:solidFill>
          <a:ln w="12700">
            <a:solidFill>
              <a:srgbClr val="A88B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59952" y="3840480"/>
            <a:ext cx="18288" cy="914400"/>
          </a:xfrm>
          <a:prstGeom prst="rect">
            <a:avLst/>
          </a:prstGeom>
          <a:solidFill>
            <a:srgbClr val="A88B4A"/>
          </a:solidFill>
          <a:ln w="12700">
            <a:solidFill>
              <a:srgbClr val="A88B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17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i="1" dirty="0">
                <a:solidFill>
                  <a:srgbClr val="C9A9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Благодарю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457200" y="22402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i="1" dirty="0">
                <a:solidFill>
                  <a:srgbClr val="F5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 внимание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57200" y="3246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977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4251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9293</TotalTime>
  <Words>1310</Words>
  <Application>Microsoft Office PowerPoint</Application>
  <PresentationFormat>Экран (16:9)</PresentationFormat>
  <Paragraphs>210</Paragraphs>
  <Slides>15</Slides>
  <Notes>15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2" baseType="lpstr">
      <vt:lpstr>-apple-system</vt:lpstr>
      <vt:lpstr>Arial</vt:lpstr>
      <vt:lpstr>Calibri</vt:lpstr>
      <vt:lpstr>Cambria</vt:lpstr>
      <vt:lpstr>Cambria Math</vt:lpstr>
      <vt:lpstr>Courier New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Защита ВКР - Цифровизация экономики</dc:title>
  <dc:subject>PptxGenJS Presentation</dc:subject>
  <dc:creator>Уктамов Мухаммаджон Уткирович</dc:creator>
  <cp:lastModifiedBy>Muhammadjon</cp:lastModifiedBy>
  <cp:revision>56</cp:revision>
  <dcterms:created xsi:type="dcterms:W3CDTF">2026-06-05T22:06:12Z</dcterms:created>
  <dcterms:modified xsi:type="dcterms:W3CDTF">2026-06-24T14:58:01Z</dcterms:modified>
</cp:coreProperties>
</file>