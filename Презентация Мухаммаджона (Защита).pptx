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33"/>
    <a:srgbClr val="660033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19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7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D2E46"/>
                </a:solidFill>
                <a:latin typeface="Cambria"/>
              </a:defRPr>
            </a:pP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Динамика ВВП в </a:t>
            </a:r>
            <a:r>
              <a:rPr lang="ru-RU" sz="1200" b="0" i="0" u="none" strike="noStrike" dirty="0" smtClean="0">
                <a:solidFill>
                  <a:srgbClr val="6D2E46"/>
                </a:solidFill>
                <a:latin typeface="Cambria"/>
              </a:rPr>
              <a:t>2020 </a:t>
            </a:r>
            <a:r>
              <a:rPr lang="ru-RU" sz="1200" b="0" i="0" u="none" strike="noStrike" dirty="0">
                <a:solidFill>
                  <a:srgbClr val="6D2E46"/>
                </a:solidFill>
                <a:latin typeface="Cambria"/>
              </a:rPr>
              <a:t>г., %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Падение ВВП в 2020, %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6D2E4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Эстония</c:v>
                </c:pt>
                <c:pt idx="1">
                  <c:v>Корея</c:v>
                </c:pt>
                <c:pt idx="2">
                  <c:v>Сингапур</c:v>
                </c:pt>
                <c:pt idx="3">
                  <c:v>Польша</c:v>
                </c:pt>
                <c:pt idx="4">
                  <c:v>ЕС-27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</c:v>
                </c:pt>
                <c:pt idx="1">
                  <c:v>-0.7</c:v>
                </c:pt>
                <c:pt idx="2">
                  <c:v>-3.9</c:v>
                </c:pt>
                <c:pt idx="3">
                  <c:v>-2</c:v>
                </c:pt>
                <c:pt idx="4">
                  <c:v>-6.1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4D-41C9-A739-491EF52249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D2D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CFC4"/>
              </a:solidFill>
              <a:prstDash val="dash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1">
        <a:lumMod val="20000"/>
        <a:lumOff val="80000"/>
      </a:scheme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914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chemeClr val="accent1"/>
            </a:gs>
            <a:gs pos="0">
              <a:scrgbClr r="0" g="0" b="0"/>
            </a:gs>
            <a:gs pos="0">
              <a:scrgbClr r="0" g="0" b="0"/>
            </a:gs>
            <a:gs pos="0">
              <a:schemeClr val="accent1"/>
            </a:gs>
            <a:gs pos="0">
              <a:scrgbClr r="0" g="0" b="0"/>
            </a:gs>
            <a:gs pos="100000">
              <a:schemeClr val="accent1"/>
            </a:gs>
            <a:gs pos="100000">
              <a:srgbClr val="DFE7F5"/>
            </a:gs>
            <a:gs pos="100000">
              <a:srgbClr val="DFE7F5"/>
            </a:gs>
            <a:gs pos="0">
              <a:scrgbClr r="0" g="0" b="0"/>
            </a:gs>
            <a:gs pos="0">
              <a:schemeClr val="accent1">
                <a:lumMod val="30000"/>
                <a:lumOff val="70000"/>
              </a:schemeClr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4741164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84048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МИНИСТЕРСТВО ИНОСТРАННЫХ ДЕЛ РЕСПУБЛИКИ УЗБЕКИСТАН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Университет мировой экономики и дипломатии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1463040" cy="0"/>
          </a:xfrm>
          <a:prstGeom prst="line">
            <a:avLst/>
          </a:prstGeom>
          <a:noFill/>
          <a:ln w="19050">
            <a:solidFill>
              <a:srgbClr val="A88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Цифровизация экономики и устойчивость стран к глобальным кризисам: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международный опыт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kern="0" spc="40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Ташкент  •  2026</a:t>
            </a:r>
            <a:endParaRPr lang="en-US" sz="1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512881" y="3378815"/>
            <a:ext cx="40254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Выполнил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Уктамов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Мухаммаджон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Уткирович</a:t>
            </a:r>
            <a:endParaRPr lang="ru-RU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Научный руководитель</a:t>
            </a:r>
            <a:r>
              <a:rPr lang="en-US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доцент </a:t>
            </a:r>
            <a:r>
              <a:rPr lang="ru-RU" sz="1200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Умарова</a:t>
            </a:r>
            <a:r>
              <a:rPr lang="ru-RU" sz="12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Ш. Г.</a:t>
            </a:r>
            <a:endParaRPr lang="en-US" sz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>
          <a:gsLst>
            <a:gs pos="100000">
              <a:schemeClr val="accent1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70657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Актуальность исследования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Мировой финансовый кризис 2008-2009 годов,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экзогенный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шок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года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геополитический </a:t>
            </a:r>
            <a:r>
              <a:rPr lang="ru-RU" sz="12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 </a:t>
            </a:r>
            <a:r>
              <a:rPr lang="ru-RU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года показали: устойчивость экономики зависит не только от макроэкономической политики, но и от структурных факторов.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88817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становится одним из факторов, способных усиливать устойчивость национальной экономики, особенно в условиях </a:t>
            </a:r>
            <a:r>
              <a:rPr lang="en-US" sz="12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четвёртой промышленной революции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83864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Узбекистана 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особенно актуален: реализуется Стратегия 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«Цифровой </a:t>
            </a:r>
            <a:r>
              <a:rPr lang="en-US" sz="1200" b="1" i="1" dirty="0" err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i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200" b="1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2030»</a:t>
            </a: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важно понимать, какие направления цифровизации действительно повышают устойчивость.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528697"/>
            <a:ext cx="3200400" cy="960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0" y="1528697"/>
            <a:ext cx="54864" cy="9601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574417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кв.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178040" y="1620137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 восстановление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стран ОЭСР после</a:t>
            </a:r>
            <a:endParaRPr lang="en-US" sz="950" dirty="0"/>
          </a:p>
          <a:p>
            <a:pPr marL="0" indent="0">
              <a:buNone/>
            </a:pPr>
            <a:r>
              <a:rPr lang="ru-RU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r>
              <a:rPr lang="ru-RU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ирового финансового кризиса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3160901"/>
            <a:ext cx="3200400" cy="960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3160901"/>
            <a:ext cx="54864" cy="96012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206621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кв.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7178040" y="3252341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стран</a:t>
            </a:r>
            <a:endParaRPr lang="en-US" sz="950" dirty="0"/>
          </a:p>
          <a:p>
            <a:r>
              <a:rPr lang="en-US" sz="95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мирового </a:t>
            </a:r>
            <a:r>
              <a:rPr lang="ru-RU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финансового кризиса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pic>
        <p:nvPicPr>
          <p:cNvPr id="2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Объект, предмет и цель исследования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79" y="1966623"/>
            <a:ext cx="2282025" cy="968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dirty="0"/>
              <a:t>национальные экономики и их устойчивость к глобальным кризисам различной природы в условиях цифровой трансформации.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1920240"/>
            <a:ext cx="2423160" cy="889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100" dirty="0"/>
              <a:t>механизмы и каналы воздействия цифровых технологий на макроэкономическую устойчивость национальных экономик в условиях глобальных кризисов различной природы.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2743200" cy="17830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463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400800" y="1932167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Выявить и эмпирически обосновать каналы влияния цифровизации на устойчивость, разработать рекомендации для Республики Узбекистан.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5720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исследования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457200" y="373989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720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Раскрыть теоретические основы цифровизации и каналы воздействия на устойчивость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663440" y="373989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663440" y="3739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010912" y="37033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Проанализировать подходы к категории устойчивости и её ключевые компоненты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57200" y="410565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5720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04672" y="4069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модели Эстонии, Кореи, Сингапура и Польши, их реакцию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</a:t>
            </a:r>
            <a:r>
              <a:rPr lang="en-US" sz="10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 различной природы 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63440" y="410565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663440" y="4105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5010912" y="40690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Построить эконометрическую модель на панельных данных и интерпретировать результаты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57200" y="447141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5720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04672" y="4434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состояние цифровой трансформации Узбекистана в рамках Стратегии 2030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4663440" y="4471416"/>
            <a:ext cx="256032" cy="256032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663440" y="44714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010912" y="4434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практические рекомендации по укреплению цифровой устойчивости РУз</a:t>
            </a:r>
            <a:endParaRPr lang="en-US" sz="1000" dirty="0"/>
          </a:p>
        </p:txBody>
      </p:sp>
      <p:pic>
        <p:nvPicPr>
          <p:cNvPr id="40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9282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Гипотезы и методология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206240" cy="114300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54864" cy="1143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830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 </a:t>
            </a: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положительно связана с ВВП на душу населения во всех группах стран.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206240" cy="128016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926080"/>
            <a:ext cx="54864" cy="128016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175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 </a:t>
            </a: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Антикризисный буферный эффект 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цифровизации проявляется только при достижении высокого уровня цифровой зрелости (порог).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 И ДАННЫЕ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773936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Панельная регрессия с фиксированными эффектами (FE), HC1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157984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075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0756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RStudio, пакет plm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37760" y="2542032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4597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2459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стран, 707 наблюдений, 2010–2024 гг.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926080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8437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843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Развитые (22) • Переходные (16) • Развивающиеся (11)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3310128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227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ОЭСР, МВФ, Всемирный банк, ЕК, ООН, WDI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694176"/>
            <a:ext cx="91440" cy="91440"/>
          </a:xfrm>
          <a:prstGeom prst="ellipse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7220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EGDI • NRI • DESI • интернет-проникновение</a:t>
            </a:r>
            <a:endParaRPr lang="en-US" sz="1000" dirty="0"/>
          </a:p>
        </p:txBody>
      </p:sp>
      <p:pic>
        <p:nvPicPr>
          <p:cNvPr id="33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  •  Теоретические основы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66344" y="51073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каналов влияния цифровизации на устойчивость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170992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Непрерывность гос. функций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идентификация, межведомственный обмен данными и онлайн-сервисы сохраняют работу институтов даже при ограничении физического взаимодействия.</a:t>
            </a:r>
            <a:endParaRPr lang="en-US" sz="900" i="1" dirty="0"/>
          </a:p>
        </p:txBody>
      </p:sp>
      <p:sp>
        <p:nvSpPr>
          <p:cNvPr id="12" name="Shape 9"/>
          <p:cNvSpPr/>
          <p:nvPr/>
        </p:nvSpPr>
        <p:spPr>
          <a:xfrm>
            <a:off x="219456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8833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170992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8600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Фискальная трансмиссия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230428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платежи и интегрированные данные ускоряют доставку господдержки конечным получателям, сокращая лаги и издержки.</a:t>
            </a:r>
            <a:endParaRPr lang="en-US" sz="900" i="1" dirty="0"/>
          </a:p>
        </p:txBody>
      </p:sp>
      <p:sp>
        <p:nvSpPr>
          <p:cNvPr id="17" name="Shape 13"/>
          <p:cNvSpPr/>
          <p:nvPr/>
        </p:nvSpPr>
        <p:spPr>
          <a:xfrm>
            <a:off x="393192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2569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144" y="170992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02336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Адаптация частного сектора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04164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Фирмы с высоким уровнем ИТ-внедрения показали меньшее падение занятости и выручки в период пандемии.</a:t>
            </a:r>
            <a:endParaRPr lang="en-US" sz="900" i="1" dirty="0"/>
          </a:p>
        </p:txBody>
      </p:sp>
      <p:sp>
        <p:nvSpPr>
          <p:cNvPr id="22" name="Shape 17"/>
          <p:cNvSpPr/>
          <p:nvPr/>
        </p:nvSpPr>
        <p:spPr>
          <a:xfrm>
            <a:off x="566928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16305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170992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6072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Структура спроса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77900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Онлайн-торговля и цифровые услуги частично сохраняют потребление при ограничениях мобильности.</a:t>
            </a:r>
            <a:endParaRPr lang="en-US" sz="900" i="1" dirty="0"/>
          </a:p>
        </p:txBody>
      </p:sp>
      <p:sp>
        <p:nvSpPr>
          <p:cNvPr id="27" name="Shape 21"/>
          <p:cNvSpPr/>
          <p:nvPr/>
        </p:nvSpPr>
        <p:spPr>
          <a:xfrm>
            <a:off x="7406640" y="1325880"/>
            <a:ext cx="1627632" cy="3246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900416" y="1554480"/>
            <a:ext cx="640080" cy="64008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5864" y="1709928"/>
            <a:ext cx="329184" cy="32918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2331720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Устойчивость ИКТ-сектора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7516368" y="2978426"/>
            <a:ext cx="14081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2020 г. ИКТ-сектор ОЭСР рос на 6,6%, к 2021 г. шок пандемии в нём практически не прослеживался.</a:t>
            </a:r>
            <a:endParaRPr lang="en-US" sz="900" i="1" dirty="0"/>
          </a:p>
        </p:txBody>
      </p:sp>
      <p:sp>
        <p:nvSpPr>
          <p:cNvPr id="32" name="Text 25"/>
          <p:cNvSpPr/>
          <p:nvPr/>
        </p:nvSpPr>
        <p:spPr>
          <a:xfrm>
            <a:off x="457200" y="46360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pic>
        <p:nvPicPr>
          <p:cNvPr id="33" name="图片 1"/>
          <p:cNvPicPr/>
          <p:nvPr/>
        </p:nvPicPr>
        <p:blipFill>
          <a:blip r:embed="rId8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II.1  •  Международный опыт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модели цифровой трансформации (2024)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СТРАНА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МОДЕЛЬ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EGDI 2024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NRI 2024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IMD WDCR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OECD DGI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Эстония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Малое цифровое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государство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0,9727  •  №2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67,85  •  №18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Топ-10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Респ. Корея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0,9679  •  №4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72,5  •  №5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8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№1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Сингапур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Глобальный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эталон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0,9691  •  №3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79,4  •  №2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A88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№1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Топ-5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6D2E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Польша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Догоняющая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(CEE)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0,8677  •  №30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59,4  •  №32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№41–43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539762" y="4600099"/>
            <a:ext cx="783866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b="1" dirty="0">
                <a:solidFill>
                  <a:srgbClr val="6600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 Польша:</a:t>
            </a:r>
            <a:r>
              <a:rPr lang="ru-RU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Программа «Цифровая Польша» 2014–2020 </a:t>
            </a:r>
            <a:r>
              <a:rPr lang="en-US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2,17 млрд евро.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mObywatel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10+ млн пользователей, 40+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госуслуг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612648" y="4022437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 smtClean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🇪🇪 </a:t>
            </a:r>
            <a:r>
              <a:rPr lang="en-US" sz="1000" b="1" dirty="0" err="1" smtClean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Эстония</a:t>
            </a:r>
            <a:r>
              <a:rPr lang="en-US" sz="1000" b="1" dirty="0" smtClean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X-Road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2,2 млрд транзакций/год, объединяет 450+ организаций. e-Residency: 128 тыс. чел. из 185 стран.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12648" y="4223605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🇰🇷 Корея: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New Deal (2020)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160 трлн вон, 5,9% ВВП. Концепция DNA: Data, Network, AI.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612648" y="4424773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D2E4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🇸🇬 Сингапур: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Доля цифровой экономики в ВВП выросла с 13,3% (2017) до 17,7% (2023). Smart Nation 2.0: AI for Science.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5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II.2  •  Реакция на кризисы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02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Падение и восстановление ВВП в </a:t>
            </a:r>
            <a:r>
              <a:rPr lang="ru-RU" sz="260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2020 и 2022 гг.</a:t>
            </a:r>
            <a:endParaRPr lang="en-US" sz="2600" dirty="0">
              <a:solidFill>
                <a:srgbClr val="FF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353803757"/>
              </p:ext>
            </p:extLst>
          </p:nvPr>
        </p:nvGraphicFramePr>
        <p:xfrm>
          <a:off x="457200" y="164592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0965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03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1755648"/>
            <a:ext cx="109728" cy="10972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16916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ru-RU" sz="1100" b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кзогенный шок </a:t>
            </a:r>
            <a:r>
              <a:rPr lang="en-US" sz="1100" b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(COVID-19) </a:t>
            </a: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19476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лидеры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ru-RU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Эстония, Республика Корея, Сингапур и 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Польша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показали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более мягкое падение благодаря онлайн-госуслугам и адресной поддержке.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03520" y="2788920"/>
            <a:ext cx="109728" cy="10972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7249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Геополитический кризис </a:t>
            </a:r>
            <a:r>
              <a:rPr lang="en-US" sz="1100" b="1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0" y="2980944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Энергетические и логистические шоки не компенсируются цифровизацией. Эстония и Польша столкнулись с высокой инфляцией.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0" y="3822192"/>
            <a:ext cx="109728" cy="10972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0" y="3758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4014216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цифровизации зависит от типа шока: эффективен против шоков мобильности, но не против структурных торговых разрывов.</a:t>
            </a:r>
            <a:endParaRPr lang="en-US" sz="1000" dirty="0"/>
          </a:p>
        </p:txBody>
      </p:sp>
      <p:pic>
        <p:nvPicPr>
          <p:cNvPr id="19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3"/>
          <p:cNvSpPr/>
          <p:nvPr/>
        </p:nvSpPr>
        <p:spPr>
          <a:xfrm>
            <a:off x="457200" y="2548632"/>
            <a:ext cx="4023360" cy="2440548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II.3  •  Эконометрический анализ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Спецификация модели на панельных данных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96012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СПЕЦИФИКАЦИЯ FE-МОДЕЛИ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685800" y="1737360"/>
                <a:ext cx="7641236" cy="3837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𝐺𝐷𝑃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_</m:t>
                              </m:r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𝑝𝑐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𝐼𝑛𝑡𝑒𝑟𝑛𝑒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𝑖𝑡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𝐺𝐹𝐶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𝐼𝑛𝑓𝑙𝑎𝑡𝑖𝑜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1100" i="1">
                          <a:latin typeface="Cambria Math" panose="02040503050406030204" pitchFamily="18" charset="0"/>
                        </a:rPr>
                        <m:t>𝑈𝑛𝑒𝑚𝑝𝑙𝑜𝑦𝑚𝑒𝑛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𝐻𝑖𝑔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𝑇𝑒𝑐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𝐸𝑥𝑝𝑜𝑟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𝐶𝑂𝑉𝐼𝐷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𝐶𝑟𝑖𝑠𝑖𝑠</m:t>
                          </m:r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𝐺𝑒𝑜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d>
                        <m:d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𝑙𝑛</m:t>
                          </m:r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𝐼𝑛𝑡𝑒𝑟𝑛𝑒</m:t>
                              </m:r>
                              <m:sSub>
                                <m:sSub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ru-RU" sz="1100" i="1">
                                      <a:latin typeface="Cambria Math" panose="02040503050406030204" pitchFamily="18" charset="0"/>
                                    </a:rPr>
                                    <m:t>𝑖𝑡</m:t>
                                  </m:r>
                                </m:sub>
                              </m:sSub>
                            </m:e>
                          </m:d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100" i="1">
                                  <a:latin typeface="Cambria Math" panose="02040503050406030204" pitchFamily="18" charset="0"/>
                                </a:rPr>
                                <m:t>𝐶𝑂𝑉𝐼𝐷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ru-RU" sz="1100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𝐼𝑛𝑡𝑒𝑟𝑛𝑒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) ×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𝐶𝑟𝑖𝑠𝑖𝑠</m:t>
                      </m:r>
                      <m:r>
                        <a:rPr lang="ru-RU" sz="1100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1100" i="1">
                          <a:latin typeface="Cambria Math" panose="02040503050406030204" pitchFamily="18" charset="0"/>
                        </a:rPr>
                        <m:t>𝐺𝑒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  <m:sub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ru-RU" sz="1100" i="1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u-RU" sz="1100" i="1">
                              <a:latin typeface="Cambria Math" panose="02040503050406030204" pitchFamily="18" charset="0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737360"/>
                <a:ext cx="7641236" cy="383748"/>
              </a:xfrm>
              <a:prstGeom prst="rect">
                <a:avLst/>
              </a:prstGeom>
              <a:blipFill>
                <a:blip r:embed="rId3"/>
                <a:stretch>
                  <a:fillRect b="-4444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64008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b="1" kern="0" spc="400" dirty="0" smtClean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 МОДЕЛИ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Зависимая переменная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2926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/>
              <a:t>ln(</a:t>
            </a:r>
            <a:r>
              <a:rPr lang="az-Cyrl-AZ" sz="1000" b="1" dirty="0"/>
              <a:t>ВВП на душу населения)</a:t>
            </a:r>
            <a:endParaRPr lang="en-US" sz="1000" b="1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регрессор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3172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/>
              <a:t>ln(</a:t>
            </a:r>
            <a:r>
              <a:rPr lang="az-Cyrl-AZ" sz="1000" b="1" dirty="0"/>
              <a:t>интернет-проникновение)</a:t>
            </a:r>
            <a:endParaRPr lang="en-US" sz="1000" b="1" dirty="0"/>
          </a:p>
        </p:txBody>
      </p:sp>
      <p:sp>
        <p:nvSpPr>
          <p:cNvPr id="18" name="Text 16"/>
          <p:cNvSpPr/>
          <p:nvPr/>
        </p:nvSpPr>
        <p:spPr>
          <a:xfrm>
            <a:off x="640080" y="3639312"/>
            <a:ext cx="32842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b="1" dirty="0"/>
              <a:t>GFCF </a:t>
            </a:r>
            <a:r>
              <a:rPr lang="ru-RU" sz="1000" b="1" dirty="0" smtClean="0"/>
              <a:t>- </a:t>
            </a:r>
            <a:r>
              <a:rPr lang="ru-RU" sz="1000" b="1" dirty="0"/>
              <a:t>валовое накопление основного капитала</a:t>
            </a:r>
          </a:p>
        </p:txBody>
      </p:sp>
      <p:sp>
        <p:nvSpPr>
          <p:cNvPr id="20" name="Text 18"/>
          <p:cNvSpPr/>
          <p:nvPr/>
        </p:nvSpPr>
        <p:spPr>
          <a:xfrm>
            <a:off x="640080" y="3867912"/>
            <a:ext cx="29794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z-Cyrl-AZ" sz="1000" b="1" dirty="0"/>
              <a:t>Инфляция </a:t>
            </a:r>
            <a:r>
              <a:rPr lang="az-Cyrl-AZ" sz="1000" b="1" dirty="0" smtClean="0"/>
              <a:t>- </a:t>
            </a:r>
            <a:r>
              <a:rPr lang="az-Cyrl-AZ" sz="1000" b="1" dirty="0"/>
              <a:t>индекс потребительских цен</a:t>
            </a:r>
          </a:p>
        </p:txBody>
      </p:sp>
      <p:sp>
        <p:nvSpPr>
          <p:cNvPr id="22" name="Text 20"/>
          <p:cNvSpPr/>
          <p:nvPr/>
        </p:nvSpPr>
        <p:spPr>
          <a:xfrm>
            <a:off x="640080" y="4000500"/>
            <a:ext cx="2827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az-Cyrl-AZ" sz="1000" b="1" dirty="0"/>
              <a:t>Безработица </a:t>
            </a:r>
            <a:r>
              <a:rPr lang="az-Cyrl-AZ" sz="1000" b="1" dirty="0" smtClean="0"/>
              <a:t>- </a:t>
            </a:r>
            <a:r>
              <a:rPr lang="az-Cyrl-AZ" sz="1000" b="1" dirty="0"/>
              <a:t>доля безработного населения</a:t>
            </a:r>
          </a:p>
        </p:txBody>
      </p:sp>
      <p:sp>
        <p:nvSpPr>
          <p:cNvPr id="24" name="Text 22"/>
          <p:cNvSpPr/>
          <p:nvPr/>
        </p:nvSpPr>
        <p:spPr>
          <a:xfrm>
            <a:off x="640080" y="4138219"/>
            <a:ext cx="32842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 err="1"/>
              <a:t>HighTechExport</a:t>
            </a:r>
            <a:r>
              <a:rPr lang="en-US" sz="1000" b="1" dirty="0"/>
              <a:t> </a:t>
            </a:r>
            <a:r>
              <a:rPr lang="ru-RU" sz="1000" b="1" dirty="0" smtClean="0"/>
              <a:t>-</a:t>
            </a:r>
            <a:r>
              <a:rPr lang="en-US" sz="1000" b="1" dirty="0" smtClean="0"/>
              <a:t> </a:t>
            </a:r>
            <a:r>
              <a:rPr lang="az-Cyrl-AZ" sz="1000" b="1" dirty="0"/>
              <a:t>доля высокотехнологичного экспорта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2548632"/>
            <a:ext cx="4023360" cy="2440548"/>
          </a:xfrm>
          <a:prstGeom prst="rect">
            <a:avLst/>
          </a:prstGeom>
          <a:solidFill>
            <a:srgbClr val="FFFFFF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9260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Чоу (структурная гетерог.)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5,34; p &lt; 0,001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1729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Хаусман (развитые)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49440" y="31729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4,58; p = 0,87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4198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Хаусман (переходные)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49440" y="34198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1,36; p = 0,998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6667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Бройш-Паган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49440" y="36667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Гетероскедастичность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9136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Вулдридж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4944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Автокорреляция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160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4160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+ кластер. HC1 ошибки</a:t>
            </a:r>
            <a:endParaRPr lang="en-US" sz="1000" dirty="0"/>
          </a:p>
        </p:txBody>
      </p:sp>
      <p:pic>
        <p:nvPicPr>
          <p:cNvPr id="40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40080" y="4504767"/>
            <a:ext cx="1413849" cy="3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COVID  </a:t>
            </a:r>
            <a:r>
              <a:rPr kumimoji="0" lang="ru-RU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-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</a:rPr>
              <a:t>экзогенный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</a:rPr>
              <a:t>шок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40080" y="4676532"/>
            <a:ext cx="2090316" cy="39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9025" rIns="0" bIns="119025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Crisis_Geo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lang="ru-RU" altLang="en-US" sz="1000" b="1" dirty="0">
                <a:cs typeface="Courier New" panose="02070309020205020404" pitchFamily="49" charset="0"/>
              </a:rPr>
              <a:t>-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геополитический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  <a:cs typeface="Courier New" panose="02070309020205020404" pitchFamily="49" charset="0"/>
              </a:rPr>
              <a:t> </a:t>
            </a:r>
            <a:r>
              <a:rPr kumimoji="0" lang="en-US" altLang="en-US" sz="1000" b="1" i="0" u="none" strike="noStrike" cap="none" normalizeH="0" baseline="0" dirty="0" err="1" smtClean="0">
                <a:ln>
                  <a:noFill/>
                </a:ln>
                <a:effectLst/>
                <a:cs typeface="Courier New" panose="02070309020205020404" pitchFamily="49" charset="0"/>
              </a:rPr>
              <a:t>кризис</a:t>
            </a:r>
            <a:r>
              <a:rPr kumimoji="0" lang="en-US" altLang="en-US" sz="1000" b="1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</a:p>
        </p:txBody>
      </p:sp>
      <p:sp>
        <p:nvSpPr>
          <p:cNvPr id="41" name="Text 15"/>
          <p:cNvSpPr/>
          <p:nvPr/>
        </p:nvSpPr>
        <p:spPr>
          <a:xfrm>
            <a:off x="640080" y="341985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Контрольные переменные</a:t>
            </a:r>
            <a:r>
              <a:rPr lang="en-US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</p:txBody>
      </p:sp>
      <p:sp>
        <p:nvSpPr>
          <p:cNvPr id="42" name="Text 15"/>
          <p:cNvSpPr/>
          <p:nvPr/>
        </p:nvSpPr>
        <p:spPr>
          <a:xfrm>
            <a:off x="640080" y="4371975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Кризисные </a:t>
            </a:r>
            <a:r>
              <a:rPr lang="ru-RU" sz="1000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дамми</a:t>
            </a:r>
            <a:r>
              <a:rPr lang="en-US" sz="1000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II.3  •  Результаты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1880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коэффициенты FE-модели по группам стран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858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ПОДТВЕРЖДЕНА</a:t>
            </a: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100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статистически значимый фактор роста ВВП во всех 3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группах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РАЗВИТЫЕ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страны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33197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0,212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= 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0,049682</a:t>
            </a:r>
          </a:p>
        </p:txBody>
      </p:sp>
      <p:sp>
        <p:nvSpPr>
          <p:cNvPr id="14" name="Text 12"/>
          <p:cNvSpPr/>
          <p:nvPr/>
        </p:nvSpPr>
        <p:spPr>
          <a:xfrm>
            <a:off x="54864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ПЕРЕХОДНЫЕ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233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640072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0,309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ru-RU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sz="10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3,334e-08</a:t>
            </a:r>
          </a:p>
        </p:txBody>
      </p:sp>
      <p:sp>
        <p:nvSpPr>
          <p:cNvPr id="24" name="Text 22"/>
          <p:cNvSpPr/>
          <p:nvPr/>
        </p:nvSpPr>
        <p:spPr>
          <a:xfrm>
            <a:off x="333756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52044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148840"/>
            <a:ext cx="2715768" cy="24688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2240280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4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РАЗВИВАЮЩИЕСЯ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26480" y="3912669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</a:t>
            </a:r>
            <a:r>
              <a:rPr lang="en-US" sz="120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</a:t>
            </a:r>
            <a:r>
              <a:rPr lang="ru-RU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юдений</a:t>
            </a:r>
            <a:r>
              <a:rPr lang="en-US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</a:t>
            </a:r>
            <a:r>
              <a:rPr lang="en-US" sz="1200" i="1" dirty="0" err="1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r>
              <a:rPr lang="ru-RU" sz="120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633197"/>
            <a:ext cx="253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= 0,198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26480" y="3108960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ru-RU" sz="10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en-US" sz="1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7,370e-09</a:t>
            </a:r>
            <a:endParaRPr lang="en-US" sz="1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126480" y="3310128"/>
            <a:ext cx="2532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ln(internet) ➜ ln(GDPpc)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2194560" cy="0"/>
          </a:xfrm>
          <a:prstGeom prst="line">
            <a:avLst/>
          </a:prstGeom>
          <a:noFill/>
          <a:ln w="6350">
            <a:solidFill>
              <a:srgbClr val="D6CF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360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40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III.1  •  Узбекистан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Цифровая трансформация: достижения и асимметрия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93392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1993392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проникновение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32888" y="1371600"/>
            <a:ext cx="1993392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371600"/>
            <a:ext cx="1993392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463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24328" y="20299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24328" y="23774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08576" y="1371600"/>
            <a:ext cx="1993392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371600"/>
            <a:ext cx="1993392" cy="4572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8576" y="1463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№63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00016" y="20299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EGDI 2024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(0,7999)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0016" y="23774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84264" y="1371600"/>
            <a:ext cx="1993392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84264" y="1371600"/>
            <a:ext cx="1993392" cy="4572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84264" y="1463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2,4%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775704" y="2029968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ИКТ-услуги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ВДС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75704" y="2377440"/>
            <a:ext cx="1810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&lt;среднего ОЭСР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АСИММЕТРИЯ </a:t>
            </a:r>
            <a:r>
              <a:rPr lang="en-US" sz="1150" b="1" kern="0" spc="200" dirty="0" smtClean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</a:t>
            </a:r>
            <a:r>
              <a:rPr lang="ru-RU" sz="1150" b="1" kern="0" spc="200" dirty="0" smtClean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ИЗАЦИИ </a:t>
            </a:r>
            <a:r>
              <a:rPr lang="en-US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(е-</a:t>
            </a:r>
            <a:r>
              <a:rPr lang="en-US" sz="1150" i="1" dirty="0" err="1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правительство</a:t>
            </a:r>
            <a:r>
              <a:rPr lang="en-US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ru-RU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опережает</a:t>
            </a:r>
            <a:r>
              <a:rPr lang="en-US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i="1" dirty="0" err="1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</a:t>
            </a:r>
            <a:r>
              <a:rPr lang="ru-RU" sz="1150" i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</a:t>
            </a:r>
            <a:r>
              <a:rPr lang="en-US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бизнеса</a:t>
            </a:r>
            <a:r>
              <a:rPr lang="en-US" sz="1150" i="1" dirty="0" smtClean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" y="3429000"/>
            <a:ext cx="4023360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8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Достижения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" y="38221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MyID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цифровой идентификации
QR-транзакции: +119% в год (2020–2022)
Стратегия «Цифровой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Узбекистан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2030»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△  Отставание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46320" y="3822192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ИКТ в ВДС всего 2,4% (ниже ОЭСР)
Межведомственная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ранняя
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традиц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ионных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отраслей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слабая</a:t>
            </a:r>
            <a:endParaRPr lang="en-US" sz="1000" dirty="0"/>
          </a:p>
        </p:txBody>
      </p:sp>
      <p:pic>
        <p:nvPicPr>
          <p:cNvPr id="36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III.2  •  Адаптация опыта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взять у каждой страны для Узбекистана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🇪🇪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435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ЭСТОНИЯ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709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468880" y="13990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X-Road </a:t>
            </a:r>
            <a:r>
              <a:rPr lang="en-US" sz="95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открытая платформа межведомственного обмена данными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68880" y="16276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канала фискальной трансмиссии, снижение административных издержек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68880" y="185623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перенос невозможен: 1,3 vs 36 млн чел.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6771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🇰🇷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Р. КОРЕЯ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СРЕДНЯЯ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468880" y="22494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цифровых проектов к антикризисным бюджетным программам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468880" y="2478024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институционального дизайна, а не масштаб расходов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468880" y="270662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повторить </a:t>
            </a:r>
            <a:r>
              <a:rPr lang="en-US" sz="950" i="1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ru-RU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r>
              <a:rPr lang="en-US" sz="950" i="1" dirty="0" smtClean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трлн вон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1181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🇵🇱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97280" y="3136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ПОЛЬША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4107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68880" y="309981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цифровизация малого и среднего бизнеса (mObywatel, FERC)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468880" y="332841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Преодоление асимметрии: гос. сервисы ↔ частный сектор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468880" y="355701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Финансирование через АБР, ЕБРР, ВБ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877056"/>
            <a:ext cx="8229600" cy="77724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6849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🇸🇬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39867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СИНГАПУР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7280" y="42611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468880" y="39502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ВЗЯТЬ: </a:t>
            </a:r>
            <a:r>
              <a:rPr lang="en-US" sz="9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SingPass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цифровая идентификация и адресная фискальная помощь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468880" y="4178808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ЗАЧЕМ: </a:t>
            </a: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Адаптация для крупных городов: Ташкент, Самарканд, Бухара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468880" y="440740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</a:t>
            </a: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Масштаб: 728 км² vs 448 000 км²</a:t>
            </a:r>
            <a:endParaRPr lang="en-US" sz="850" dirty="0"/>
          </a:p>
        </p:txBody>
      </p:sp>
      <p:pic>
        <p:nvPicPr>
          <p:cNvPr id="35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ГЛАВА III.3  •  Рекомендации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практических рекомендаций для РУз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258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88720" y="138074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 интернет-проникновения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88720" y="16550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Довести с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</a:t>
            </a:r>
            <a:r>
              <a:rPr lang="ru-RU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%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до 95% 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прогнозный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USD ВВП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на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душу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населения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1,4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млрд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USD</a:t>
            </a:r>
            <a:r>
              <a:rPr lang="ru-RU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02536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0253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88720" y="20574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50" b="1" dirty="0" err="1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Цифровизация</a:t>
            </a:r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частного сектора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23317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Расширить IT Park на текстиль, АПК, </a:t>
            </a:r>
            <a:r>
              <a:rPr lang="en-US" sz="1000" dirty="0" err="1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горнодобычу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 smtClean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не только экспортный IT-сектор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79192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6791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188720" y="273405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</a:t>
            </a:r>
            <a:r>
              <a:rPr lang="en-US" sz="1250" b="1" dirty="0" err="1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MyID</a:t>
            </a:r>
            <a:r>
              <a:rPr lang="ru-RU" sz="1250" b="1" dirty="0" smtClean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и цифровые платежи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88720" y="3008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Интеграция MyID с межведомственными базами по модели Эстонии (X-Road) + цифровые платежи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55848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355848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188720" y="3410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Учёт типа кризиса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88720" y="36850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Цифровизация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помогает при </a:t>
            </a:r>
            <a:r>
              <a:rPr lang="ru-RU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пандемиях,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но не заменяет политику </a:t>
            </a:r>
            <a:r>
              <a:rPr lang="ru-RU" sz="1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энергобезопасности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4032504"/>
            <a:ext cx="8229600" cy="621792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32504"/>
            <a:ext cx="54864" cy="62179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03250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188720" y="40873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Мониторинг и переоценка модели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88720" y="4361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Регулярная переоценка модели в рамках Стратегии «Цифровой Узбекистан </a:t>
            </a:r>
            <a:r>
              <a:rPr lang="en-US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ru-RU" sz="1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2030»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результаты исследования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2336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3677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Теоретический результат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Систематизирована пятиканальная модель влияния цифровизации на устойчивость: гос. функции, фискальная трансмиссия, частный сектор, спрос, ИКТ-сектор.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50876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63677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Сравнительный результат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4632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Эстония, 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Республика </a:t>
            </a:r>
            <a:r>
              <a:rPr lang="en-US" sz="1000" dirty="0" err="1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Корея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Сингапур и Польша показали более мягкую реакцию на пандемию 2020 г., но не на </a:t>
            </a:r>
            <a:r>
              <a:rPr lang="en-US" sz="10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геополитический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кризис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г.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32841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182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Эмпирический результат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подтверждена: β = 0,212 (развитые), 0,309 (переходные), 0,198 (развивающиеся). H₂ </a:t>
            </a:r>
            <a:r>
              <a:rPr lang="en-US" sz="1000" dirty="0" smtClean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антикризисный буфер действует только в развитых странах (β_covid = 0,394; p = 0,003).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FAF6EE"/>
          </a:solidFill>
          <a:ln w="6350">
            <a:solidFill>
              <a:srgbClr val="D6CFC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846320" y="3200400"/>
            <a:ext cx="502920" cy="50292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328416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1821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Прикладной результат для Узбекистана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Цифровизация уже работает как фактор роста (β = 0,198), но пока не выполняет функцию антикризисного стабилизатора. Сформирована поэтапная программа до 2030 г. и далее.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8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ВЫВОД: 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цифровизации и устойчивости имеет пороговый </a:t>
            </a:r>
            <a:r>
              <a:rPr lang="en-US" sz="10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цифровые технологии становятся антикризисным стабилизатором лишь при достижении высокого уровня цифровой зрелости.</a:t>
            </a:r>
            <a:endParaRPr lang="en-US" sz="1000" dirty="0"/>
          </a:p>
        </p:txBody>
      </p:sp>
      <p:pic>
        <p:nvPicPr>
          <p:cNvPr id="29" name="图片 1"/>
          <p:cNvPicPr/>
          <p:nvPr/>
        </p:nvPicPr>
        <p:blipFill>
          <a:blip r:embed="rId7"/>
          <a:stretch>
            <a:fillRect/>
          </a:stretch>
        </p:blipFill>
        <p:spPr>
          <a:xfrm>
            <a:off x="8448675" y="292608"/>
            <a:ext cx="476250" cy="381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4741164"/>
            <a:ext cx="1371600" cy="18288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3840480"/>
            <a:ext cx="18288" cy="914400"/>
          </a:xfrm>
          <a:prstGeom prst="rect">
            <a:avLst/>
          </a:prstGeom>
          <a:solidFill>
            <a:srgbClr val="A88B4A"/>
          </a:solidFill>
          <a:ln w="12700">
            <a:solidFill>
              <a:srgbClr val="A88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i="1" dirty="0">
                <a:solidFill>
                  <a:srgbClr val="C9A9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Благодарю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5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 внимание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840480" y="3108960"/>
            <a:ext cx="1463040" cy="0"/>
          </a:xfrm>
          <a:prstGeom prst="line">
            <a:avLst/>
          </a:prstGeom>
          <a:noFill/>
          <a:ln w="19050">
            <a:solidFill>
              <a:srgbClr val="A88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6364</TotalTime>
  <Words>1454</Words>
  <Application>Microsoft Office PowerPoint</Application>
  <PresentationFormat>Экран (16:9)</PresentationFormat>
  <Paragraphs>274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Cambria Math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Защита ВКР - Цифровизация экономики</dc:title>
  <dc:subject>PptxGenJS Presentation</dc:subject>
  <dc:creator>Уктамов Мухаммаджон Уткирович</dc:creator>
  <cp:lastModifiedBy>Muhammadjon</cp:lastModifiedBy>
  <cp:revision>41</cp:revision>
  <dcterms:created xsi:type="dcterms:W3CDTF">2026-06-05T22:06:12Z</dcterms:created>
  <dcterms:modified xsi:type="dcterms:W3CDTF">2026-06-22T09:48:00Z</dcterms:modified>
</cp:coreProperties>
</file>