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33"/>
    <a:srgbClr val="660033"/>
    <a:srgbClr val="A500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0119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77" y="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lang="ru-RU" sz="1200" b="0" i="0" u="none" strike="noStrike" dirty="0">
                <a:solidFill>
                  <a:srgbClr val="6D2E46"/>
                </a:solidFill>
                <a:latin typeface="Cambria"/>
              </a:rPr>
              <a:t>Динамика ВВП в </a:t>
            </a:r>
            <a:r>
              <a:rPr lang="ru-RU" sz="1200" b="0" i="0" u="none" strike="noStrike" dirty="0" smtClean="0">
                <a:solidFill>
                  <a:srgbClr val="6D2E46"/>
                </a:solidFill>
                <a:latin typeface="Cambria"/>
              </a:rPr>
              <a:t>2020 </a:t>
            </a:r>
            <a:r>
              <a:rPr lang="ru-RU" sz="1200" b="0" i="0" u="none" strike="noStrike" dirty="0">
                <a:solidFill>
                  <a:srgbClr val="6D2E46"/>
                </a:solidFill>
                <a:latin typeface="Cambria"/>
              </a:rPr>
              <a:t>г.,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Падение ВВП в 2020, %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1" i="0" u="none" strike="noStrike">
                    <a:solidFill>
                      <a:srgbClr val="6D2E4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Эстония</c:v>
                </c:pt>
                <c:pt idx="1">
                  <c:v>Корея</c:v>
                </c:pt>
                <c:pt idx="2">
                  <c:v>Сингапур</c:v>
                </c:pt>
                <c:pt idx="3">
                  <c:v>Польша</c:v>
                </c:pt>
                <c:pt idx="4">
                  <c:v>ЕС-27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-0.7</c:v>
                </c:pt>
                <c:pt idx="2">
                  <c:v>-3.9</c:v>
                </c:pt>
                <c:pt idx="3">
                  <c:v>-2</c:v>
                </c:pt>
                <c:pt idx="4">
                  <c:v>-6.1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F4D-41C9-A739-491EF52249E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D2D2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6CFC4"/>
              </a:solidFill>
              <a:prstDash val="dash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6B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chemeClr val="accent1">
        <a:lumMod val="20000"/>
        <a:lumOff val="80000"/>
      </a:scheme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7914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gradFill flip="none" rotWithShape="1">
          <a:gsLst>
            <a:gs pos="0">
              <a:schemeClr val="accent1"/>
            </a:gs>
            <a:gs pos="0">
              <a:scrgbClr r="0" g="0" b="0"/>
            </a:gs>
            <a:gs pos="0">
              <a:scrgbClr r="0" g="0" b="0"/>
            </a:gs>
            <a:gs pos="0">
              <a:schemeClr val="accent1"/>
            </a:gs>
            <a:gs pos="0">
              <a:scrgbClr r="0" g="0" b="0"/>
            </a:gs>
            <a:gs pos="100000">
              <a:schemeClr val="accent1"/>
            </a:gs>
            <a:gs pos="100000">
              <a:srgbClr val="DFE7F5"/>
            </a:gs>
            <a:gs pos="100000">
              <a:srgbClr val="DFE7F5"/>
            </a:gs>
            <a:gs pos="0">
              <a:scrgbClr r="0" g="0" b="0"/>
            </a:gs>
            <a:gs pos="0">
              <a:schemeClr val="accent1">
                <a:lumMod val="30000"/>
                <a:lumOff val="70000"/>
              </a:schemeClr>
            </a:gs>
          </a:gsLst>
          <a:path path="rect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371600" cy="18288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365760"/>
            <a:ext cx="18288" cy="91440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4741164"/>
            <a:ext cx="1371600" cy="18288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59952" y="3840480"/>
            <a:ext cx="18288" cy="91440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МИНИСТЕРСТВО ИНОСТРАННЫХ ДЕЛ РЕСПУБЛИКИ УЗБЕКИСТАН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5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Университет мировой экономики и дипломатии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40480" y="1325880"/>
            <a:ext cx="1463040" cy="0"/>
          </a:xfrm>
          <a:prstGeom prst="line">
            <a:avLst/>
          </a:prstGeom>
          <a:noFill/>
          <a:ln w="19050">
            <a:solidFill>
              <a:srgbClr val="A88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Цифровизация экономики и устойчивость стран к глобальным кризисам: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международный опыт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1" kern="0" spc="400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Ташкент  •  2026</a:t>
            </a:r>
            <a:endParaRPr 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2512881" y="3378815"/>
            <a:ext cx="402542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Выполнил</a:t>
            </a:r>
            <a:r>
              <a:rPr lang="en-US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</a:t>
            </a:r>
            <a:r>
              <a:rPr lang="ru-RU" sz="12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Уктамов</a:t>
            </a:r>
            <a:r>
              <a:rPr lang="ru-RU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ru-RU" sz="12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Мухаммаджон</a:t>
            </a:r>
            <a:r>
              <a:rPr lang="ru-RU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ru-RU" sz="12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Уткирович</a:t>
            </a:r>
            <a:endParaRPr lang="ru-RU" sz="12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ru-RU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Научный руководитель</a:t>
            </a:r>
            <a:r>
              <a:rPr lang="en-US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</a:t>
            </a:r>
            <a:r>
              <a:rPr lang="ru-RU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доцент </a:t>
            </a:r>
            <a:r>
              <a:rPr lang="ru-RU" sz="1200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Умарова</a:t>
            </a:r>
            <a:r>
              <a:rPr lang="ru-RU" sz="12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Ш. Г.</a:t>
            </a:r>
            <a:endParaRPr lang="en-US" sz="12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gradFill>
          <a:gsLst>
            <a:gs pos="100000">
              <a:schemeClr val="accent1"/>
            </a:gs>
            <a:gs pos="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70657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Актуальность исследования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ru-RU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Мировой финансовый кризис 2008-2009 годов, </a:t>
            </a:r>
            <a:r>
              <a:rPr lang="ru-RU" sz="12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экзогенный </a:t>
            </a:r>
            <a:r>
              <a:rPr lang="ru-RU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шок </a:t>
            </a:r>
            <a:r>
              <a:rPr lang="ru-RU" sz="12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года </a:t>
            </a:r>
            <a:r>
              <a:rPr lang="ru-RU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геополитический </a:t>
            </a:r>
            <a:r>
              <a:rPr lang="ru-RU" sz="12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кризис </a:t>
            </a:r>
            <a:r>
              <a:rPr lang="ru-RU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года показали: устойчивость экономики зависит не только от макроэкономической политики, но и от структурных факторов.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88817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 </a:t>
            </a: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становится одним из факторов, способных усиливать устойчивость национальной экономики, особенно в условиях </a:t>
            </a:r>
            <a:r>
              <a:rPr lang="en-US" sz="12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четвёртой промышленной революции</a:t>
            </a: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483864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Узбекистана </a:t>
            </a: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 особенно актуален: реализуется Стратегия </a:t>
            </a:r>
            <a:r>
              <a:rPr lang="en-US" sz="12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«Цифровой </a:t>
            </a:r>
            <a:r>
              <a:rPr lang="en-US" sz="1200" b="1" i="1" dirty="0" err="1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r>
              <a:rPr lang="en-US" sz="12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i="1" dirty="0" smtClean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200" b="1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2030»</a:t>
            </a: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и важно понимать, какие направления цифровизации действительно повышают устойчивость.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0" y="1528697"/>
            <a:ext cx="3200400" cy="960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528697"/>
            <a:ext cx="54864" cy="9601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1574417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кв.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178040" y="1620137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среднее восстановление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стран ОЭСР после</a:t>
            </a:r>
            <a:endParaRPr lang="en-US" sz="950" dirty="0"/>
          </a:p>
          <a:p>
            <a:pPr marL="0" indent="0">
              <a:buNone/>
            </a:pPr>
            <a:r>
              <a:rPr lang="ru-RU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м</a:t>
            </a:r>
            <a:r>
              <a:rPr lang="ru-RU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ирового финансового кризиса</a:t>
            </a:r>
            <a:r>
              <a:rPr lang="en-US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0" y="3160901"/>
            <a:ext cx="3200400" cy="960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0" y="3160901"/>
            <a:ext cx="54864" cy="96012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15000" y="3206621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A88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кв.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7178040" y="3252341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восстановление стран</a:t>
            </a:r>
            <a:endParaRPr lang="en-US" sz="950" dirty="0"/>
          </a:p>
          <a:p>
            <a:r>
              <a:rPr lang="en-US" sz="9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без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950" dirty="0" smtClean="0">
                <a:latin typeface="Calibri" pitchFamily="34" charset="0"/>
                <a:ea typeface="Calibri" pitchFamily="34" charset="-122"/>
                <a:cs typeface="Calibri" pitchFamily="34" charset="-120"/>
              </a:rPr>
              <a:t>мирового </a:t>
            </a:r>
            <a:r>
              <a:rPr lang="ru-RU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финансового кризиса</a:t>
            </a: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950" dirty="0"/>
          </a:p>
        </p:txBody>
      </p:sp>
      <p:pic>
        <p:nvPicPr>
          <p:cNvPr id="22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Объект, предмет и цель исследования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2743200" cy="17830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97280" y="1463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79" y="1966623"/>
            <a:ext cx="2282025" cy="96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100" dirty="0"/>
              <a:t>национальные экономики и их устойчивость к глобальным кризисам различной природы в условиях цифровой трансформации.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743200" cy="17830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146304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7640" y="1463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520440" y="1920240"/>
            <a:ext cx="2423160" cy="889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100" dirty="0"/>
              <a:t>механизмы и каналы воздействия цифровых технологий на макроэкономическую устойчивость национальных экономик в условиях глобальных кризисов различной природы.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217920" y="1325880"/>
            <a:ext cx="2743200" cy="17830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46304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58000" y="1463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400800" y="1932167"/>
            <a:ext cx="2423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Выявить и эмпирически обосновать каналы влияния цифровизации на устойчивость, разработать рекомендации для Республики Узбекистан.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457200" y="3337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Задачи исследования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457200" y="3739896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457200" y="3739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804672" y="37033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Раскрыть теоретические основы цифровизации и каналы воздействия на устойчивость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4663440" y="3739896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663440" y="37398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5010912" y="370332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Проанализировать подходы к категории устойчивости и её ключевые компоненты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457200" y="4105656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57200" y="4105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804672" y="40690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Сравнить модели Эстонии, Кореи, Сингапура и Польши, их реакцию 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глобальные </a:t>
            </a:r>
            <a:r>
              <a:rPr lang="en-US" sz="1000" dirty="0" err="1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кризис</a:t>
            </a:r>
            <a:r>
              <a:rPr lang="ru-RU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ы различной природы 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4663440" y="4105656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663440" y="4105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5010912" y="406908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эконометрическую модель на панельных данных и интерпретировать результаты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457200" y="4471416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457200" y="4471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804672" y="44348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Оценить состояние цифровой трансформации Узбекистана в рамках Стратегии 2030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4663440" y="4471416"/>
            <a:ext cx="256032" cy="25603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663440" y="4471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Text 32"/>
          <p:cNvSpPr/>
          <p:nvPr/>
        </p:nvSpPr>
        <p:spPr>
          <a:xfrm>
            <a:off x="5010912" y="44348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Разработать практические рекомендации по укреплению цифровой устойчивости РУз</a:t>
            </a:r>
            <a:endParaRPr lang="en-US" sz="1000" dirty="0"/>
          </a:p>
        </p:txBody>
      </p:sp>
      <p:pic>
        <p:nvPicPr>
          <p:cNvPr id="40" name="图片 1"/>
          <p:cNvPicPr/>
          <p:nvPr/>
        </p:nvPicPr>
        <p:blipFill>
          <a:blip r:embed="rId6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ВВЕДЕНИЕ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92824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Гипотезы и методология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206240" cy="114300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691640"/>
            <a:ext cx="54864" cy="11430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830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 </a:t>
            </a: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положительно связана с ВВП на душу населения во всех группах стран.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926080"/>
            <a:ext cx="4206240" cy="128016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926080"/>
            <a:ext cx="54864" cy="128016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01752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A88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 </a:t>
            </a: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Антикризисный буферный эффект </a:t>
            </a: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цифровизации проявляется только при достижении высокого уровня цифровой зрелости (порог).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37760" y="1371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 И ДАННЫЕ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937760" y="1773936"/>
            <a:ext cx="91440" cy="91440"/>
          </a:xfrm>
          <a:prstGeom prst="ellipse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691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Панельная регрессия с фиксированными эффектами (FE), HC1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2157984"/>
            <a:ext cx="91440" cy="91440"/>
          </a:xfrm>
          <a:prstGeom prst="ellipse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20756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72200" y="20756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RStudio, пакет plm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37760" y="2542032"/>
            <a:ext cx="91440" cy="91440"/>
          </a:xfrm>
          <a:prstGeom prst="ellipse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20640" y="24597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Выборка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245973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стран, 707 наблюдений, 2010–2024 гг.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937760" y="2926080"/>
            <a:ext cx="91440" cy="91440"/>
          </a:xfrm>
          <a:prstGeom prst="ellipse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120640" y="28437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Группы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284378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Развитые (22) • Переходные (16) • Развивающиеся (11)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3310128"/>
            <a:ext cx="91440" cy="91440"/>
          </a:xfrm>
          <a:prstGeom prst="ellipse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32278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72200" y="32278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ОЭСР, МВФ, Всемирный банк, ЕК, ООН, WDI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37760" y="3694176"/>
            <a:ext cx="91440" cy="91440"/>
          </a:xfrm>
          <a:prstGeom prst="ellipse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20640" y="36118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Индикаторы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72200" y="3611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EGDI • NRI • DESI • интернет-проникновение</a:t>
            </a:r>
            <a:endParaRPr lang="en-US" sz="1000" dirty="0"/>
          </a:p>
        </p:txBody>
      </p:sp>
      <p:pic>
        <p:nvPicPr>
          <p:cNvPr id="33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  •  Теоретические основы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66344" y="510739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каналов влияния цифровизации на устойчивость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1627632" cy="3246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0976" y="155448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24" y="1709928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48640" y="23317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Непрерывность гос. функций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2978426"/>
            <a:ext cx="1408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Электронная идентификация, межведомственный обмен данными и онлайн-сервисы сохраняют работу институтов даже при ограничении физического взаимодействия.</a:t>
            </a:r>
            <a:endParaRPr lang="en-US" sz="900" i="1" dirty="0"/>
          </a:p>
        </p:txBody>
      </p:sp>
      <p:sp>
        <p:nvSpPr>
          <p:cNvPr id="12" name="Shape 9"/>
          <p:cNvSpPr/>
          <p:nvPr/>
        </p:nvSpPr>
        <p:spPr>
          <a:xfrm>
            <a:off x="2194560" y="1325880"/>
            <a:ext cx="1627632" cy="3246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88336" y="155448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784" y="170992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286000" y="23317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Фискальная трансмиссия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2304288" y="2978426"/>
            <a:ext cx="1408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Цифровые платежи и интегрированные данные ускоряют доставку господдержки конечным получателям, сокращая лаги и издержки.</a:t>
            </a:r>
            <a:endParaRPr lang="en-US" sz="900" i="1" dirty="0"/>
          </a:p>
        </p:txBody>
      </p:sp>
      <p:sp>
        <p:nvSpPr>
          <p:cNvPr id="17" name="Shape 13"/>
          <p:cNvSpPr/>
          <p:nvPr/>
        </p:nvSpPr>
        <p:spPr>
          <a:xfrm>
            <a:off x="3931920" y="1325880"/>
            <a:ext cx="1627632" cy="3246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25696" y="155448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1144" y="1709928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023360" y="23317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Адаптация частного сектора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041648" y="2978426"/>
            <a:ext cx="1408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Фирмы с высоким уровнем ИТ-внедрения показали меньшее падение занятости и выручки в период пандемии.</a:t>
            </a:r>
            <a:endParaRPr lang="en-US" sz="900" i="1" dirty="0"/>
          </a:p>
        </p:txBody>
      </p:sp>
      <p:sp>
        <p:nvSpPr>
          <p:cNvPr id="22" name="Shape 17"/>
          <p:cNvSpPr/>
          <p:nvPr/>
        </p:nvSpPr>
        <p:spPr>
          <a:xfrm>
            <a:off x="5669280" y="1325880"/>
            <a:ext cx="1627632" cy="3246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163056" y="155448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170992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760720" y="23317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Структура спроса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779008" y="2978426"/>
            <a:ext cx="1408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Онлайн-торговля и цифровые услуги частично сохраняют потребление при ограничениях мобильности.</a:t>
            </a:r>
            <a:endParaRPr lang="en-US" sz="900" i="1" dirty="0"/>
          </a:p>
        </p:txBody>
      </p:sp>
      <p:sp>
        <p:nvSpPr>
          <p:cNvPr id="27" name="Shape 21"/>
          <p:cNvSpPr/>
          <p:nvPr/>
        </p:nvSpPr>
        <p:spPr>
          <a:xfrm>
            <a:off x="7406640" y="1325880"/>
            <a:ext cx="1627632" cy="3246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900416" y="1554480"/>
            <a:ext cx="640080" cy="64008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5864" y="1709928"/>
            <a:ext cx="329184" cy="329184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498080" y="2331720"/>
            <a:ext cx="14447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Устойчивость ИКТ-сектора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7516368" y="2978426"/>
            <a:ext cx="1408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2020 г. ИКТ-сектор ОЭСР рос на 6,6%, к 2021 г. шок пандемии в нём практически не прослеживался.</a:t>
            </a:r>
            <a:endParaRPr lang="en-US" sz="900" i="1" dirty="0"/>
          </a:p>
        </p:txBody>
      </p:sp>
      <p:sp>
        <p:nvSpPr>
          <p:cNvPr id="32" name="Text 25"/>
          <p:cNvSpPr/>
          <p:nvPr/>
        </p:nvSpPr>
        <p:spPr>
          <a:xfrm>
            <a:off x="457200" y="463600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800" dirty="0"/>
          </a:p>
        </p:txBody>
      </p:sp>
      <p:pic>
        <p:nvPicPr>
          <p:cNvPr id="33" name="图片 1"/>
          <p:cNvPicPr/>
          <p:nvPr/>
        </p:nvPicPr>
        <p:blipFill>
          <a:blip r:embed="rId8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II.1  •  Международный опыт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модели цифровой трансформации (2024)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246888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СТРАНА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МОДЕЛЬ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EGDI 2024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NRI 2024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IMD WDCR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OECD DGI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E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Эстония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Малое цифровое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государство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0,9727  •  №2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67,85  •  №18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Топ-10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Респ. Корея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0,9679  •  №4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72,5  •  №5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A88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№1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Сингапур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Глобальный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эталон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0,9691  •  №3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79,4  •  №2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A88B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№1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Топ-5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6D2E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Польша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Догоняющая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0,8677  •  №30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59,4  •  №32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№41–43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5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  <p:sp>
        <p:nvSpPr>
          <p:cNvPr id="11" name="Text 4a"/>
          <p:cNvSpPr/>
          <p:nvPr/>
        </p:nvSpPr>
        <p:spPr>
          <a:xfrm>
            <a:off x="457200" y="387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🇪🇪 Эстония: </a:t>
            </a: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Tiger Leap (1996) - компьютеры и интернет в каждую школу.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X-Road (2001) - платформа межведомственного обмена данными,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2,2 млрд транзакций/год, 450+ организаций.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e-Residency (2014) - 128 тыс. чел. из 185 стран, 342 млн евро в бюджет.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EGDI №2 - цифровое государство с нуля за 25 лет.</a:t>
            </a:r>
            <a:endParaRPr lang="ru-RU" sz="1000" dirty="0"/>
          </a:p>
        </p:txBody>
      </p:sp>
      <p:sp>
        <p:nvSpPr>
          <p:cNvPr id="12" name="Text 4b"/>
          <p:cNvSpPr/>
          <p:nvPr/>
        </p:nvSpPr>
        <p:spPr>
          <a:xfrm>
            <a:off x="457200" y="407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🇰🇷 Корея: </a:t>
            </a: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New Deal (2020) - 160 трлн вон (5,9% ВВП): данные, 5G, ИИ.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DNA-концепция: Data + Network + AI - единая цифровая экосистема.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больниц с 5G и IoT, 310 000 классов с быстрым интернетом.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ОЭСР Digital Government 2023: №1 - государство-дирижёр.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привязать цифровизацию к антикризисным бюджетным программам.</a:t>
            </a:r>
            <a:endParaRPr lang="ru-RU" sz="1000" dirty="0"/>
          </a:p>
        </p:txBody>
      </p:sp>
      <p:sp>
        <p:nvSpPr>
          <p:cNvPr id="13" name="Text 4c"/>
          <p:cNvSpPr/>
          <p:nvPr/>
        </p:nvSpPr>
        <p:spPr>
          <a:xfrm>
            <a:off x="457200" y="427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🇸🇬 Сингапур: </a:t>
            </a: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Nation (2014) - 99% госуслуг онлайн, 99% домохозяйств в сети.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Singpass - единый ID для всех услуг; PayNow - адресные выплаты за дни.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цифровой экономики в ВВП: 13,3% (2017) → 17,7% (2023).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Nation 2.0 (2024): акцент на генеративный ИИ, 120 млн SGD на науку.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IMD №1 - единый ID + быстрые платежи = антикризисный буфер.</a:t>
            </a:r>
            <a:endParaRPr lang="ru-RU" sz="1000" dirty="0"/>
          </a:p>
        </p:txBody>
      </p:sp>
      <p:sp>
        <p:nvSpPr>
          <p:cNvPr id="14" name="Text 4d"/>
          <p:cNvSpPr/>
          <p:nvPr/>
        </p:nvSpPr>
        <p:spPr>
          <a:xfrm>
            <a:off x="457200" y="44700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10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🇵🇱 Польша: </a:t>
            </a: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«Цифровая Польша» 2014-2020 - 2,17 млрд евро из фондов ЕС.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mObywatel (2017) - цифровой паспорт + 40+ госуслуг, 10 млн польз.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Разрыв: е-правительство развито, но ИИ в бизнесе - лишь 3,7% (ЕС: 8%).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Цифровые навыки населения: 44% (ниже среднего по ЕС - 56%).</a:t>
            </a:r>
            <a:endParaRPr lang="ru-RU" sz="1000" dirty="0"/>
          </a:p>
          <a:p>
            <a:pPr marL="0" indent="0">
              <a:buNone/>
            </a:pP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Вывод: не останавливаться на госсекторе - цифровизировать бизнес и людей.</a:t>
            </a:r>
            <a:endParaRPr lang="ru-RU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II.2  •  Реакция на кризисы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62026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Падение и восстановление ВВП в </a:t>
            </a:r>
            <a:r>
              <a:rPr lang="ru-RU" sz="2600" b="1" dirty="0" smtClean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2020 и 2022 гг.</a:t>
            </a:r>
            <a:endParaRPr lang="en-US" sz="2600" dirty="0">
              <a:solidFill>
                <a:srgbClr val="FF0000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353803757"/>
              </p:ext>
            </p:extLst>
          </p:nvPr>
        </p:nvGraphicFramePr>
        <p:xfrm>
          <a:off x="457200" y="1645920"/>
          <a:ext cx="45720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9651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30352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НАБЛЮДЕНИЯ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303520" y="1755648"/>
            <a:ext cx="109728" cy="109728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16916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</a:t>
            </a:r>
            <a:r>
              <a:rPr lang="ru-RU" sz="1100" b="1" dirty="0" smtClean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кзогенный шок </a:t>
            </a:r>
            <a:r>
              <a:rPr lang="en-US" sz="1100" b="1" dirty="0" smtClean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(COVID-19) </a:t>
            </a: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0" y="19476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Цифровые 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лидеры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ru-RU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Эстония, Республика Корея, Сингапур и </a:t>
            </a:r>
            <a:r>
              <a:rPr lang="ru-RU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Польша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показали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более мягкое падение благодаря онлайн-госуслугам и адресной поддержке.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303520" y="2788920"/>
            <a:ext cx="109728" cy="109728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0" y="272491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100" b="1" dirty="0" smtClean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Геополитический кризис </a:t>
            </a:r>
            <a:r>
              <a:rPr lang="en-US" sz="1100" b="1" dirty="0" smtClean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0" y="2980944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Энергетические и логистические шоки не компенсируются цифровизацией. Эстония и Польша столкнулись с высокой инфляцией.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303520" y="3822192"/>
            <a:ext cx="109728" cy="109728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0" y="375818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486400" y="4014216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Эффект цифровизации зависит от типа шока: эффективен против шоков мобильности, но не против структурных торговых разрывов.</a:t>
            </a:r>
            <a:endParaRPr lang="en-US" sz="1000" dirty="0"/>
          </a:p>
        </p:txBody>
      </p:sp>
      <p:pic>
        <p:nvPicPr>
          <p:cNvPr id="19" name="图片 1"/>
          <p:cNvPicPr/>
          <p:nvPr/>
        </p:nvPicPr>
        <p:blipFill>
          <a:blip r:embed="rId4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23"/>
          <p:cNvSpPr/>
          <p:nvPr/>
        </p:nvSpPr>
        <p:spPr>
          <a:xfrm>
            <a:off x="457200" y="2548632"/>
            <a:ext cx="4023360" cy="2440548"/>
          </a:xfrm>
          <a:prstGeom prst="rect">
            <a:avLst/>
          </a:prstGeom>
          <a:solidFill>
            <a:srgbClr val="FFFFFF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II.3  •  Эконометрический анализ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Спецификация модели на панельных данных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6012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54864" cy="96012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4630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СПЕЦИФИКАЦИЯ FE-МОДЕЛИ</a:t>
            </a:r>
            <a:endParaRPr lang="en-US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685800" y="1737360"/>
                <a:ext cx="7641236" cy="3837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100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𝐺𝐷𝑃</m:t>
                              </m:r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𝑝𝑐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d>
                      <m:r>
                        <a:rPr lang="ru-RU" sz="1100" i="1"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100" i="1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𝐼𝑛𝑡𝑒𝑟𝑛𝑒</m:t>
                          </m:r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𝑖𝑡</m:t>
                              </m:r>
                            </m:sub>
                          </m:sSub>
                        </m:e>
                      </m:d>
                      <m:r>
                        <a:rPr lang="ru-RU" sz="1100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100" i="1">
                          <a:latin typeface="Cambria Math" panose="02040503050406030204" pitchFamily="18" charset="0"/>
                        </a:rPr>
                        <m:t>𝐺𝐹𝐶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1100" i="1">
                          <a:latin typeface="Cambria Math" panose="02040503050406030204" pitchFamily="18" charset="0"/>
                        </a:rPr>
                        <m:t>𝐼𝑛𝑓𝑙𝑎𝑡𝑖𝑜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1100" i="1">
                          <a:latin typeface="Cambria Math" panose="02040503050406030204" pitchFamily="18" charset="0"/>
                        </a:rPr>
                        <m:t>𝑈𝑛𝑒𝑚𝑝𝑙𝑜𝑦𝑚𝑒𝑛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𝐻𝑖𝑔</m:t>
                      </m:r>
                      <m:r>
                        <a:rPr lang="ru-RU" sz="11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𝑇𝑒𝑐</m:t>
                      </m:r>
                      <m:r>
                        <a:rPr lang="ru-RU" sz="1100" i="1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𝐸𝑥𝑝𝑜𝑟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en-US" sz="1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𝐶𝑂𝑉𝐼𝐷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𝐶𝑟𝑖𝑠𝑖𝑠</m:t>
                          </m:r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𝐺𝑒𝑜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  <m:d>
                        <m:d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𝑙𝑛</m:t>
                          </m:r>
                          <m:d>
                            <m:d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𝐼𝑛𝑡𝑒𝑟𝑛𝑒</m:t>
                              </m:r>
                              <m:sSub>
                                <m:sSubPr>
                                  <m:ctrlP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1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ru-RU" sz="1100" i="1">
                                      <a:latin typeface="Cambria Math" panose="02040503050406030204" pitchFamily="18" charset="0"/>
                                    </a:rPr>
                                    <m:t>𝑖𝑡</m:t>
                                  </m:r>
                                </m:sub>
                              </m:sSub>
                            </m:e>
                          </m:d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1100" i="1">
                                  <a:latin typeface="Cambria Math" panose="02040503050406030204" pitchFamily="18" charset="0"/>
                                </a:rPr>
                                <m:t>𝐶𝑂𝑉𝐼𝐷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ru-RU" sz="1100" i="1"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ru-RU" sz="11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𝐼𝑛𝑡𝑒𝑟𝑛𝑒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) ×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𝐶𝑟𝑖𝑠𝑖𝑠</m:t>
                      </m:r>
                      <m:r>
                        <a:rPr lang="ru-RU" sz="1100" i="1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sz="1100" i="1">
                          <a:latin typeface="Cambria Math" panose="02040503050406030204" pitchFamily="18" charset="0"/>
                        </a:rPr>
                        <m:t>𝐺𝑒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ru-RU" sz="1100" i="1">
                          <a:latin typeface="Cambria Math" panose="02040503050406030204" pitchFamily="18" charset="0"/>
                        </a:rPr>
                        <m:t>) + </m:t>
                      </m:r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ru-RU" sz="1100" i="1">
                              <a:latin typeface="Cambria Math" panose="02040503050406030204" pitchFamily="18" charset="0"/>
                            </a:rPr>
                            <m:t>𝑖𝑡</m:t>
                          </m:r>
                        </m:sub>
                      </m:sSub>
                    </m:oMath>
                  </m:oMathPara>
                </a14:m>
                <a:endParaRPr lang="en-US" sz="11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737360"/>
                <a:ext cx="7641236" cy="383748"/>
              </a:xfrm>
              <a:prstGeom prst="rect">
                <a:avLst/>
              </a:prstGeom>
              <a:blipFill>
                <a:blip r:embed="rId3"/>
                <a:stretch>
                  <a:fillRect b="-44444"/>
                </a:stretch>
              </a:blipFill>
              <a:ln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/>
          <p:nvPr/>
        </p:nvSpPr>
        <p:spPr>
          <a:xfrm>
            <a:off x="6400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b="1" kern="0" spc="400" dirty="0" smtClean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МОДЕЛИ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2926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Зависимая переменная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29260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b="1" dirty="0"/>
              <a:t>ln(</a:t>
            </a:r>
            <a:r>
              <a:rPr lang="az-Cyrl-AZ" sz="1000" b="1" dirty="0"/>
              <a:t>ВВП на душу населения)</a:t>
            </a:r>
            <a:endParaRPr lang="en-US" sz="1000" b="1" dirty="0"/>
          </a:p>
        </p:txBody>
      </p:sp>
      <p:sp>
        <p:nvSpPr>
          <p:cNvPr id="15" name="Text 13"/>
          <p:cNvSpPr/>
          <p:nvPr/>
        </p:nvSpPr>
        <p:spPr>
          <a:xfrm>
            <a:off x="640080" y="31729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регрессор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317296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000" b="1" dirty="0"/>
              <a:t>ln(</a:t>
            </a:r>
            <a:r>
              <a:rPr lang="az-Cyrl-AZ" sz="1000" b="1" dirty="0"/>
              <a:t>интернет-проникновение)</a:t>
            </a:r>
            <a:endParaRPr lang="en-US" sz="1000" b="1" dirty="0"/>
          </a:p>
        </p:txBody>
      </p:sp>
      <p:sp>
        <p:nvSpPr>
          <p:cNvPr id="18" name="Text 16"/>
          <p:cNvSpPr/>
          <p:nvPr/>
        </p:nvSpPr>
        <p:spPr>
          <a:xfrm>
            <a:off x="640080" y="3639312"/>
            <a:ext cx="32842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000" b="1" dirty="0"/>
              <a:t>GFCF </a:t>
            </a:r>
            <a:r>
              <a:rPr lang="ru-RU" sz="1000" b="1" dirty="0" smtClean="0"/>
              <a:t>- </a:t>
            </a:r>
            <a:r>
              <a:rPr lang="ru-RU" sz="1000" b="1" dirty="0"/>
              <a:t>валовое накопление основного капитала</a:t>
            </a:r>
          </a:p>
        </p:txBody>
      </p:sp>
      <p:sp>
        <p:nvSpPr>
          <p:cNvPr id="20" name="Text 18"/>
          <p:cNvSpPr/>
          <p:nvPr/>
        </p:nvSpPr>
        <p:spPr>
          <a:xfrm>
            <a:off x="640080" y="3867912"/>
            <a:ext cx="29794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az-Cyrl-AZ" sz="1000" b="1" dirty="0"/>
              <a:t>Инфляция </a:t>
            </a:r>
            <a:r>
              <a:rPr lang="az-Cyrl-AZ" sz="1000" b="1" dirty="0" smtClean="0"/>
              <a:t>- </a:t>
            </a:r>
            <a:r>
              <a:rPr lang="az-Cyrl-AZ" sz="1000" b="1" dirty="0"/>
              <a:t>индекс потребительских цен</a:t>
            </a:r>
          </a:p>
        </p:txBody>
      </p:sp>
      <p:sp>
        <p:nvSpPr>
          <p:cNvPr id="22" name="Text 20"/>
          <p:cNvSpPr/>
          <p:nvPr/>
        </p:nvSpPr>
        <p:spPr>
          <a:xfrm>
            <a:off x="640080" y="4000500"/>
            <a:ext cx="28270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az-Cyrl-AZ" sz="1000" b="1" dirty="0"/>
              <a:t>Безработица </a:t>
            </a:r>
            <a:r>
              <a:rPr lang="az-Cyrl-AZ" sz="1000" b="1" dirty="0" smtClean="0"/>
              <a:t>- </a:t>
            </a:r>
            <a:r>
              <a:rPr lang="az-Cyrl-AZ" sz="1000" b="1" dirty="0"/>
              <a:t>доля безработного населения</a:t>
            </a:r>
          </a:p>
        </p:txBody>
      </p:sp>
      <p:sp>
        <p:nvSpPr>
          <p:cNvPr id="24" name="Text 22"/>
          <p:cNvSpPr/>
          <p:nvPr/>
        </p:nvSpPr>
        <p:spPr>
          <a:xfrm>
            <a:off x="640080" y="4138219"/>
            <a:ext cx="32842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 err="1"/>
              <a:t>HighTechExport</a:t>
            </a:r>
            <a:r>
              <a:rPr lang="en-US" sz="1000" b="1" dirty="0"/>
              <a:t> </a:t>
            </a:r>
            <a:r>
              <a:rPr lang="ru-RU" sz="1000" b="1" dirty="0" smtClean="0"/>
              <a:t>-</a:t>
            </a:r>
            <a:r>
              <a:rPr lang="en-US" sz="1000" b="1" dirty="0" smtClean="0"/>
              <a:t> </a:t>
            </a:r>
            <a:r>
              <a:rPr lang="az-Cyrl-AZ" sz="1000" b="1" dirty="0"/>
              <a:t>доля высокотехнологичного экспорта</a:t>
            </a:r>
          </a:p>
        </p:txBody>
      </p:sp>
      <p:sp>
        <p:nvSpPr>
          <p:cNvPr id="25" name="Shape 23"/>
          <p:cNvSpPr/>
          <p:nvPr/>
        </p:nvSpPr>
        <p:spPr>
          <a:xfrm>
            <a:off x="4663440" y="2548632"/>
            <a:ext cx="4023360" cy="2440548"/>
          </a:xfrm>
          <a:prstGeom prst="rect">
            <a:avLst/>
          </a:prstGeom>
          <a:solidFill>
            <a:srgbClr val="FFFFFF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29260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Чоу (структурная гетерог.)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4944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5,34; p &lt; 0,001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46320" y="31729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Хаусман (развитые)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49440" y="3172968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4,58; p = 0,87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46320" y="34198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Хаусман (переходные)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49440" y="341985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= 1,36; p = 0,998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36667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Бройш-Паган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49440" y="366674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Гетероскедастичность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846320" y="391363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Вулдридж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49440" y="39136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Автокорреляция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46320" y="4160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9440" y="4160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 + кластер. HC1 ошибки</a:t>
            </a:r>
            <a:endParaRPr lang="en-US" sz="1000" dirty="0"/>
          </a:p>
        </p:txBody>
      </p:sp>
      <p:pic>
        <p:nvPicPr>
          <p:cNvPr id="40" name="图片 1"/>
          <p:cNvPicPr/>
          <p:nvPr/>
        </p:nvPicPr>
        <p:blipFill>
          <a:blip r:embed="rId4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40080" y="4504767"/>
            <a:ext cx="1413849" cy="394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19025" rIns="0" bIns="11902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</a:rPr>
              <a:t>COVID  </a:t>
            </a:r>
            <a:r>
              <a:rPr kumimoji="0" lang="ru-RU" altLang="en-US" sz="1000" b="1" i="0" u="none" strike="noStrike" cap="none" normalizeH="0" baseline="0" dirty="0" smtClean="0">
                <a:ln>
                  <a:noFill/>
                </a:ln>
                <a:effectLst/>
              </a:rPr>
              <a:t>-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</a:rPr>
              <a:t> </a:t>
            </a:r>
            <a:r>
              <a:rPr kumimoji="0" lang="en-US" altLang="en-US" sz="1000" b="1" i="0" u="none" strike="noStrike" cap="none" normalizeH="0" baseline="0" dirty="0" err="1" smtClean="0">
                <a:ln>
                  <a:noFill/>
                </a:ln>
                <a:effectLst/>
              </a:rPr>
              <a:t>экзогенный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</a:rPr>
              <a:t> </a:t>
            </a:r>
            <a:r>
              <a:rPr kumimoji="0" lang="en-US" altLang="en-US" sz="1000" b="1" i="0" u="none" strike="noStrike" cap="none" normalizeH="0" baseline="0" dirty="0" err="1" smtClean="0">
                <a:ln>
                  <a:noFill/>
                </a:ln>
                <a:effectLst/>
              </a:rPr>
              <a:t>шок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</a:rPr>
              <a:t> </a:t>
            </a:r>
          </a:p>
        </p:txBody>
      </p:sp>
      <p:sp>
        <p:nvSpPr>
          <p:cNvPr id="11" name="Rectangle 3"/>
          <p:cNvSpPr>
            <a:spLocks noChangeArrowheads="1"/>
          </p:cNvSpPr>
          <p:nvPr/>
        </p:nvSpPr>
        <p:spPr bwMode="auto">
          <a:xfrm>
            <a:off x="640080" y="4676532"/>
            <a:ext cx="2090316" cy="394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19025" rIns="0" bIns="119025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1" i="0" u="none" strike="noStrike" cap="none" normalizeH="0" baseline="0" dirty="0" err="1" smtClean="0">
                <a:ln>
                  <a:noFill/>
                </a:ln>
                <a:effectLst/>
                <a:cs typeface="Courier New" panose="02070309020205020404" pitchFamily="49" charset="0"/>
              </a:rPr>
              <a:t>Crisis_Geo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  <a:cs typeface="Courier New" panose="02070309020205020404" pitchFamily="49" charset="0"/>
              </a:rPr>
              <a:t> </a:t>
            </a:r>
            <a:r>
              <a:rPr lang="ru-RU" altLang="en-US" sz="1000" b="1" dirty="0">
                <a:cs typeface="Courier New" panose="02070309020205020404" pitchFamily="49" charset="0"/>
              </a:rPr>
              <a:t>-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000" b="1" i="0" u="none" strike="noStrike" cap="none" normalizeH="0" baseline="0" dirty="0" err="1" smtClean="0">
                <a:ln>
                  <a:noFill/>
                </a:ln>
                <a:effectLst/>
                <a:cs typeface="Courier New" panose="02070309020205020404" pitchFamily="49" charset="0"/>
              </a:rPr>
              <a:t>геополитический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  <a:cs typeface="Courier New" panose="02070309020205020404" pitchFamily="49" charset="0"/>
              </a:rPr>
              <a:t> </a:t>
            </a:r>
            <a:r>
              <a:rPr kumimoji="0" lang="en-US" altLang="en-US" sz="1000" b="1" i="0" u="none" strike="noStrike" cap="none" normalizeH="0" baseline="0" dirty="0" err="1" smtClean="0">
                <a:ln>
                  <a:noFill/>
                </a:ln>
                <a:effectLst/>
                <a:cs typeface="Courier New" panose="02070309020205020404" pitchFamily="49" charset="0"/>
              </a:rPr>
              <a:t>кризис</a:t>
            </a:r>
            <a:r>
              <a:rPr kumimoji="0" lang="en-US" altLang="en-US" sz="1000" b="1" i="0" u="none" strike="noStrike" cap="none" normalizeH="0" baseline="0" dirty="0" smtClean="0">
                <a:ln>
                  <a:noFill/>
                </a:ln>
                <a:effectLst/>
              </a:rPr>
              <a:t> </a:t>
            </a:r>
          </a:p>
        </p:txBody>
      </p:sp>
      <p:sp>
        <p:nvSpPr>
          <p:cNvPr id="41" name="Text 15"/>
          <p:cNvSpPr/>
          <p:nvPr/>
        </p:nvSpPr>
        <p:spPr>
          <a:xfrm>
            <a:off x="640080" y="3419856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переменные</a:t>
            </a:r>
            <a:r>
              <a:rPr lang="en-US" sz="1000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00" dirty="0"/>
          </a:p>
        </p:txBody>
      </p:sp>
      <p:sp>
        <p:nvSpPr>
          <p:cNvPr id="42" name="Text 15"/>
          <p:cNvSpPr/>
          <p:nvPr/>
        </p:nvSpPr>
        <p:spPr>
          <a:xfrm>
            <a:off x="640080" y="4371975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1000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Кризисные </a:t>
            </a:r>
            <a:r>
              <a:rPr lang="ru-RU" sz="1000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дамми</a:t>
            </a:r>
            <a:r>
              <a:rPr lang="en-US" sz="1000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II.3  •  Результаты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1880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коэффициенты FE-модели по группам стран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6858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 ПОДТВЕРЖДЕНА</a:t>
            </a:r>
            <a:r>
              <a:rPr lang="en-US" sz="1100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100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статистически значимый фактор роста ВВП во всех 3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группах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2715768" cy="24688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240280"/>
            <a:ext cx="2532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РАЗВИТЫЕ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3912669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</a:t>
            </a:r>
            <a:r>
              <a:rPr lang="en-US" sz="1200" i="1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страны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330 </a:t>
            </a:r>
            <a:r>
              <a:rPr lang="en-US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</a:t>
            </a:r>
            <a:r>
              <a:rPr lang="ru-RU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юдений</a:t>
            </a:r>
            <a:r>
              <a:rPr lang="ru-RU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633197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0,212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31089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 = </a:t>
            </a:r>
            <a:r>
              <a:rPr lang="en-US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0,049682</a:t>
            </a:r>
          </a:p>
        </p:txBody>
      </p:sp>
      <p:sp>
        <p:nvSpPr>
          <p:cNvPr id="14" name="Text 12"/>
          <p:cNvSpPr/>
          <p:nvPr/>
        </p:nvSpPr>
        <p:spPr>
          <a:xfrm>
            <a:off x="548640" y="3310128"/>
            <a:ext cx="2532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ln(internet) ➜ ln(GDPpc)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31520" y="3566160"/>
            <a:ext cx="2194560" cy="0"/>
          </a:xfrm>
          <a:prstGeom prst="line">
            <a:avLst/>
          </a:prstGeom>
          <a:noFill/>
          <a:ln w="6350">
            <a:solidFill>
              <a:srgbClr val="D6CF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46120" y="2148840"/>
            <a:ext cx="2715768" cy="24688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2240280"/>
            <a:ext cx="2532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ПЕРЕХОДНЫЕ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37560" y="3912669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</a:t>
            </a:r>
            <a:r>
              <a:rPr lang="en-US" sz="1200" i="1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233 </a:t>
            </a:r>
            <a:r>
              <a:rPr lang="en-US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</a:t>
            </a:r>
            <a:r>
              <a:rPr lang="ru-RU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юдений</a:t>
            </a:r>
            <a:r>
              <a:rPr lang="ru-RU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37560" y="2640072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0,309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337560" y="31089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 </a:t>
            </a:r>
            <a:r>
              <a:rPr lang="ru-RU" sz="10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</a:t>
            </a:r>
            <a:r>
              <a:rPr lang="en-US" sz="1000" b="1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3,334e-08</a:t>
            </a:r>
          </a:p>
        </p:txBody>
      </p:sp>
      <p:sp>
        <p:nvSpPr>
          <p:cNvPr id="24" name="Text 22"/>
          <p:cNvSpPr/>
          <p:nvPr/>
        </p:nvSpPr>
        <p:spPr>
          <a:xfrm>
            <a:off x="3337560" y="3310128"/>
            <a:ext cx="2532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ln(internet) ➜ ln(GDPpc)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520440" y="3566160"/>
            <a:ext cx="2194560" cy="0"/>
          </a:xfrm>
          <a:prstGeom prst="line">
            <a:avLst/>
          </a:prstGeom>
          <a:noFill/>
          <a:ln w="6350">
            <a:solidFill>
              <a:srgbClr val="D6CFC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35040" y="2148840"/>
            <a:ext cx="2715768" cy="24688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2240280"/>
            <a:ext cx="2532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4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РАЗВИВАЮЩИЕСЯ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126480" y="3912669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</a:t>
            </a:r>
            <a:r>
              <a:rPr lang="en-US" sz="1200" i="1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стран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</a:t>
            </a:r>
            <a:r>
              <a:rPr lang="en-US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</a:t>
            </a:r>
            <a:r>
              <a:rPr lang="ru-RU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юдений</a:t>
            </a:r>
            <a:r>
              <a:rPr lang="en-US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</a:t>
            </a:r>
            <a:r>
              <a:rPr lang="en-US" sz="1200" i="1" dirty="0" err="1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r>
              <a:rPr lang="ru-RU" sz="120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26480" y="2633197"/>
            <a:ext cx="253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0,198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126480" y="3108960"/>
            <a:ext cx="2532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 </a:t>
            </a:r>
            <a:r>
              <a:rPr lang="ru-RU" sz="1000" b="1" i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en-US" sz="1000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7,370e-09</a:t>
            </a:r>
            <a:endParaRPr lang="en-US" sz="1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126480" y="3310128"/>
            <a:ext cx="2532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ln(internet) ➜ ln(GDPpc)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309360" y="3566160"/>
            <a:ext cx="2194560" cy="0"/>
          </a:xfrm>
          <a:prstGeom prst="line">
            <a:avLst/>
          </a:prstGeom>
          <a:noFill/>
          <a:ln w="6350">
            <a:solidFill>
              <a:srgbClr val="D6CF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4636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00" dirty="0"/>
          </a:p>
        </p:txBody>
      </p:sp>
      <p:pic>
        <p:nvPicPr>
          <p:cNvPr id="40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III.1  •  Узбекистан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Цифровая трансформация: достижения и асимметрия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1993392" cy="12344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1993392" cy="457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46304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548640" y="202996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Интернет-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проникновение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377440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32888" y="1371600"/>
            <a:ext cx="1993392" cy="12344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2888" y="1371600"/>
            <a:ext cx="1993392" cy="4572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32888" y="146304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2624328" y="202996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Покрытие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4G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24328" y="2377440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608576" y="1371600"/>
            <a:ext cx="1993392" cy="12344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08576" y="1371600"/>
            <a:ext cx="1993392" cy="4572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08576" y="146304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88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№63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4700016" y="202996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EGDI 2024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(0,7999)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00016" y="2377440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684264" y="1371600"/>
            <a:ext cx="1993392" cy="12344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84264" y="1371600"/>
            <a:ext cx="1993392" cy="4572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84264" y="1463040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A88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2,4%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775704" y="202996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ИКТ-услуги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ВДС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775704" y="2377440"/>
            <a:ext cx="18105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&lt;среднего ОЭСР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2788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АСИММЕТРИЯ </a:t>
            </a:r>
            <a:r>
              <a:rPr lang="en-US" sz="1150" b="1" kern="0" spc="200" dirty="0" smtClean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</a:t>
            </a:r>
            <a:r>
              <a:rPr lang="ru-RU" sz="1150" b="1" kern="0" spc="200" dirty="0" smtClean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ИЗАЦИИ </a:t>
            </a:r>
            <a:r>
              <a:rPr lang="en-US" sz="1150" i="1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(е-</a:t>
            </a:r>
            <a:r>
              <a:rPr lang="en-US" sz="1150" i="1" dirty="0" err="1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правительство</a:t>
            </a:r>
            <a:r>
              <a:rPr lang="en-US" sz="1150" i="1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ru-RU" sz="1150" i="1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опережает</a:t>
            </a:r>
            <a:r>
              <a:rPr lang="en-US" sz="1150" i="1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r>
              <a:rPr lang="en-US" sz="1150" i="1" dirty="0" err="1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</a:t>
            </a:r>
            <a:r>
              <a:rPr lang="ru-RU" sz="1150" i="1" dirty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</a:t>
            </a:r>
            <a:r>
              <a:rPr lang="en-US" sz="1150" i="1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i="1" dirty="0" err="1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бизнеса</a:t>
            </a:r>
            <a:r>
              <a:rPr lang="en-US" sz="1150" i="1" dirty="0" smtClean="0">
                <a:solidFill>
                  <a:srgbClr val="F5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38912" y="3429000"/>
            <a:ext cx="4023360" cy="12344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88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Достижения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3822192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MyID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цифровой идентификации
QR-транзакции: +119% в год (2020–2022)
Стратегия «Цифровой 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Узбекистан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2030»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63440" y="3429000"/>
            <a:ext cx="4023360" cy="12344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△  Отставание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46320" y="3822192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ИКТ в ВДС всего 2,4% (ниже ОЭСР)
Межведомственная 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интеграция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ранняя
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традиц</a:t>
            </a:r>
            <a:r>
              <a:rPr lang="ru-RU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ионных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отраслей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слабая</a:t>
            </a:r>
            <a:endParaRPr lang="en-US" sz="1000" dirty="0"/>
          </a:p>
        </p:txBody>
      </p:sp>
      <p:pic>
        <p:nvPicPr>
          <p:cNvPr id="36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III.2  •  Адаптация опыта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взять у каждой страны для Узбекистана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🇪🇪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097280" y="14356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ЭСТОНИЯ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170992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468880" y="1399032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ВЗЯТЬ: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X-Road </a:t>
            </a:r>
            <a:r>
              <a:rPr lang="en-US" sz="95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платформа межведомственного обмена данными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468880" y="1627632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Усиление канала фискальной трансмиссии, снижение административных издержек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468880" y="1856232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ОГРАНИЧЕНИЕ: </a:t>
            </a: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Прямой перенос невозможен: 1,3 vs 36 млн чел.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176272"/>
            <a:ext cx="8229600" cy="7772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267712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🇰🇷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9728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Р. КОРЕЯ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25603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СРЕДНЯЯ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468880" y="2249424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ВЗЯТЬ: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Привязка цифровых проектов к антикризисным бюджетным программам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68880" y="2478024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Принцип институционального дизайна, а не масштаб расходов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468880" y="2706624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ОГРАНИЧЕНИЕ: </a:t>
            </a: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Невозможно повторить </a:t>
            </a:r>
            <a:r>
              <a:rPr lang="en-US" sz="950" i="1" dirty="0" err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объём</a:t>
            </a: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ru-RU" sz="95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r>
              <a:rPr lang="en-US" sz="950" i="1" dirty="0" smtClean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трлн вон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026664"/>
            <a:ext cx="8229600" cy="7772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118104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🇵🇱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097280" y="31363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ПОЛЬША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97280" y="34107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468880" y="3099816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ВЗЯТЬ: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цифровизация малого и среднего бизнеса (mObywatel, FERC)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468880" y="3328416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Преодоление асимметрии: гос. сервисы ↔ частный сектор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468880" y="3557016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ОГРАНИЧЕНИЕ: </a:t>
            </a: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Финансирование через АБР, ЕБРР, ВБ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7200" y="3877056"/>
            <a:ext cx="8229600" cy="77724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68496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🇸🇬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097280" y="39867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СИНГАПУР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426110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НИЗКАЯ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68880" y="3950208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ВЗЯТЬ: </a:t>
            </a:r>
            <a:r>
              <a:rPr lang="en-US" sz="9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SingPass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цифровая идентификация и адресная фискальная помощь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468880" y="4178808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ЗАЧЕМ: </a:t>
            </a: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для крупных городов: Ташкент, Самарканд, Бухара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468880" y="4407408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ОГРАНИЧЕНИЕ: </a:t>
            </a: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Масштаб: 728 км² vs 448 000 км²</a:t>
            </a:r>
            <a:endParaRPr lang="en-US" sz="850" dirty="0"/>
          </a:p>
        </p:txBody>
      </p:sp>
      <p:pic>
        <p:nvPicPr>
          <p:cNvPr id="35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ГЛАВА III.3  •  Рекомендации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практических рекомендаций для РУз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621792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5880"/>
            <a:ext cx="54864" cy="62179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325880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188720" y="1380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Расширение интернет-проникновения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16550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Довести с 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8</a:t>
            </a:r>
            <a:r>
              <a:rPr lang="ru-RU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 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до 95% </a:t>
            </a:r>
            <a:r>
              <a:rPr lang="ru-RU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err="1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прогнозный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40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USD ВВП </a:t>
            </a:r>
            <a:r>
              <a:rPr lang="en-US" sz="1000" dirty="0" err="1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на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err="1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душу</a:t>
            </a:r>
            <a:r>
              <a:rPr lang="ru-RU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населения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</a:t>
            </a:r>
            <a:r>
              <a:rPr lang="ru-RU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1,4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err="1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млрд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USD</a:t>
            </a:r>
            <a:r>
              <a:rPr lang="ru-RU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7200" y="2002536"/>
            <a:ext cx="8229600" cy="621792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002536"/>
            <a:ext cx="54864" cy="62179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002536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188720" y="20574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250" b="1" dirty="0" err="1" smtClean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Цифровизация</a:t>
            </a:r>
            <a:r>
              <a:rPr lang="ru-RU" sz="1250" b="1" dirty="0" smtClean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частного сектора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88720" y="23317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Расширить IT Park на текстиль, АПК, </a:t>
            </a:r>
            <a:r>
              <a:rPr lang="en-US" sz="1000" dirty="0" err="1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горнодобычу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000" dirty="0" smtClean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не только экспортный IT-сектор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679192"/>
            <a:ext cx="8229600" cy="621792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679192"/>
            <a:ext cx="54864" cy="62179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679192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188720" y="273405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250" b="1" dirty="0" smtClean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Интеграция </a:t>
            </a:r>
            <a:r>
              <a:rPr lang="en-US" sz="1250" b="1" dirty="0" err="1" smtClean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MyID</a:t>
            </a:r>
            <a:r>
              <a:rPr lang="ru-RU" sz="1250" b="1" dirty="0" smtClean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и цифровые платежи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88720" y="3008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Интеграция MyID с межведомственными базами по модели Эстонии (X-Road) + цифровые платежи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3355848"/>
            <a:ext cx="8229600" cy="621792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355848"/>
            <a:ext cx="54864" cy="62179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" y="3355848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188720" y="341071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Учёт типа кризиса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188720" y="3685032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Цифровизация</a:t>
            </a:r>
            <a:r>
              <a:rPr lang="ru-RU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помогает при </a:t>
            </a:r>
            <a:r>
              <a:rPr lang="ru-RU" sz="1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пандемиях, </a:t>
            </a:r>
            <a:r>
              <a:rPr lang="ru-RU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но не заменяет политику </a:t>
            </a:r>
            <a:r>
              <a:rPr lang="ru-RU" sz="1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энергобезопасности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4032504"/>
            <a:ext cx="8229600" cy="621792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032504"/>
            <a:ext cx="54864" cy="621792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4032504"/>
            <a:ext cx="502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1188720" y="408736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Мониторинг и переоценка модели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188720" y="436168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ru-RU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Регулярная переоценка модели в рамках Стратегии «Цифровой Узбекистан </a:t>
            </a:r>
            <a:r>
              <a:rPr lang="en-US" sz="1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</a:t>
            </a:r>
            <a:r>
              <a:rPr lang="ru-RU" sz="1000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ru-RU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2030»</a:t>
            </a:r>
            <a:endParaRPr lang="en-US" sz="1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2" name="图片 1"/>
          <p:cNvPicPr/>
          <p:nvPr/>
        </p:nvPicPr>
        <p:blipFill>
          <a:blip r:embed="rId3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результаты исследования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955280" y="4846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023360" cy="15544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50876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636776"/>
            <a:ext cx="246888" cy="2468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Теоретический результат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2057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Систематизирована пятиканальная модель влияния цифровизации на устойчивость: гос. функции, фискальная трансмиссия, частный сектор, спрос, ИКТ-сектор.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325880"/>
            <a:ext cx="4023360" cy="15544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50876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636776"/>
            <a:ext cx="246888" cy="24688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0" y="14904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Сравнительный результат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4846320" y="20574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Эстония, </a:t>
            </a:r>
            <a:r>
              <a:rPr lang="ru-RU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Республика </a:t>
            </a:r>
            <a:r>
              <a:rPr lang="en-US" sz="1000" dirty="0" err="1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Корея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Сингапур и Польша показали более мягкую реакцию на пандемию 2020 г., но не на </a:t>
            </a:r>
            <a:r>
              <a:rPr lang="en-US" sz="100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геополитический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u-RU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кризис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57200" y="3017520"/>
            <a:ext cx="4023360" cy="15544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328416"/>
            <a:ext cx="246888" cy="24688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280160" y="31821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Эмпирический результат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40080" y="3749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 подтверждена: β = 0,212 (развитые), 0,309 (переходные), 0,198 (развивающиеся). H₂ </a:t>
            </a:r>
            <a:r>
              <a:rPr lang="en-US" sz="1000" dirty="0" smtClean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антикризисный буфер действует только в развитых странах (β_covid = 0,394; p = 0,003).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663440" y="3017520"/>
            <a:ext cx="4023360" cy="1554480"/>
          </a:xfrm>
          <a:prstGeom prst="rect">
            <a:avLst/>
          </a:prstGeom>
          <a:solidFill>
            <a:srgbClr val="FAF6EE"/>
          </a:solidFill>
          <a:ln w="6350">
            <a:solidFill>
              <a:srgbClr val="D6CFC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46320" y="3200400"/>
            <a:ext cx="502920" cy="502920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328416"/>
            <a:ext cx="246888" cy="24688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86400" y="318211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Прикладной результат для Узбекистана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846320" y="37490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Цифровизация уже работает как фактор роста (β = 0,198), но пока не выполняет функцию антикризисного стабилизатора. Сформирована поэтапная программа до 2030 г. и далее.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40080" y="44348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A88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ВЫВОД:  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связь цифровизации и устойчивости имеет пороговый </a:t>
            </a:r>
            <a:r>
              <a:rPr lang="en-US" sz="1000" i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характер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цифровые технологии становятся антикризисным стабилизатором лишь при достижении высокого уровня цифровой зрелости.</a:t>
            </a:r>
            <a:endParaRPr lang="en-US" sz="1000" dirty="0"/>
          </a:p>
        </p:txBody>
      </p:sp>
      <p:pic>
        <p:nvPicPr>
          <p:cNvPr id="29" name="图片 1"/>
          <p:cNvPicPr/>
          <p:nvPr/>
        </p:nvPicPr>
        <p:blipFill>
          <a:blip r:embed="rId7"/>
          <a:stretch>
            <a:fillRect/>
          </a:stretch>
        </p:blipFill>
        <p:spPr>
          <a:xfrm>
            <a:off x="8448675" y="292608"/>
            <a:ext cx="476250" cy="381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65760"/>
            <a:ext cx="1371600" cy="18288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365760"/>
            <a:ext cx="18288" cy="91440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06640" y="4741164"/>
            <a:ext cx="1371600" cy="18288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59952" y="3840480"/>
            <a:ext cx="18288" cy="914400"/>
          </a:xfrm>
          <a:prstGeom prst="rect">
            <a:avLst/>
          </a:prstGeom>
          <a:solidFill>
            <a:srgbClr val="A88B4A"/>
          </a:solidFill>
          <a:ln w="12700">
            <a:solidFill>
              <a:srgbClr val="A88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i="1" dirty="0">
                <a:solidFill>
                  <a:srgbClr val="C9A9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Благодарю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i="1" dirty="0">
                <a:solidFill>
                  <a:srgbClr val="F5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 внимание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3840480" y="3108960"/>
            <a:ext cx="1463040" cy="0"/>
          </a:xfrm>
          <a:prstGeom prst="line">
            <a:avLst/>
          </a:prstGeom>
          <a:noFill/>
          <a:ln w="19050">
            <a:solidFill>
              <a:srgbClr val="A88B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246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6364</TotalTime>
  <Words>1454</Words>
  <Application>Microsoft Office PowerPoint</Application>
  <PresentationFormat>Экран (16:9)</PresentationFormat>
  <Paragraphs>274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Cambria</vt:lpstr>
      <vt:lpstr>Cambria Math</vt:lpstr>
      <vt:lpstr>Courier New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Защита ВКР - Цифровизация экономики</dc:title>
  <dc:subject>PptxGenJS Presentation</dc:subject>
  <dc:creator>Уктамов Мухаммаджон Уткирович</dc:creator>
  <cp:lastModifiedBy>Muhammadjon</cp:lastModifiedBy>
  <cp:revision>41</cp:revision>
  <dcterms:created xsi:type="dcterms:W3CDTF">2026-06-05T22:06:12Z</dcterms:created>
  <dcterms:modified xsi:type="dcterms:W3CDTF">2026-06-22T09:48:00Z</dcterms:modified>
</cp:coreProperties>
</file>