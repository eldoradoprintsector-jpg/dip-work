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M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1" accent2="acc2" accent3="acc3" accent4="acc4" accent5="acc5" accent6="acc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A3A5C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7200000" y="-1440000"/>
            <a:ext cx="7920000" cy="7920000"/>
          </a:xfrm>
          <a:prstGeom prst="ellipse">
            <a:avLst/>
          </a:prstGeom>
          <a:solidFill>
            <a:srgbClr val="1565C0">
              <a:alpha val="18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7920000" y="3240000"/>
            <a:ext cx="4680000" cy="4680000"/>
          </a:xfrm>
          <a:prstGeom prst="ellipse">
            <a:avLst/>
          </a:prstGeom>
          <a:solidFill>
            <a:srgbClr val="00B4D8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0"/>
            <a:ext cx="216000" cy="6858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324000" y="3960000"/>
            <a:ext cx="5760000" cy="251999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900" b="1" i="0" dirty="0" smtClean="0">
                <a:solidFill>
                  <a:srgbClr val="00B4D8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324000" y="4266000"/>
            <a:ext cx="7200000" cy="36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p8"/>
          <p:cNvSpPr txBox="1"/>
          <p:nvPr/>
        </p:nvSpPr>
        <p:spPr bwMode="auto">
          <a:xfrm>
            <a:off x="324000" y="900000"/>
            <a:ext cx="7200000" cy="324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3000" b="1" i="0" dirty="0" smtClean="0">
                <a:solidFill>
                  <a:srgbClr val="FFFFFF"/>
                </a:solidFill>
                <a:latin typeface="Calibri"/>
              </a:rPr>
              <a:t>Цифровизация экономики</a:t>
            </a:r>
          </a:p>
          <a:p>
            <a:pPr algn="l">
              <a:spcBef>
                <a:spcPts val="400"/>
              </a:spcBef>
            </a:pPr>
            <a:r>
              <a:rPr lang="ru-RU" altLang="en-US" sz="2500" b="1" i="0" dirty="0" smtClean="0">
                <a:solidFill>
                  <a:srgbClr val="FFFFFF"/>
                </a:solidFill>
                <a:latin typeface="Calibri"/>
              </a:rPr>
              <a:t>и устойчивость стран</a:t>
            </a:r>
          </a:p>
          <a:p>
            <a:pPr algn="l">
              <a:spcBef>
                <a:spcPts val="400"/>
              </a:spcBef>
            </a:pPr>
            <a:r>
              <a:rPr lang="ru-RU" altLang="en-US" sz="2500" b="1" i="0" dirty="0" smtClean="0">
                <a:solidFill>
                  <a:srgbClr val="FFFFFF"/>
                </a:solidFill>
                <a:latin typeface="Calibri"/>
              </a:rPr>
              <a:t>к глобальным кризисам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324000" y="4356000"/>
            <a:ext cx="7920000" cy="19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Выпускная квалификационная работа</a:t>
            </a:r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Уктамов Мухаммаджон</a:t>
            </a:r>
          </a:p>
          <a:p>
            <a:pPr>
              <a:spcBef>
                <a:spcPts val="300"/>
              </a:spcBef>
            </a:pPr>
            <a:endParaRPr lang="ru-RU" dirty="0"/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Направление: Экономика</a:t>
            </a:r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Год защиты: 2025</a:t>
            </a:r>
          </a:p>
        </p:txBody>
      </p:sp>
      <p:sp>
        <p:nvSpPr>
          <p:cNvPr id="10" name="sp10"/>
          <p:cNvSpPr txBox="1"/>
          <p:nvPr/>
        </p:nvSpPr>
        <p:spPr bwMode="auto">
          <a:xfrm>
            <a:off x="0" y="6444001"/>
            <a:ext cx="12192000" cy="413999"/>
          </a:xfrm>
          <a:prstGeom prst="rect">
            <a:avLst/>
          </a:prstGeom>
          <a:solidFill>
            <a:srgbClr val="1565C0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p11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1152000"/>
            <a:ext cx="79200" cy="5706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F0F4F8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Актуальность исследования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98000" y="1242000"/>
            <a:ext cx="11868000" cy="545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Три волны глобальных кризисов: 2008-2009, 2020-2021, 2022</a:t>
            </a:r>
          </a:p>
          <a:p>
            <a:pPr algn="l">
              <a:spcBef>
                <a:spcPts val="100"/>
              </a:spcBef>
            </a:pPr>
            <a:r>
              <a:rPr lang="ru-RU" altLang="en-US" sz="1300" b="0" i="0" dirty="0" smtClean="0">
                <a:solidFill>
                  <a:srgbClr val="546E7A"/>
                </a:solidFill>
                <a:latin typeface="Calibri"/>
              </a:rPr>
              <a:t>      Одинаковый внешний удар — но разная глубина спада в разных странах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Цифровизация как структурный фактор устойчивости экономики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COVID-19: цифровая инфраструктура обеспечила непрерывность государства и бизнеса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Энергетический шок 2022: обнажил пределы цифровой зрелости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Узбекистан реализует Стратегию «Цифровой Узбекистан - 2030»</a:t>
            </a:r>
          </a:p>
          <a:p>
            <a:pPr algn="l">
              <a:spcBef>
                <a:spcPts val="500"/>
              </a:spcBef>
            </a:pPr>
            <a:r>
              <a:rPr lang="ru-RU" altLang="en-US" sz="1400" b="0" i="0" dirty="0" smtClean="0">
                <a:solidFill>
                  <a:srgbClr val="E53935"/>
                </a:solidFill>
                <a:latin typeface="Calibri"/>
              </a:rPr>
              <a:t>⚠  ⚠ Центральный вопрос: через какие каналы цифровизация влияет на устойчивость?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Объект, предмет и цель исследования</a:t>
            </a:r>
          </a:p>
        </p:txBody>
      </p:sp>
      <p:sp>
        <p:nvSpPr>
          <p:cNvPr id="6" name="sp6"/>
          <p:cNvSpPr txBox="1"/>
          <p:nvPr/>
        </p:nvSpPr>
        <p:spPr bwMode="auto">
          <a:xfrm>
            <a:off x="144000" y="1278000"/>
            <a:ext cx="5436000" cy="545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0E0EF"/>
            </a:solidFill>
          </a:ln>
        </p:spPr>
        <p:txBody>
          <a:bodyPr/>
          <a:lstStyle/>
          <a:p/>
        </p:txBody>
      </p:sp>
      <p:sp>
        <p:nvSpPr>
          <p:cNvPr id="7" name="sp7"/>
          <p:cNvSpPr txBox="1"/>
          <p:nvPr/>
        </p:nvSpPr>
        <p:spPr bwMode="auto">
          <a:xfrm>
            <a:off x="144000" y="1278000"/>
            <a:ext cx="5436000" cy="39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0B4D8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8" name="sp8"/>
          <p:cNvSpPr txBox="1"/>
          <p:nvPr/>
        </p:nvSpPr>
        <p:spPr bwMode="auto">
          <a:xfrm>
            <a:off x="144000" y="1278000"/>
            <a:ext cx="5436000" cy="396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1400" b="1" i="0" dirty="0" smtClean="0">
                <a:solidFill>
                  <a:srgbClr val="FFFFFF"/>
                </a:solidFill>
                <a:latin typeface="Calibri"/>
              </a:rPr>
              <a:t>Объект и предмет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234000" y="1728000"/>
            <a:ext cx="5256000" cy="491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Объект: процесс цифровой трансформации национальных экономик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Предмет: механизмы влияния цифровых технологий на макроэкономическую устойчивость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Период: глобальные кризисы 2020-2022 годов</a:t>
            </a:r>
          </a:p>
        </p:txBody>
      </p:sp>
      <p:sp>
        <p:nvSpPr>
          <p:cNvPr id="10" name="sp10"/>
          <p:cNvSpPr txBox="1"/>
          <p:nvPr/>
        </p:nvSpPr>
        <p:spPr bwMode="auto">
          <a:xfrm>
            <a:off x="6300000" y="1278000"/>
            <a:ext cx="5436000" cy="545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0E0EF"/>
            </a:solidFill>
          </a:ln>
        </p:spPr>
        <p:txBody>
          <a:bodyPr/>
          <a:lstStyle/>
          <a:p/>
        </p:txBody>
      </p:sp>
      <p:sp>
        <p:nvSpPr>
          <p:cNvPr id="11" name="sp11"/>
          <p:cNvSpPr txBox="1"/>
          <p:nvPr/>
        </p:nvSpPr>
        <p:spPr bwMode="auto">
          <a:xfrm>
            <a:off x="6300000" y="1278000"/>
            <a:ext cx="5436000" cy="39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2" name="sp12"/>
          <p:cNvSpPr txBox="1"/>
          <p:nvPr/>
        </p:nvSpPr>
        <p:spPr bwMode="auto">
          <a:xfrm>
            <a:off x="6300000" y="1278000"/>
            <a:ext cx="5436000" cy="396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1400" b="1" i="0" dirty="0" smtClean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13" name="sp13"/>
          <p:cNvSpPr txBox="1"/>
          <p:nvPr/>
        </p:nvSpPr>
        <p:spPr bwMode="auto">
          <a:xfrm>
            <a:off x="6390000" y="1728000"/>
            <a:ext cx="5256000" cy="491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Цель: выявить и эмпирически обосновать каналы влияния цифровизации на устойчивость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Систематизировать теоретические подходы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Сравнительный анализ 4 стран-лидеров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Эконометрическая оценка на 49 странах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Разработать рекомендации для Узбекистана</a:t>
            </a:r>
          </a:p>
        </p:txBody>
      </p:sp>
      <p:sp>
        <p:nvSpPr>
          <p:cNvPr id="14" name="sp14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1152000"/>
            <a:ext cx="79200" cy="5706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F0F4F8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Теоретическая рамка: 5 каналов влияния цифровизации на устойчивость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98000" y="1242000"/>
            <a:ext cx="11868000" cy="545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Канал 1 - Непрерывность государственных функций в условиях шоков</a:t>
            </a:r>
          </a:p>
          <a:p>
            <a:pPr algn="l">
              <a:spcBef>
                <a:spcPts val="100"/>
              </a:spcBef>
            </a:pPr>
            <a:r>
              <a:rPr lang="ru-RU" altLang="en-US" sz="1300" b="0" i="0" dirty="0" smtClean="0">
                <a:solidFill>
                  <a:srgbClr val="546E7A"/>
                </a:solidFill>
                <a:latin typeface="Calibri"/>
              </a:rPr>
              <a:t>      e-Government, электронная идентификация, межведомственный обмен данными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Канал 2 - Эффективность фискальной трансмиссии</a:t>
            </a:r>
          </a:p>
          <a:p>
            <a:pPr algn="l">
              <a:spcBef>
                <a:spcPts val="100"/>
              </a:spcBef>
            </a:pPr>
            <a:r>
              <a:rPr lang="ru-RU" altLang="en-US" sz="1300" b="0" i="0" dirty="0" smtClean="0">
                <a:solidFill>
                  <a:srgbClr val="546E7A"/>
                </a:solidFill>
                <a:latin typeface="Calibri"/>
              </a:rPr>
              <a:t>      Цифровые платежи -&gt; адресные выплаты населению в реальном времени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Канал 3 - Адаптация частного сектора через цифровые технологии</a:t>
            </a:r>
          </a:p>
          <a:p>
            <a:pPr algn="l">
              <a:spcBef>
                <a:spcPts val="100"/>
              </a:spcBef>
            </a:pPr>
            <a:r>
              <a:rPr lang="ru-RU" altLang="en-US" sz="1300" b="0" i="0" dirty="0" smtClean="0">
                <a:solidFill>
                  <a:srgbClr val="546E7A"/>
                </a:solidFill>
                <a:latin typeface="Calibri"/>
              </a:rPr>
              <a:t>      Цифровые фирмы показывают меньшее падение выручки в кризис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Канал 4 - Структурный сдвиг спроса к цифровым услугам и e-commerce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Канал 5 - Устойчивость ИКТ-сектора как отдельного компонента ВВП</a:t>
            </a:r>
          </a:p>
          <a:p>
            <a:pPr algn="l">
              <a:spcBef>
                <a:spcPts val="100"/>
              </a:spcBef>
            </a:pPr>
            <a:r>
              <a:rPr lang="ru-RU" altLang="en-US" sz="1300" b="0" i="0" dirty="0" smtClean="0">
                <a:solidFill>
                  <a:srgbClr val="546E7A"/>
                </a:solidFill>
                <a:latin typeface="Calibri"/>
              </a:rPr>
              <a:t>      ИКТ-сектор ОЭСР: рост даже в кризисном 2020 году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Четыре модели цифровой трансформации: позиции в рейтингах 2024</a:t>
            </a:r>
          </a:p>
        </p:txBody>
      </p:sp>
      <p:sp>
        <p:nvSpPr>
          <p:cNvPr id="6" name="sp6"/>
          <p:cNvSpPr txBox="1"/>
          <p:nvPr/>
        </p:nvSpPr>
        <p:spPr bwMode="auto">
          <a:xfrm>
            <a:off x="144000" y="1314000"/>
            <a:ext cx="2868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D1B2A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7" name="sp7"/>
          <p:cNvSpPr txBox="1"/>
          <p:nvPr/>
        </p:nvSpPr>
        <p:spPr bwMode="auto">
          <a:xfrm>
            <a:off x="144000" y="1494000"/>
            <a:ext cx="2868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#3 EGDI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98000" y="2502000"/>
            <a:ext cx="276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Эстония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X-Road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e-Residency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3156000" y="1314000"/>
            <a:ext cx="2868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0" name="sp10"/>
          <p:cNvSpPr txBox="1"/>
          <p:nvPr/>
        </p:nvSpPr>
        <p:spPr bwMode="auto">
          <a:xfrm>
            <a:off x="3156000" y="1494000"/>
            <a:ext cx="2868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#2 NRI</a:t>
            </a:r>
          </a:p>
        </p:txBody>
      </p:sp>
      <p:sp>
        <p:nvSpPr>
          <p:cNvPr id="11" name="sp11"/>
          <p:cNvSpPr txBox="1"/>
          <p:nvPr/>
        </p:nvSpPr>
        <p:spPr bwMode="auto">
          <a:xfrm>
            <a:off x="3210000" y="2502000"/>
            <a:ext cx="276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Республика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Корея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Digital New Deal</a:t>
            </a:r>
          </a:p>
        </p:txBody>
      </p:sp>
      <p:sp>
        <p:nvSpPr>
          <p:cNvPr id="12" name="sp12"/>
          <p:cNvSpPr txBox="1"/>
          <p:nvPr/>
        </p:nvSpPr>
        <p:spPr bwMode="auto">
          <a:xfrm>
            <a:off x="6168000" y="1314000"/>
            <a:ext cx="2868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E4D92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3" name="sp13"/>
          <p:cNvSpPr txBox="1"/>
          <p:nvPr/>
        </p:nvSpPr>
        <p:spPr bwMode="auto">
          <a:xfrm>
            <a:off x="6168000" y="1494000"/>
            <a:ext cx="2868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#1 IMD</a:t>
            </a:r>
          </a:p>
        </p:txBody>
      </p:sp>
      <p:sp>
        <p:nvSpPr>
          <p:cNvPr id="14" name="sp14"/>
          <p:cNvSpPr txBox="1"/>
          <p:nvPr/>
        </p:nvSpPr>
        <p:spPr bwMode="auto">
          <a:xfrm>
            <a:off x="6222000" y="2502000"/>
            <a:ext cx="276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Сингапур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Smart Nation 2.0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ЦЭ = 17.3% ВВП</a:t>
            </a:r>
          </a:p>
        </p:txBody>
      </p:sp>
      <p:sp>
        <p:nvSpPr>
          <p:cNvPr id="15" name="sp15"/>
          <p:cNvSpPr txBox="1"/>
          <p:nvPr/>
        </p:nvSpPr>
        <p:spPr bwMode="auto">
          <a:xfrm>
            <a:off x="9180000" y="1314000"/>
            <a:ext cx="2868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E4D92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6" name="sp16"/>
          <p:cNvSpPr txBox="1"/>
          <p:nvPr/>
        </p:nvSpPr>
        <p:spPr bwMode="auto">
          <a:xfrm>
            <a:off x="9180000" y="1494000"/>
            <a:ext cx="2868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#24 DESI</a:t>
            </a:r>
          </a:p>
        </p:txBody>
      </p:sp>
      <p:sp>
        <p:nvSpPr>
          <p:cNvPr id="17" name="sp17"/>
          <p:cNvSpPr txBox="1"/>
          <p:nvPr/>
        </p:nvSpPr>
        <p:spPr bwMode="auto">
          <a:xfrm>
            <a:off x="9234000" y="2502000"/>
            <a:ext cx="2760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Польша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Догоняющая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модель</a:t>
            </a:r>
          </a:p>
        </p:txBody>
      </p:sp>
      <p:sp>
        <p:nvSpPr>
          <p:cNvPr id="18" name="sp18"/>
          <p:cNvSpPr txBox="1"/>
          <p:nvPr/>
        </p:nvSpPr>
        <p:spPr bwMode="auto">
          <a:xfrm>
            <a:off x="180000" y="6624000"/>
            <a:ext cx="11832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800" b="0" i="1" dirty="0" smtClean="0">
                <a:solidFill>
                  <a:srgbClr val="546E7A"/>
                </a:solidFill>
                <a:latin typeface="Calibri"/>
              </a:rPr>
              <a:t>Источники: UN DESA EGDI 2024; NRI 2024; IMD WDCR 2024; EC Digital Decade 2024</a:t>
            </a:r>
          </a:p>
        </p:txBody>
      </p:sp>
      <p:sp>
        <p:nvSpPr>
          <p:cNvPr id="19" name="sp19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Реакция экономик на COVID-шок 2020 года (% изменения реального ВВП)</a:t>
            </a:r>
          </a:p>
        </p:txBody>
      </p:sp>
      <p:sp>
        <p:nvSpPr>
          <p:cNvPr id="6" name="sp6"/>
          <p:cNvSpPr txBox="1"/>
          <p:nvPr/>
        </p:nvSpPr>
        <p:spPr bwMode="auto">
          <a:xfrm>
            <a:off x="144000" y="1314000"/>
            <a:ext cx="22656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D1B2A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7" name="sp7"/>
          <p:cNvSpPr txBox="1"/>
          <p:nvPr/>
        </p:nvSpPr>
        <p:spPr bwMode="auto">
          <a:xfrm>
            <a:off x="144000" y="1494000"/>
            <a:ext cx="22656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-0.7%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98000" y="2502000"/>
            <a:ext cx="21576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Республика Корея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Лучший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результат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2553600" y="1314000"/>
            <a:ext cx="22656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0" name="sp10"/>
          <p:cNvSpPr txBox="1"/>
          <p:nvPr/>
        </p:nvSpPr>
        <p:spPr bwMode="auto">
          <a:xfrm>
            <a:off x="2553600" y="1494000"/>
            <a:ext cx="22656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-2.0%</a:t>
            </a:r>
          </a:p>
        </p:txBody>
      </p:sp>
      <p:sp>
        <p:nvSpPr>
          <p:cNvPr id="11" name="sp11"/>
          <p:cNvSpPr txBox="1"/>
          <p:nvPr/>
        </p:nvSpPr>
        <p:spPr bwMode="auto">
          <a:xfrm>
            <a:off x="2607600" y="2502000"/>
            <a:ext cx="21576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Польша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Мягкое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падение</a:t>
            </a:r>
          </a:p>
        </p:txBody>
      </p:sp>
      <p:sp>
        <p:nvSpPr>
          <p:cNvPr id="12" name="sp12"/>
          <p:cNvSpPr txBox="1"/>
          <p:nvPr/>
        </p:nvSpPr>
        <p:spPr bwMode="auto">
          <a:xfrm>
            <a:off x="4963200" y="1314000"/>
            <a:ext cx="22656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E4D92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3" name="sp13"/>
          <p:cNvSpPr txBox="1"/>
          <p:nvPr/>
        </p:nvSpPr>
        <p:spPr bwMode="auto">
          <a:xfrm>
            <a:off x="4963200" y="1494000"/>
            <a:ext cx="22656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-3.0%</a:t>
            </a:r>
          </a:p>
        </p:txBody>
      </p:sp>
      <p:sp>
        <p:nvSpPr>
          <p:cNvPr id="14" name="sp14"/>
          <p:cNvSpPr txBox="1"/>
          <p:nvPr/>
        </p:nvSpPr>
        <p:spPr bwMode="auto">
          <a:xfrm>
            <a:off x="5017200" y="2502000"/>
            <a:ext cx="21576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Эстония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Ниже среднего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по ЕС</a:t>
            </a:r>
          </a:p>
        </p:txBody>
      </p:sp>
      <p:sp>
        <p:nvSpPr>
          <p:cNvPr id="15" name="sp15"/>
          <p:cNvSpPr txBox="1"/>
          <p:nvPr/>
        </p:nvSpPr>
        <p:spPr bwMode="auto">
          <a:xfrm>
            <a:off x="7372800" y="1314000"/>
            <a:ext cx="22656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E4D92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6" name="sp16"/>
          <p:cNvSpPr txBox="1"/>
          <p:nvPr/>
        </p:nvSpPr>
        <p:spPr bwMode="auto">
          <a:xfrm>
            <a:off x="7372800" y="1494000"/>
            <a:ext cx="22656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-3.9%</a:t>
            </a:r>
          </a:p>
        </p:txBody>
      </p:sp>
      <p:sp>
        <p:nvSpPr>
          <p:cNvPr id="17" name="sp17"/>
          <p:cNvSpPr txBox="1"/>
          <p:nvPr/>
        </p:nvSpPr>
        <p:spPr bwMode="auto">
          <a:xfrm>
            <a:off x="7426800" y="2502000"/>
            <a:ext cx="21576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Сингапур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Зависимость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от торговли</a:t>
            </a:r>
          </a:p>
        </p:txBody>
      </p:sp>
      <p:sp>
        <p:nvSpPr>
          <p:cNvPr id="18" name="sp18"/>
          <p:cNvSpPr txBox="1"/>
          <p:nvPr/>
        </p:nvSpPr>
        <p:spPr bwMode="auto">
          <a:xfrm>
            <a:off x="9782400" y="1314000"/>
            <a:ext cx="22656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A3A5C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9" name="sp19"/>
          <p:cNvSpPr txBox="1"/>
          <p:nvPr/>
        </p:nvSpPr>
        <p:spPr bwMode="auto">
          <a:xfrm>
            <a:off x="9782400" y="1494000"/>
            <a:ext cx="22656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-6.1%</a:t>
            </a:r>
          </a:p>
        </p:txBody>
      </p:sp>
      <p:sp>
        <p:nvSpPr>
          <p:cNvPr id="20" name="sp20"/>
          <p:cNvSpPr txBox="1"/>
          <p:nvPr/>
        </p:nvSpPr>
        <p:spPr bwMode="auto">
          <a:xfrm>
            <a:off x="9836400" y="2502000"/>
            <a:ext cx="21576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Среднее по ЕС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(эталон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сравнения)</a:t>
            </a:r>
          </a:p>
        </p:txBody>
      </p:sp>
      <p:sp>
        <p:nvSpPr>
          <p:cNvPr id="21" name="sp21"/>
          <p:cNvSpPr txBox="1"/>
          <p:nvPr/>
        </p:nvSpPr>
        <p:spPr bwMode="auto">
          <a:xfrm>
            <a:off x="180000" y="6624000"/>
            <a:ext cx="11832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800" b="0" i="1" dirty="0" smtClean="0">
                <a:solidFill>
                  <a:srgbClr val="546E7A"/>
                </a:solidFill>
                <a:latin typeface="Calibri"/>
              </a:rPr>
              <a:t>Источники: World Bank WDI; Eurostat; Bank of Korea, 2024</a:t>
            </a:r>
          </a:p>
        </p:txBody>
      </p:sp>
      <p:sp>
        <p:nvSpPr>
          <p:cNvPr id="22" name="sp22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A3A5C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288000" cy="6858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432000" y="540000"/>
            <a:ext cx="11580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5200" b="1" i="0" dirty="0" smtClean="0">
                <a:solidFill>
                  <a:srgbClr val="00B4D8"/>
                </a:solidFill>
                <a:latin typeface="Calibri"/>
              </a:rPr>
              <a:t>Глава II</a:t>
            </a:r>
          </a:p>
        </p:txBody>
      </p:sp>
      <p:sp>
        <p:nvSpPr>
          <p:cNvPr id="5" name="sp5"/>
          <p:cNvSpPr txBox="1"/>
          <p:nvPr/>
        </p:nvSpPr>
        <p:spPr bwMode="auto">
          <a:xfrm>
            <a:off x="1080000" y="2520000"/>
            <a:ext cx="10032000" cy="36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432000" y="2664000"/>
            <a:ext cx="11580000" cy="397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2000" b="0" i="0" dirty="0" smtClean="0">
                <a:solidFill>
                  <a:srgbClr val="FFFFFF"/>
                </a:solidFill>
                <a:latin typeface="Calibri"/>
              </a:rPr>
              <a:t>Эконометрический анализ</a:t>
            </a:r>
          </a:p>
          <a:p>
            <a:pPr algn="ctr"/>
            <a:r>
              <a:rPr lang="ru-RU" altLang="en-US" sz="2000" b="0" i="0" dirty="0" smtClean="0">
                <a:solidFill>
                  <a:srgbClr val="FFFFFF"/>
                </a:solidFill>
                <a:latin typeface="Calibri"/>
              </a:rPr>
              <a:t>49 стран  |  707 наблюдений  |  2010-2024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1152000"/>
            <a:ext cx="79200" cy="5706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F0F4F8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Эконометрическая модель: методология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98000" y="1242000"/>
            <a:ext cx="11868000" cy="545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Выборка: 49 стран, несбалансированная панель 2010-2024 гг., 707 наблюдений</a:t>
            </a:r>
          </a:p>
          <a:p>
            <a:pPr algn="l">
              <a:spcBef>
                <a:spcPts val="100"/>
              </a:spcBef>
            </a:pPr>
            <a:r>
              <a:rPr lang="ru-RU" altLang="en-US" sz="1300" b="0" i="0" dirty="0" smtClean="0">
                <a:solidFill>
                  <a:srgbClr val="546E7A"/>
                </a:solidFill>
                <a:latin typeface="Calibri"/>
              </a:rPr>
              <a:t>      Развитые ОЭСР (22 страны)  |  Переходные (16)  |  Развивающиеся (11, вкл. Узбекистан)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Зависимая переменная: ln(ВВП на душу населения, постоянные цены 2015 г.)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Основной регрессор: ln(доля интернет-пользователей, %)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Контрольные: торговая открытость, качество институтов (WGI), норма накопления капитала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Метод: модели с фиксированными эффектами (FE) + робастные S.E. по кластерам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Тест Чоу: F=5.34, p=1.15e-11 - структурная неоднородность групп подтверждена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Результаты FE-моделей: коэффициент при ln(интернет-проникновение)</a:t>
            </a:r>
          </a:p>
        </p:txBody>
      </p:sp>
      <p:sp>
        <p:nvSpPr>
          <p:cNvPr id="6" name="sp6"/>
          <p:cNvSpPr txBox="1"/>
          <p:nvPr/>
        </p:nvSpPr>
        <p:spPr bwMode="auto">
          <a:xfrm>
            <a:off x="144000" y="1314000"/>
            <a:ext cx="3872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D1B2A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7" name="sp7"/>
          <p:cNvSpPr txBox="1"/>
          <p:nvPr/>
        </p:nvSpPr>
        <p:spPr bwMode="auto">
          <a:xfrm>
            <a:off x="144000" y="1494000"/>
            <a:ext cx="3872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b=0.197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98000" y="2502000"/>
            <a:ext cx="3764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Развитые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экономики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(p&lt;0.001)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+COVID: b=0.394***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+Геополит.: b=0.289**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4160000" y="1314000"/>
            <a:ext cx="3872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0" name="sp10"/>
          <p:cNvSpPr txBox="1"/>
          <p:nvPr/>
        </p:nvSpPr>
        <p:spPr bwMode="auto">
          <a:xfrm>
            <a:off x="4160000" y="1494000"/>
            <a:ext cx="3872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b=0.309</a:t>
            </a:r>
          </a:p>
        </p:txBody>
      </p:sp>
      <p:sp>
        <p:nvSpPr>
          <p:cNvPr id="11" name="sp11"/>
          <p:cNvSpPr txBox="1"/>
          <p:nvPr/>
        </p:nvSpPr>
        <p:spPr bwMode="auto">
          <a:xfrm>
            <a:off x="4214000" y="2502000"/>
            <a:ext cx="3764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Переходные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экономики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(p&lt;0.001)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Наибольший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эффект</a:t>
            </a:r>
          </a:p>
        </p:txBody>
      </p:sp>
      <p:sp>
        <p:nvSpPr>
          <p:cNvPr id="12" name="sp12"/>
          <p:cNvSpPr txBox="1"/>
          <p:nvPr/>
        </p:nvSpPr>
        <p:spPr bwMode="auto">
          <a:xfrm>
            <a:off x="8176000" y="1314000"/>
            <a:ext cx="3872000" cy="534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E4D92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3" name="sp13"/>
          <p:cNvSpPr txBox="1"/>
          <p:nvPr/>
        </p:nvSpPr>
        <p:spPr bwMode="auto">
          <a:xfrm>
            <a:off x="8176000" y="1494000"/>
            <a:ext cx="3872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3200" b="1" i="0" dirty="0" smtClean="0">
                <a:solidFill>
                  <a:srgbClr val="FFC300"/>
                </a:solidFill>
                <a:latin typeface="Calibri"/>
              </a:rPr>
              <a:t>b=0.198</a:t>
            </a:r>
          </a:p>
        </p:txBody>
      </p:sp>
      <p:sp>
        <p:nvSpPr>
          <p:cNvPr id="14" name="sp14"/>
          <p:cNvSpPr txBox="1"/>
          <p:nvPr/>
        </p:nvSpPr>
        <p:spPr bwMode="auto">
          <a:xfrm>
            <a:off x="8230000" y="2502000"/>
            <a:ext cx="3764000" cy="405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Развивающиеся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(вкл. Узбекистан)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(p&lt;0.001)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Кризисные члены</a:t>
            </a:r>
          </a:p>
          <a:p>
            <a:pPr algn="ctr"/>
            <a:r>
              <a:rPr lang="ru-RU" altLang="en-US" sz="1100" b="0" i="0" dirty="0" smtClean="0">
                <a:solidFill>
                  <a:srgbClr val="FFFFFF"/>
                </a:solidFill>
                <a:latin typeface="Calibri"/>
              </a:rPr>
              <a:t>незначимы</a:t>
            </a:r>
          </a:p>
        </p:txBody>
      </p:sp>
      <p:sp>
        <p:nvSpPr>
          <p:cNvPr id="15" name="sp15"/>
          <p:cNvSpPr txBox="1"/>
          <p:nvPr/>
        </p:nvSpPr>
        <p:spPr bwMode="auto">
          <a:xfrm>
            <a:off x="180000" y="6624000"/>
            <a:ext cx="11832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800" b="0" i="1" dirty="0" smtClean="0">
                <a:solidFill>
                  <a:srgbClr val="546E7A"/>
                </a:solidFill>
                <a:latin typeface="Calibri"/>
              </a:rPr>
              <a:t>Гипотеза H1 подтверждена во всех трёх группах. Источник: расчёты автора, R Studio.</a:t>
            </a:r>
          </a:p>
        </p:txBody>
      </p:sp>
      <p:sp>
        <p:nvSpPr>
          <p:cNvPr id="16" name="sp16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A3A5C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288000" cy="6858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432000" y="540000"/>
            <a:ext cx="11580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5200" b="1" i="0" dirty="0" smtClean="0">
                <a:solidFill>
                  <a:srgbClr val="00B4D8"/>
                </a:solidFill>
                <a:latin typeface="Calibri"/>
              </a:rPr>
              <a:t>Глава III</a:t>
            </a:r>
          </a:p>
        </p:txBody>
      </p:sp>
      <p:sp>
        <p:nvSpPr>
          <p:cNvPr id="5" name="sp5"/>
          <p:cNvSpPr txBox="1"/>
          <p:nvPr/>
        </p:nvSpPr>
        <p:spPr bwMode="auto">
          <a:xfrm>
            <a:off x="1080000" y="2520000"/>
            <a:ext cx="10032000" cy="36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432000" y="2664000"/>
            <a:ext cx="11580000" cy="397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ctr"/>
            <a:r>
              <a:rPr lang="ru-RU" altLang="en-US" sz="2000" b="0" i="0" dirty="0" smtClean="0">
                <a:solidFill>
                  <a:srgbClr val="FFFFFF"/>
                </a:solidFill>
                <a:latin typeface="Calibri"/>
              </a:rPr>
              <a:t>Цифровая трансформация Узбекистана</a:t>
            </a:r>
          </a:p>
          <a:p>
            <a:pPr algn="ctr"/>
            <a:r>
              <a:rPr lang="ru-RU" altLang="en-US" sz="2000" b="0" i="0" dirty="0" smtClean="0">
                <a:solidFill>
                  <a:srgbClr val="FFFFFF"/>
                </a:solidFill>
                <a:latin typeface="Calibri"/>
              </a:rPr>
              <a:t>и практические рекомендации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1152000"/>
            <a:ext cx="79200" cy="5706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F0F4F8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Цифровая трансформация Узбекистана: текущее состояние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98000" y="1242000"/>
            <a:ext cx="11868000" cy="545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Стратегия «Цифровой Узбекистан - 2030» (Указ No УП-6079, октябрь 2020 г.)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E-Government индекс ООН 2024: значительный рост позиций страны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IT Park Узбекистана: более 2 500 компаний-резидентов к концу 2024 г.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Быстрый рост безналичных платежей, e-commerce и цифровых госсервисов</a:t>
            </a:r>
          </a:p>
          <a:p>
            <a:pPr algn="l">
              <a:spcBef>
                <a:spcPts val="500"/>
              </a:spcBef>
            </a:pPr>
            <a:r>
              <a:rPr lang="ru-RU" altLang="en-US" sz="1400" b="0" i="0" dirty="0" smtClean="0">
                <a:solidFill>
                  <a:srgbClr val="E53935"/>
                </a:solidFill>
                <a:latin typeface="Calibri"/>
              </a:rPr>
              <a:t>⚠  ⚠ Асимметрия: цифровое государство опережает цифровой бизнес и население</a:t>
            </a:r>
          </a:p>
          <a:p>
            <a:pPr algn="l">
              <a:spcBef>
                <a:spcPts val="500"/>
              </a:spcBef>
            </a:pPr>
            <a:r>
              <a:rPr lang="ru-RU" altLang="en-US" sz="1400" b="0" i="0" dirty="0" smtClean="0">
                <a:solidFill>
                  <a:srgbClr val="E53935"/>
                </a:solidFill>
                <a:latin typeface="Calibri"/>
              </a:rPr>
              <a:t>⚠  ⚠ Региональный цифровой разрыв: столица vs. сельские районы</a:t>
            </a:r>
          </a:p>
          <a:p>
            <a:pPr algn="l">
              <a:spcBef>
                <a:spcPts val="500"/>
              </a:spcBef>
            </a:pPr>
            <a:r>
              <a:rPr lang="ru-RU" altLang="en-US" sz="1400" b="0" i="0" dirty="0" smtClean="0">
                <a:solidFill>
                  <a:srgbClr val="E53935"/>
                </a:solidFill>
                <a:latin typeface="Calibri"/>
              </a:rPr>
              <a:t>⚠  ⚠ Интернет-проникновение ~80% — необходим рост до 90%+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1152000"/>
            <a:ext cx="79200" cy="5706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F0F4F8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Практические рекомендации: 5 приоритетов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198000" y="1242000"/>
            <a:ext cx="11868000" cy="545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1. Расширить интернет-проникновение до 90%+ -&gt; прирост ВВП: +84-124 USD на чел./год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2. Устранить асимметрию цифровой зрелости: подтянуть бизнес и цифровые навыки населения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3. Развить инфраструктуру фискальной трансмиссии: интеграция MyID с адресными выплатами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4. Учитывать тип кризиса: пандемийный шок vs. энергетический/инфляционный шок</a:t>
            </a:r>
          </a:p>
          <a:p>
            <a:pPr algn="l">
              <a:spcBef>
                <a:spcPts val="700"/>
              </a:spcBef>
            </a:pPr>
            <a:r>
              <a:rPr lang="ru-RU" altLang="en-US" sz="1500" b="0" i="0" dirty="0" smtClean="0">
                <a:solidFill>
                  <a:srgbClr val="1A237E"/>
                </a:solidFill>
                <a:latin typeface="Calibri"/>
              </a:rPr>
              <a:t>▶  5. Накапливать данные для достижения статистической значимости кризисных эффектов</a:t>
            </a:r>
          </a:p>
        </p:txBody>
      </p:sp>
      <p:sp>
        <p:nvSpPr>
          <p:cNvPr id="8" name="sp8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Дорожная карта цифровой устойчивости Узбекистана до 2030 года</a:t>
            </a:r>
          </a:p>
        </p:txBody>
      </p:sp>
      <p:sp>
        <p:nvSpPr>
          <p:cNvPr id="6" name="sp6"/>
          <p:cNvSpPr txBox="1"/>
          <p:nvPr/>
        </p:nvSpPr>
        <p:spPr bwMode="auto">
          <a:xfrm>
            <a:off x="144000" y="1278000"/>
            <a:ext cx="5436000" cy="545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0E0EF"/>
            </a:solidFill>
          </a:ln>
        </p:spPr>
        <p:txBody>
          <a:bodyPr/>
          <a:lstStyle/>
          <a:p/>
        </p:txBody>
      </p:sp>
      <p:sp>
        <p:nvSpPr>
          <p:cNvPr id="7" name="sp7"/>
          <p:cNvSpPr txBox="1"/>
          <p:nvPr/>
        </p:nvSpPr>
        <p:spPr bwMode="auto">
          <a:xfrm>
            <a:off x="144000" y="1278000"/>
            <a:ext cx="5436000" cy="39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0B4D8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8" name="sp8"/>
          <p:cNvSpPr txBox="1"/>
          <p:nvPr/>
        </p:nvSpPr>
        <p:spPr bwMode="auto">
          <a:xfrm>
            <a:off x="144000" y="1278000"/>
            <a:ext cx="5436000" cy="396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1400" b="1" i="0" dirty="0" smtClean="0">
                <a:solidFill>
                  <a:srgbClr val="FFFFFF"/>
                </a:solidFill>
                <a:latin typeface="Calibri"/>
              </a:rPr>
              <a:t>Этап 1: 2025-2027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234000" y="1728000"/>
            <a:ext cx="5256000" cy="491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Инфраструктура фискальной трансмиссии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Интеграция MyID с системой адресных выплат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Расширение широкополосного доступа в регионах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Программы цифровых навыков для населения и МСП</a:t>
            </a:r>
          </a:p>
        </p:txBody>
      </p:sp>
      <p:sp>
        <p:nvSpPr>
          <p:cNvPr id="10" name="sp10"/>
          <p:cNvSpPr txBox="1"/>
          <p:nvPr/>
        </p:nvSpPr>
        <p:spPr bwMode="auto">
          <a:xfrm>
            <a:off x="6300000" y="1278000"/>
            <a:ext cx="5436000" cy="545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0E0EF"/>
            </a:solidFill>
          </a:ln>
        </p:spPr>
        <p:txBody>
          <a:bodyPr/>
          <a:lstStyle/>
          <a:p/>
        </p:txBody>
      </p:sp>
      <p:sp>
        <p:nvSpPr>
          <p:cNvPr id="11" name="sp11"/>
          <p:cNvSpPr txBox="1"/>
          <p:nvPr/>
        </p:nvSpPr>
        <p:spPr bwMode="auto">
          <a:xfrm>
            <a:off x="6300000" y="1278000"/>
            <a:ext cx="5436000" cy="39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2" name="sp12"/>
          <p:cNvSpPr txBox="1"/>
          <p:nvPr/>
        </p:nvSpPr>
        <p:spPr bwMode="auto">
          <a:xfrm>
            <a:off x="6300000" y="1278000"/>
            <a:ext cx="5436000" cy="396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1400" b="1" i="0" dirty="0" smtClean="0">
                <a:solidFill>
                  <a:srgbClr val="FFFFFF"/>
                </a:solidFill>
                <a:latin typeface="Calibri"/>
              </a:rPr>
              <a:t>Этап 2: 2027-2030+</a:t>
            </a:r>
          </a:p>
        </p:txBody>
      </p:sp>
      <p:sp>
        <p:nvSpPr>
          <p:cNvPr id="13" name="sp13"/>
          <p:cNvSpPr txBox="1"/>
          <p:nvPr/>
        </p:nvSpPr>
        <p:spPr bwMode="auto">
          <a:xfrm>
            <a:off x="6390000" y="1728000"/>
            <a:ext cx="5256000" cy="491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Устранение разрыва: цифровой бизнес = цифровое государство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Достижение «порога» антикризисной цифровой зрелости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Значимые кризисные эффекты в будущих эконометрических моделях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Адаптация элементов X-Road к масштабу Узбекистана</a:t>
            </a:r>
          </a:p>
        </p:txBody>
      </p:sp>
      <p:sp>
        <p:nvSpPr>
          <p:cNvPr id="14" name="sp14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0" y="0"/>
            <a:ext cx="12192000" cy="1152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0" y="1134000"/>
            <a:ext cx="12192000" cy="43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251999" y="54000"/>
            <a:ext cx="11760000" cy="10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ru-RU" altLang="en-US" sz="2200" b="1" i="0" dirty="0" smtClean="0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6" name="sp6"/>
          <p:cNvSpPr txBox="1"/>
          <p:nvPr/>
        </p:nvSpPr>
        <p:spPr bwMode="auto">
          <a:xfrm>
            <a:off x="144000" y="1278000"/>
            <a:ext cx="5436000" cy="545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0E0EF"/>
            </a:solidFill>
          </a:ln>
        </p:spPr>
        <p:txBody>
          <a:bodyPr/>
          <a:lstStyle/>
          <a:p/>
        </p:txBody>
      </p:sp>
      <p:sp>
        <p:nvSpPr>
          <p:cNvPr id="7" name="sp7"/>
          <p:cNvSpPr txBox="1"/>
          <p:nvPr/>
        </p:nvSpPr>
        <p:spPr bwMode="auto">
          <a:xfrm>
            <a:off x="144000" y="1278000"/>
            <a:ext cx="5436000" cy="39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1565C0"/>
                </a:solidFill>
              </a:gs>
              <a:gs pos="100000">
                <a:solidFill>
                  <a:srgbClr val="00B4D8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8" name="sp8"/>
          <p:cNvSpPr txBox="1"/>
          <p:nvPr/>
        </p:nvSpPr>
        <p:spPr bwMode="auto">
          <a:xfrm>
            <a:off x="144000" y="1278000"/>
            <a:ext cx="5436000" cy="396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1400" b="1" i="0" dirty="0" smtClean="0">
                <a:solidFill>
                  <a:srgbClr val="FFFFFF"/>
                </a:solidFill>
                <a:latin typeface="Calibri"/>
              </a:rPr>
              <a:t>Научная новизна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234000" y="1728000"/>
            <a:ext cx="5256000" cy="491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Систематизирована пятиканальная модель влияния цифровизации на устойчивость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Эмпирически подтверждена структурная неоднородность эффекта (тест Чоу)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Выявлен «порог» цифровой зрелости для значимого антикризисного эффекта</a:t>
            </a:r>
          </a:p>
        </p:txBody>
      </p:sp>
      <p:sp>
        <p:nvSpPr>
          <p:cNvPr id="10" name="sp10"/>
          <p:cNvSpPr txBox="1"/>
          <p:nvPr/>
        </p:nvSpPr>
        <p:spPr bwMode="auto">
          <a:xfrm>
            <a:off x="6300000" y="1278000"/>
            <a:ext cx="5436000" cy="545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0E0EF"/>
            </a:solidFill>
          </a:ln>
        </p:spPr>
        <p:txBody>
          <a:bodyPr/>
          <a:lstStyle/>
          <a:p/>
        </p:txBody>
      </p:sp>
      <p:sp>
        <p:nvSpPr>
          <p:cNvPr id="11" name="sp11"/>
          <p:cNvSpPr txBox="1"/>
          <p:nvPr/>
        </p:nvSpPr>
        <p:spPr bwMode="auto">
          <a:xfrm>
            <a:off x="6300000" y="1278000"/>
            <a:ext cx="5436000" cy="396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12" name="sp12"/>
          <p:cNvSpPr txBox="1"/>
          <p:nvPr/>
        </p:nvSpPr>
        <p:spPr bwMode="auto">
          <a:xfrm>
            <a:off x="6300000" y="1278000"/>
            <a:ext cx="5436000" cy="396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altLang="en-US" sz="1400" b="1" i="0" dirty="0" smtClean="0">
                <a:solidFill>
                  <a:srgbClr val="FFFFFF"/>
                </a:solidFill>
                <a:latin typeface="Calibri"/>
              </a:rPr>
              <a:t>Практическая значимость</a:t>
            </a:r>
          </a:p>
        </p:txBody>
      </p:sp>
      <p:sp>
        <p:nvSpPr>
          <p:cNvPr id="13" name="sp13"/>
          <p:cNvSpPr txBox="1"/>
          <p:nvPr/>
        </p:nvSpPr>
        <p:spPr bwMode="auto">
          <a:xfrm>
            <a:off x="6390000" y="1728000"/>
            <a:ext cx="5256000" cy="4914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Рекомендации для уточнения Стратегии «Цифровой Узбекистан - 2030»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Методика адаптации опыта Эстонии, Кореи, Польши к условиям Узбекистана</a:t>
            </a:r>
          </a:p>
          <a:p>
            <a:pPr algn="l">
              <a:spcBef>
                <a:spcPts val="500"/>
              </a:spcBef>
            </a:pPr>
            <a:r>
              <a:rPr lang="ru-RU" altLang="en-US" sz="1300" b="0" i="0" dirty="0" smtClean="0">
                <a:solidFill>
                  <a:srgbClr val="1A237E"/>
                </a:solidFill>
                <a:latin typeface="Calibri"/>
              </a:rPr>
              <a:t>▶  Прогнозные сценарии ВВП на душу населения до 2030 года</a:t>
            </a:r>
          </a:p>
        </p:txBody>
      </p:sp>
      <p:sp>
        <p:nvSpPr>
          <p:cNvPr id="14" name="sp14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1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p2"/>
          <p:cNvSpPr txBox="1"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olidFill>
                  <a:srgbClr val="0D1B2A"/>
                </a:solidFill>
              </a:gs>
              <a:gs pos="100000">
                <a:solidFill>
                  <a:srgbClr val="1A3A5C"/>
                </a:solidFill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p3"/>
          <p:cNvSpPr txBox="1"/>
          <p:nvPr/>
        </p:nvSpPr>
        <p:spPr bwMode="auto">
          <a:xfrm>
            <a:off x="7200000" y="-1440000"/>
            <a:ext cx="7920000" cy="7920000"/>
          </a:xfrm>
          <a:prstGeom prst="ellipse">
            <a:avLst/>
          </a:prstGeom>
          <a:solidFill>
            <a:srgbClr val="1565C0">
              <a:alpha val="18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p4"/>
          <p:cNvSpPr txBox="1"/>
          <p:nvPr/>
        </p:nvSpPr>
        <p:spPr bwMode="auto">
          <a:xfrm>
            <a:off x="7920000" y="3240000"/>
            <a:ext cx="4680000" cy="4680000"/>
          </a:xfrm>
          <a:prstGeom prst="ellipse">
            <a:avLst/>
          </a:prstGeom>
          <a:solidFill>
            <a:srgbClr val="00B4D8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 txBox="1"/>
          <p:nvPr/>
        </p:nvSpPr>
        <p:spPr bwMode="auto">
          <a:xfrm>
            <a:off x="0" y="0"/>
            <a:ext cx="216000" cy="6858000"/>
          </a:xfrm>
          <a:prstGeom prst="rect">
            <a:avLst/>
          </a:prstGeom>
          <a:gradFill rotWithShape="1">
            <a:gsLst>
              <a:gs pos="0">
                <a:solidFill>
                  <a:srgbClr val="00B4D8"/>
                </a:solidFill>
              </a:gs>
              <a:gs pos="100000">
                <a:solidFill>
                  <a:srgbClr val="1565C0"/>
                </a:solidFill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6" name="sp6"/>
          <p:cNvSpPr txBox="1"/>
          <p:nvPr/>
        </p:nvSpPr>
        <p:spPr bwMode="auto">
          <a:xfrm>
            <a:off x="324000" y="3960000"/>
            <a:ext cx="5760000" cy="251999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900" b="1" i="0" dirty="0" smtClean="0">
                <a:solidFill>
                  <a:srgbClr val="00B4D8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sp7"/>
          <p:cNvSpPr txBox="1"/>
          <p:nvPr/>
        </p:nvSpPr>
        <p:spPr bwMode="auto">
          <a:xfrm>
            <a:off x="324000" y="4266000"/>
            <a:ext cx="7200000" cy="36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p8"/>
          <p:cNvSpPr txBox="1"/>
          <p:nvPr/>
        </p:nvSpPr>
        <p:spPr bwMode="auto">
          <a:xfrm>
            <a:off x="324000" y="900000"/>
            <a:ext cx="7200000" cy="324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3000" b="1" i="0" dirty="0" smtClean="0">
                <a:solidFill>
                  <a:srgbClr val="FFFFFF"/>
                </a:solidFill>
                <a:latin typeface="Calibri"/>
              </a:rPr>
              <a:t>Основные выводы</a:t>
            </a:r>
          </a:p>
        </p:txBody>
      </p:sp>
      <p:sp>
        <p:nvSpPr>
          <p:cNvPr id="9" name="sp9"/>
          <p:cNvSpPr txBox="1"/>
          <p:nvPr/>
        </p:nvSpPr>
        <p:spPr bwMode="auto">
          <a:xfrm>
            <a:off x="324000" y="4356000"/>
            <a:ext cx="7920000" cy="19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H1 подтверждена: цифровизация значимо связана с ВВП во всех трёх группах (b=0.20-0.31)</a:t>
            </a:r>
          </a:p>
          <a:p>
            <a:pPr>
              <a:spcBef>
                <a:spcPts val="300"/>
              </a:spcBef>
            </a:pPr>
            <a:endParaRPr lang="ru-RU" dirty="0"/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Антикризисный эффект значим только при высокой цифровой зрелости</a:t>
            </a:r>
          </a:p>
          <a:p>
            <a:pPr>
              <a:spcBef>
                <a:spcPts val="300"/>
              </a:spcBef>
            </a:pPr>
            <a:endParaRPr lang="ru-RU" dirty="0"/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Для Узбекистана: последовательная реализация Стратегии «Цифровой Узбекистан - 2030»</a:t>
            </a:r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является необходимым условием перехода от роста к устойчивости</a:t>
            </a:r>
          </a:p>
          <a:p>
            <a:pPr>
              <a:spcBef>
                <a:spcPts val="300"/>
              </a:spcBef>
            </a:pPr>
            <a:endParaRPr lang="ru-RU" dirty="0"/>
          </a:p>
          <a:p>
            <a:pPr algn="l"/>
            <a:r>
              <a:rPr lang="ru-RU" altLang="en-US" sz="1300" b="0" i="0" dirty="0" smtClean="0">
                <a:solidFill>
                  <a:srgbClr val="90E0EF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10" name="sp10"/>
          <p:cNvSpPr txBox="1"/>
          <p:nvPr/>
        </p:nvSpPr>
        <p:spPr bwMode="auto">
          <a:xfrm>
            <a:off x="0" y="6444001"/>
            <a:ext cx="12192000" cy="413999"/>
          </a:xfrm>
          <a:prstGeom prst="rect">
            <a:avLst/>
          </a:prstGeom>
          <a:solidFill>
            <a:srgbClr val="1565C0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p11"/>
          <p:cNvSpPr txBox="1"/>
          <p:nvPr/>
        </p:nvSpPr>
        <p:spPr bwMode="auto">
          <a:xfrm>
            <a:off x="10932000" y="6606001"/>
            <a:ext cx="1152000" cy="198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/>
            <a:r>
              <a:rPr lang="ru-RU" altLang="en-US" sz="900" b="0" i="0" dirty="0" smtClean="0">
                <a:solidFill>
                  <a:srgbClr val="546E7A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