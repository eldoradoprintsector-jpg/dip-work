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1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M1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1" accent2="acc2" accent3="acc3" accent4="acc4" accent5="acc5" accent6="acc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Grad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A3A5C"/>
              </a:gs>
            </a:gsLst>
            <a:lin ang="162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" name="Circle"/>
          <p:cNvSpPr txBox="1">
            <a:spLocks noGrp="1"/>
          </p:cNvSpPr>
          <p:nvPr/>
        </p:nvSpPr>
        <p:spPr>
          <a:xfrm>
            <a:off x="6660000" y="-1440000"/>
            <a:ext cx="7920000" cy="7920000"/>
          </a:xfrm>
          <a:prstGeom prst="ellipse">
            <a:avLst/>
          </a:prstGeom>
          <a:solidFill>
            <a:srgbClr val="1565C0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Circle2"/>
          <p:cNvSpPr txBox="1">
            <a:spLocks noGrp="1"/>
          </p:cNvSpPr>
          <p:nvPr/>
        </p:nvSpPr>
        <p:spPr>
          <a:xfrm>
            <a:off x="7200000" y="2880000"/>
            <a:ext cx="5040000" cy="5040000"/>
          </a:xfrm>
          <a:prstGeom prst="ellipse">
            <a:avLst/>
          </a:prstGeom>
          <a:solidFill>
            <a:srgbClr val="00B4D8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Bar"/>
          <p:cNvSpPr txBox="1">
            <a:spLocks noGrp="1"/>
          </p:cNvSpPr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1565C0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4" name="Line14"/>
          <p:cNvSpPr txBox="1">
            <a:spLocks noGrp="1"/>
          </p:cNvSpPr>
          <p:nvPr/>
        </p:nvSpPr>
        <p:spPr>
          <a:xfrm>
            <a:off x="288000" y="4500000"/>
            <a:ext cx="76320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Label"/>
          <p:cNvSpPr txBox="1">
            <a:spLocks noGrp="1"/>
          </p:cNvSpPr>
          <p:nvPr/>
        </p:nvSpPr>
        <p:spPr>
          <a:xfrm>
            <a:off x="324000" y="4104000"/>
            <a:ext cx="4320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900" b="1" i="0" dirty="0" smtClean="0">
                <a:solidFill>
                  <a:srgbClr val="00B4D8"/>
                </a:solidFill>
                <a:latin typeface="+mj-lt"/>
              </a:rPr>
              <a:t>ДИПЛОМНАЯ РАБОТА</a:t>
            </a:r>
          </a:p>
        </p:txBody>
      </p:sp>
      <p:sp>
        <p:nvSpPr>
          <p:cNvPr id="16" name="Title"/>
          <p:cNvSpPr txBox="1">
            <a:spLocks noGrp="1"/>
          </p:cNvSpPr>
          <p:nvPr/>
        </p:nvSpPr>
        <p:spPr>
          <a:xfrm>
            <a:off x="324000" y="1080000"/>
            <a:ext cx="7560000" cy="324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3000" b="1" i="0" dirty="0" smtClean="0">
                <a:solidFill>
                  <a:srgbClr val="FFFFFF"/>
                </a:solidFill>
                <a:latin typeface="+mj-lt"/>
              </a:rPr>
              <a:t>Цифровизация экономики</a:t>
            </a:r>
          </a:p>
          <a:p>
            <a:pPr algn="l">
              <a:spcBef>
                <a:spcPts val="0"/>
              </a:spcBef>
            </a:pPr>
            <a:r>
              <a:rPr lang="ru-RU" sz="2600" b="1" i="0" dirty="0" smtClean="0">
                <a:solidFill>
                  <a:srgbClr val="FFFFFF"/>
                </a:solidFill>
                <a:latin typeface="+mj-lt"/>
              </a:rPr>
              <a:t>и устойчивость стран</a:t>
            </a:r>
          </a:p>
          <a:p>
            <a:pPr algn="l">
              <a:spcBef>
                <a:spcPts val="0"/>
              </a:spcBef>
            </a:pPr>
            <a:r>
              <a:rPr lang="ru-RU" sz="2600" b="1" i="0" dirty="0" smtClean="0">
                <a:solidFill>
                  <a:srgbClr val="FFFFFF"/>
                </a:solidFill>
                <a:latin typeface="+mj-lt"/>
              </a:rPr>
              <a:t>к глобальным кризисам</a:t>
            </a:r>
          </a:p>
        </p:txBody>
      </p:sp>
      <p:sp>
        <p:nvSpPr>
          <p:cNvPr id="17" name="Sub"/>
          <p:cNvSpPr txBox="1">
            <a:spLocks noGrp="1"/>
          </p:cNvSpPr>
          <p:nvPr/>
        </p:nvSpPr>
        <p:spPr>
          <a:xfrm>
            <a:off x="324000" y="4608000"/>
            <a:ext cx="7920000" cy="19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1300" b="0" i="0" dirty="0" smtClean="0">
                <a:solidFill>
                  <a:srgbClr val="90E0EF"/>
                </a:solidFill>
                <a:latin typeface="+mj-lt"/>
              </a:rPr>
              <a:t>Выпускная квалификационная работа</a:t>
            </a:r>
          </a:p>
          <a:p>
            <a:pPr algn="l">
              <a:spcBef>
                <a:spcPts val="0"/>
              </a:spcBef>
            </a:pPr>
            <a:r>
              <a:rPr lang="ru-RU" sz="1300" b="0" i="0" dirty="0" smtClean="0">
                <a:solidFill>
                  <a:srgbClr val="90E0EF"/>
                </a:solidFill>
                <a:latin typeface="+mj-lt"/>
              </a:rPr>
              <a:t>Уктамов Мухаммаджон</a:t>
            </a:r>
          </a:p>
          <a:p>
            <a:pPr>
              <a:spcBef>
                <a:spcPts val="300"/>
              </a:spcBef>
            </a:pPr>
            <a:endParaRPr lang="ru-RU" dirty="0"/>
          </a:p>
          <a:p>
            <a:pPr algn="l">
              <a:spcBef>
                <a:spcPts val="0"/>
              </a:spcBef>
            </a:pPr>
            <a:r>
              <a:rPr lang="ru-RU" sz="1300" b="0" i="0" dirty="0" smtClean="0">
                <a:solidFill>
                  <a:srgbClr val="90E0EF"/>
                </a:solidFill>
                <a:latin typeface="+mj-lt"/>
              </a:rPr>
              <a:t>Направление: Экономика</a:t>
            </a:r>
          </a:p>
          <a:p>
            <a:pPr algn="l">
              <a:spcBef>
                <a:spcPts val="0"/>
              </a:spcBef>
            </a:pPr>
            <a:r>
              <a:rPr lang="ru-RU" sz="1300" b="0" i="0" dirty="0" smtClean="0">
                <a:solidFill>
                  <a:srgbClr val="90E0EF"/>
                </a:solidFill>
                <a:latin typeface="+mj-lt"/>
              </a:rPr>
              <a:t>Год защиты: 2025</a:t>
            </a:r>
          </a:p>
        </p:txBody>
      </p:sp>
      <p:sp>
        <p:nvSpPr>
          <p:cNvPr id="18" name="Footer"/>
          <p:cNvSpPr txBox="1">
            <a:spLocks noGrp="1"/>
          </p:cNvSpPr>
          <p:nvPr/>
        </p:nvSpPr>
        <p:spPr>
          <a:xfrm>
            <a:off x="0" y="6462000"/>
            <a:ext cx="12193200" cy="396000"/>
          </a:xfrm>
          <a:prstGeom prst="rect">
            <a:avLst/>
          </a:prstGeom>
          <a:solidFill>
            <a:srgbClr val="1565C0">
              <a:alpha val="8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"/>
          <p:cNvSpPr txBox="1">
            <a:spLocks noGrp="1"/>
          </p:cNvSpPr>
          <p:nvPr/>
        </p:nvSpPr>
        <p:spPr>
          <a:xfrm>
            <a:off x="0" y="0"/>
            <a:ext cx="12193200" cy="118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" name="Line12"/>
          <p:cNvSpPr txBox="1">
            <a:spLocks noGrp="1"/>
          </p:cNvSpPr>
          <p:nvPr/>
        </p:nvSpPr>
        <p:spPr>
          <a:xfrm>
            <a:off x="0" y="1170000"/>
            <a:ext cx="121932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Vbar"/>
          <p:cNvSpPr txBox="1">
            <a:spLocks noGrp="1"/>
          </p:cNvSpPr>
          <p:nvPr/>
        </p:nvSpPr>
        <p:spPr>
          <a:xfrm>
            <a:off x="0" y="1188000"/>
            <a:ext cx="64800" cy="5670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F0F4F8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4" name="Title"/>
          <p:cNvSpPr txBox="1">
            <a:spLocks noGrp="1"/>
          </p:cNvSpPr>
          <p:nvPr/>
        </p:nvSpPr>
        <p:spPr>
          <a:xfrm>
            <a:off x="251999" y="72000"/>
            <a:ext cx="11761199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2100" b="1" i="0" dirty="0" smtClean="0">
                <a:solidFill>
                  <a:srgbClr val="FFFFFF"/>
                </a:solidFill>
                <a:latin typeface="+mj-lt"/>
              </a:rPr>
              <a:t>Актуальность исследования</a:t>
            </a:r>
          </a:p>
        </p:txBody>
      </p:sp>
      <p:sp>
        <p:nvSpPr>
          <p:cNvPr id="15" name="Bullets"/>
          <p:cNvSpPr txBox="1">
            <a:spLocks noGrp="1"/>
          </p:cNvSpPr>
          <p:nvPr/>
        </p:nvSpPr>
        <p:spPr>
          <a:xfrm>
            <a:off x="216000" y="1260000"/>
            <a:ext cx="11833200" cy="54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1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Три волны глобальных кризисов: 2008–2009, 2020–2021, 2022 — одинаковый удар, разная реакция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Цифровизация как структурный фактор устойчивости экономики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COVID-19: цифровая инфраструктура обеспечила непрерывность государства и бизнеса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Энергетический шок 2022: выявил пределы цифровой зрелости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Узбекистан реализует Стратегию «Цифровой Узбекистан – 2030»</a:t>
            </a:r>
          </a:p>
          <a:p>
            <a:pPr algn="l">
              <a:spcBef>
                <a:spcPts val="600"/>
              </a:spcBef>
            </a:pPr>
            <a:r>
              <a:rPr lang="ru-RU" sz="1400" b="0" i="0" dirty="0" smtClean="0">
                <a:solidFill>
                  <a:srgbClr val="E53935"/>
                </a:solidFill>
                <a:latin typeface="+mj-lt"/>
              </a:rPr>
              <a:t>⚠  ⚠ Вопрос: влияет ли уровень цифровизации на устойчивость? Как? Через какие каналы?</a:t>
            </a:r>
          </a:p>
        </p:txBody>
      </p:sp>
      <p:sp>
        <p:nvSpPr>
          <p:cNvPr id="16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"/>
          <p:cNvSpPr txBox="1">
            <a:spLocks noGrp="1"/>
          </p:cNvSpPr>
          <p:nvPr/>
        </p:nvSpPr>
        <p:spPr>
          <a:xfrm>
            <a:off x="0" y="0"/>
            <a:ext cx="12193200" cy="118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" name="Line12"/>
          <p:cNvSpPr txBox="1">
            <a:spLocks noGrp="1"/>
          </p:cNvSpPr>
          <p:nvPr/>
        </p:nvSpPr>
        <p:spPr>
          <a:xfrm>
            <a:off x="0" y="1170000"/>
            <a:ext cx="121932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>
            <a:spLocks noGrp="1"/>
          </p:cNvSpPr>
          <p:nvPr/>
        </p:nvSpPr>
        <p:spPr>
          <a:xfrm>
            <a:off x="251999" y="72000"/>
            <a:ext cx="11761199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2100" b="1" i="0" dirty="0" smtClean="0">
                <a:solidFill>
                  <a:srgbClr val="FFFFFF"/>
                </a:solidFill>
                <a:latin typeface="+mj-lt"/>
              </a:rPr>
              <a:t>Объект, предмет и цель исследования</a:t>
            </a:r>
          </a:p>
        </p:txBody>
      </p:sp>
      <p:sp>
        <p:nvSpPr>
          <p:cNvPr id="20" name="Card"/>
          <p:cNvSpPr txBox="1">
            <a:spLocks noGrp="1"/>
          </p:cNvSpPr>
          <p:nvPr/>
        </p:nvSpPr>
        <p:spPr>
          <a:xfrm>
            <a:off x="144000" y="1296000"/>
            <a:ext cx="5436000" cy="54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90E0EF"/>
            </a:solidFill>
          </a:ln>
        </p:spPr>
        <p:txBody>
          <a:bodyPr/>
          <a:lstStyle/>
          <a:p/>
        </p:txBody>
      </p:sp>
      <p:sp>
        <p:nvSpPr>
          <p:cNvPr id="21" name="CardHdr"/>
          <p:cNvSpPr txBox="1">
            <a:spLocks noGrp="1"/>
          </p:cNvSpPr>
          <p:nvPr/>
        </p:nvSpPr>
        <p:spPr>
          <a:xfrm>
            <a:off x="144000" y="1296000"/>
            <a:ext cx="5436000" cy="396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0B4D8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22" name="CardTitle"/>
          <p:cNvSpPr txBox="1">
            <a:spLocks noGrp="1"/>
          </p:cNvSpPr>
          <p:nvPr/>
        </p:nvSpPr>
        <p:spPr>
          <a:xfrm>
            <a:off x="144000" y="1296000"/>
            <a:ext cx="5436000" cy="396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400" b="1" i="0" dirty="0" smtClean="0">
                <a:solidFill>
                  <a:srgbClr val="FFFFFF"/>
                </a:solidFill>
                <a:latin typeface="+mj-lt"/>
              </a:rPr>
              <a:t>Объект и предмет</a:t>
            </a:r>
          </a:p>
        </p:txBody>
      </p:sp>
      <p:sp>
        <p:nvSpPr>
          <p:cNvPr id="23" name="CardBullets"/>
          <p:cNvSpPr txBox="1">
            <a:spLocks noGrp="1"/>
          </p:cNvSpPr>
          <p:nvPr/>
        </p:nvSpPr>
        <p:spPr>
          <a:xfrm>
            <a:off x="216000" y="1764000"/>
            <a:ext cx="5292000" cy="49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Объект: цифровая трансформация национальных экономик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Предмет: механизмы влияния цифровых технологий на макроэкономическую устойчивость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Период: глобальные кризисы 2020–2022 годов</a:t>
            </a:r>
          </a:p>
        </p:txBody>
      </p:sp>
      <p:sp>
        <p:nvSpPr>
          <p:cNvPr id="30" name="Card"/>
          <p:cNvSpPr txBox="1">
            <a:spLocks noGrp="1"/>
          </p:cNvSpPr>
          <p:nvPr/>
        </p:nvSpPr>
        <p:spPr>
          <a:xfrm>
            <a:off x="6263999" y="1296000"/>
            <a:ext cx="5436000" cy="54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90E0EF"/>
            </a:solidFill>
          </a:ln>
        </p:spPr>
        <p:txBody>
          <a:bodyPr/>
          <a:lstStyle/>
          <a:p/>
        </p:txBody>
      </p:sp>
      <p:sp>
        <p:nvSpPr>
          <p:cNvPr id="31" name="CardHdr"/>
          <p:cNvSpPr txBox="1">
            <a:spLocks noGrp="1"/>
          </p:cNvSpPr>
          <p:nvPr/>
        </p:nvSpPr>
        <p:spPr>
          <a:xfrm>
            <a:off x="6263999" y="1296000"/>
            <a:ext cx="5436000" cy="396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2" name="CardTitle"/>
          <p:cNvSpPr txBox="1">
            <a:spLocks noGrp="1"/>
          </p:cNvSpPr>
          <p:nvPr/>
        </p:nvSpPr>
        <p:spPr>
          <a:xfrm>
            <a:off x="6263999" y="1296000"/>
            <a:ext cx="5436000" cy="396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400" b="1" i="0" dirty="0" smtClean="0">
                <a:solidFill>
                  <a:srgbClr val="FFFFFF"/>
                </a:solidFill>
                <a:latin typeface="+mj-lt"/>
              </a:rPr>
              <a:t>Цель и задачи</a:t>
            </a:r>
          </a:p>
        </p:txBody>
      </p:sp>
      <p:sp>
        <p:nvSpPr>
          <p:cNvPr id="33" name="CardBullets"/>
          <p:cNvSpPr txBox="1">
            <a:spLocks noGrp="1"/>
          </p:cNvSpPr>
          <p:nvPr/>
        </p:nvSpPr>
        <p:spPr>
          <a:xfrm>
            <a:off x="6335999" y="1764000"/>
            <a:ext cx="5292000" cy="49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Цель: выявить и эмпирически обосновать каналы влияния цифровизации на устойчивость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Систематизировать теоретические подходы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Сравнительный анализ 4 стран-лидеров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Эконометрическая оценка на 49 странах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Рекомендации для Узбекистана</a:t>
            </a:r>
          </a:p>
        </p:txBody>
      </p:sp>
      <p:sp>
        <p:nvSpPr>
          <p:cNvPr id="50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"/>
          <p:cNvSpPr txBox="1">
            <a:spLocks noGrp="1"/>
          </p:cNvSpPr>
          <p:nvPr/>
        </p:nvSpPr>
        <p:spPr>
          <a:xfrm>
            <a:off x="0" y="0"/>
            <a:ext cx="12193200" cy="118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" name="Line12"/>
          <p:cNvSpPr txBox="1">
            <a:spLocks noGrp="1"/>
          </p:cNvSpPr>
          <p:nvPr/>
        </p:nvSpPr>
        <p:spPr>
          <a:xfrm>
            <a:off x="0" y="1170000"/>
            <a:ext cx="121932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Vbar"/>
          <p:cNvSpPr txBox="1">
            <a:spLocks noGrp="1"/>
          </p:cNvSpPr>
          <p:nvPr/>
        </p:nvSpPr>
        <p:spPr>
          <a:xfrm>
            <a:off x="0" y="1188000"/>
            <a:ext cx="64800" cy="5670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F0F4F8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4" name="Title"/>
          <p:cNvSpPr txBox="1">
            <a:spLocks noGrp="1"/>
          </p:cNvSpPr>
          <p:nvPr/>
        </p:nvSpPr>
        <p:spPr>
          <a:xfrm>
            <a:off x="251999" y="72000"/>
            <a:ext cx="11761199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2100" b="1" i="0" dirty="0" smtClean="0">
                <a:solidFill>
                  <a:srgbClr val="FFFFFF"/>
                </a:solidFill>
                <a:latin typeface="+mj-lt"/>
              </a:rPr>
              <a:t>Теоретическая рамка: 5 каналов влияния цифровизации на устойчивость</a:t>
            </a:r>
          </a:p>
        </p:txBody>
      </p:sp>
      <p:sp>
        <p:nvSpPr>
          <p:cNvPr id="15" name="Bullets"/>
          <p:cNvSpPr txBox="1">
            <a:spLocks noGrp="1"/>
          </p:cNvSpPr>
          <p:nvPr/>
        </p:nvSpPr>
        <p:spPr>
          <a:xfrm>
            <a:off x="216000" y="1260000"/>
            <a:ext cx="11833200" cy="54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1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Канал 1 — Непрерывность государственных функций в условиях шоков</a:t>
            </a:r>
          </a:p>
          <a:p>
            <a:pPr algn="l">
              <a:spcBef>
                <a:spcPts val="100"/>
              </a:spcBef>
            </a:pPr>
            <a:r>
              <a:rPr lang="ru-RU" sz="1300" b="0" i="0" dirty="0" smtClean="0">
                <a:solidFill>
                  <a:srgbClr val="546E7A"/>
                </a:solidFill>
                <a:latin typeface="+mj-lt"/>
              </a:rPr>
              <a:t>     e-Government, электронная идентификация, межведомственный обмен данными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Канал 2 — Эффективность фискальной трансмиссии</a:t>
            </a:r>
          </a:p>
          <a:p>
            <a:pPr algn="l">
              <a:spcBef>
                <a:spcPts val="100"/>
              </a:spcBef>
            </a:pPr>
            <a:r>
              <a:rPr lang="ru-RU" sz="1300" b="0" i="0" dirty="0" smtClean="0">
                <a:solidFill>
                  <a:srgbClr val="546E7A"/>
                </a:solidFill>
                <a:latin typeface="+mj-lt"/>
              </a:rPr>
              <a:t>     Цифровые платёжные системы → адресные выплаты в реальном времени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Канал 3 — Адаптация частного сектора</a:t>
            </a:r>
          </a:p>
          <a:p>
            <a:pPr algn="l">
              <a:spcBef>
                <a:spcPts val="100"/>
              </a:spcBef>
            </a:pPr>
            <a:r>
              <a:rPr lang="ru-RU" sz="1300" b="0" i="0" dirty="0" smtClean="0">
                <a:solidFill>
                  <a:srgbClr val="546E7A"/>
                </a:solidFill>
                <a:latin typeface="+mj-lt"/>
              </a:rPr>
              <a:t>     Фирмы с высоким уровнем ИКТ показывают меньшее падение выручки в кризис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Канал 4 — Структурный сдвиг спроса к цифровым услугам и e-commerce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Канал 5 — Устойчивость ИКТ-сектора как отдельного компонента ВВП</a:t>
            </a:r>
          </a:p>
          <a:p>
            <a:pPr algn="l">
              <a:spcBef>
                <a:spcPts val="100"/>
              </a:spcBef>
            </a:pPr>
            <a:r>
              <a:rPr lang="ru-RU" sz="1300" b="0" i="0" dirty="0" smtClean="0">
                <a:solidFill>
                  <a:srgbClr val="546E7A"/>
                </a:solidFill>
                <a:latin typeface="+mj-lt"/>
              </a:rPr>
              <a:t>     ИКТ-сектор ОЭСР: рост даже в 2020 году (+ХХ% против спада в экономике)</a:t>
            </a:r>
          </a:p>
        </p:txBody>
      </p:sp>
      <p:sp>
        <p:nvSpPr>
          <p:cNvPr id="16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"/>
          <p:cNvSpPr txBox="1">
            <a:spLocks noGrp="1"/>
          </p:cNvSpPr>
          <p:nvPr/>
        </p:nvSpPr>
        <p:spPr>
          <a:xfrm>
            <a:off x="0" y="0"/>
            <a:ext cx="12193200" cy="118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" name="Line12"/>
          <p:cNvSpPr txBox="1">
            <a:spLocks noGrp="1"/>
          </p:cNvSpPr>
          <p:nvPr/>
        </p:nvSpPr>
        <p:spPr>
          <a:xfrm>
            <a:off x="0" y="1170000"/>
            <a:ext cx="121932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>
            <a:spLocks noGrp="1"/>
          </p:cNvSpPr>
          <p:nvPr/>
        </p:nvSpPr>
        <p:spPr>
          <a:xfrm>
            <a:off x="251999" y="72000"/>
            <a:ext cx="11761199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2100" b="1" i="0" dirty="0" smtClean="0">
                <a:solidFill>
                  <a:srgbClr val="FFFFFF"/>
                </a:solidFill>
                <a:latin typeface="+mj-lt"/>
              </a:rPr>
              <a:t>Четыре модели цифровой трансформации: ключевые показатели</a:t>
            </a:r>
          </a:p>
        </p:txBody>
      </p:sp>
      <p:sp>
        <p:nvSpPr>
          <p:cNvPr id="20" name="StatCard"/>
          <p:cNvSpPr txBox="1">
            <a:spLocks noGrp="1"/>
          </p:cNvSpPr>
          <p:nvPr/>
        </p:nvSpPr>
        <p:spPr>
          <a:xfrm>
            <a:off x="144000" y="1404000"/>
            <a:ext cx="2868300" cy="2340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565C0"/>
              </a:gs>
              <a:gs pos="100000">
                <a:srgbClr val="0D1B2A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0" name="Val"/>
          <p:cNvSpPr txBox="1">
            <a:spLocks noGrp="1"/>
          </p:cNvSpPr>
          <p:nvPr/>
        </p:nvSpPr>
        <p:spPr>
          <a:xfrm>
            <a:off x="144000" y="1620000"/>
            <a:ext cx="28683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3600" b="1" i="0" dirty="0" smtClean="0">
                <a:solidFill>
                  <a:srgbClr val="FFC300"/>
                </a:solidFill>
                <a:latin typeface="+mj-lt"/>
              </a:rPr>
              <a:t>🇪🇪 #3</a:t>
            </a:r>
          </a:p>
        </p:txBody>
      </p:sp>
      <p:sp>
        <p:nvSpPr>
          <p:cNvPr id="40" name="Label"/>
          <p:cNvSpPr txBox="1">
            <a:spLocks noGrp="1"/>
          </p:cNvSpPr>
          <p:nvPr/>
        </p:nvSpPr>
        <p:spPr>
          <a:xfrm>
            <a:off x="198000" y="2664000"/>
            <a:ext cx="27603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Эстония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EGDI ООН 2024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X-Road, e-Residency</a:t>
            </a:r>
          </a:p>
        </p:txBody>
      </p:sp>
      <p:sp>
        <p:nvSpPr>
          <p:cNvPr id="21" name="StatCard"/>
          <p:cNvSpPr txBox="1">
            <a:spLocks noGrp="1"/>
          </p:cNvSpPr>
          <p:nvPr/>
        </p:nvSpPr>
        <p:spPr>
          <a:xfrm>
            <a:off x="3156300" y="1404000"/>
            <a:ext cx="2868300" cy="2340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1" name="Val"/>
          <p:cNvSpPr txBox="1">
            <a:spLocks noGrp="1"/>
          </p:cNvSpPr>
          <p:nvPr/>
        </p:nvSpPr>
        <p:spPr>
          <a:xfrm>
            <a:off x="3156300" y="1620000"/>
            <a:ext cx="28683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3600" b="1" i="0" dirty="0" smtClean="0">
                <a:solidFill>
                  <a:srgbClr val="FFC300"/>
                </a:solidFill>
                <a:latin typeface="+mj-lt"/>
              </a:rPr>
              <a:t>🇰🇷 #2</a:t>
            </a:r>
          </a:p>
        </p:txBody>
      </p:sp>
      <p:sp>
        <p:nvSpPr>
          <p:cNvPr id="41" name="Label"/>
          <p:cNvSpPr txBox="1">
            <a:spLocks noGrp="1"/>
          </p:cNvSpPr>
          <p:nvPr/>
        </p:nvSpPr>
        <p:spPr>
          <a:xfrm>
            <a:off x="3210300" y="2664000"/>
            <a:ext cx="27603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Республика Корея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NRI 2024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Digital New Deal</a:t>
            </a:r>
          </a:p>
        </p:txBody>
      </p:sp>
      <p:sp>
        <p:nvSpPr>
          <p:cNvPr id="22" name="StatCard"/>
          <p:cNvSpPr txBox="1">
            <a:spLocks noGrp="1"/>
          </p:cNvSpPr>
          <p:nvPr/>
        </p:nvSpPr>
        <p:spPr>
          <a:xfrm>
            <a:off x="6168599" y="1404000"/>
            <a:ext cx="2868300" cy="2340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565C0"/>
              </a:gs>
              <a:gs pos="100000">
                <a:srgbClr val="0D1B2A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2" name="Val"/>
          <p:cNvSpPr txBox="1">
            <a:spLocks noGrp="1"/>
          </p:cNvSpPr>
          <p:nvPr/>
        </p:nvSpPr>
        <p:spPr>
          <a:xfrm>
            <a:off x="6168599" y="1620000"/>
            <a:ext cx="28683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3600" b="1" i="0" dirty="0" smtClean="0">
                <a:solidFill>
                  <a:srgbClr val="FFC300"/>
                </a:solidFill>
                <a:latin typeface="+mj-lt"/>
              </a:rPr>
              <a:t>🇸🇬 #1</a:t>
            </a:r>
          </a:p>
        </p:txBody>
      </p:sp>
      <p:sp>
        <p:nvSpPr>
          <p:cNvPr id="42" name="Label"/>
          <p:cNvSpPr txBox="1">
            <a:spLocks noGrp="1"/>
          </p:cNvSpPr>
          <p:nvPr/>
        </p:nvSpPr>
        <p:spPr>
          <a:xfrm>
            <a:off x="6222599" y="2664000"/>
            <a:ext cx="27603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Сингапур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IMD WDCR 2024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Smart Nation 2.0</a:t>
            </a:r>
          </a:p>
        </p:txBody>
      </p:sp>
      <p:sp>
        <p:nvSpPr>
          <p:cNvPr id="23" name="StatCard"/>
          <p:cNvSpPr txBox="1">
            <a:spLocks noGrp="1"/>
          </p:cNvSpPr>
          <p:nvPr/>
        </p:nvSpPr>
        <p:spPr>
          <a:xfrm>
            <a:off x="9180900" y="1404000"/>
            <a:ext cx="2868300" cy="2340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3" name="Val"/>
          <p:cNvSpPr txBox="1">
            <a:spLocks noGrp="1"/>
          </p:cNvSpPr>
          <p:nvPr/>
        </p:nvSpPr>
        <p:spPr>
          <a:xfrm>
            <a:off x="9180900" y="1620000"/>
            <a:ext cx="28683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3600" b="1" i="0" dirty="0" smtClean="0">
                <a:solidFill>
                  <a:srgbClr val="FFC300"/>
                </a:solidFill>
                <a:latin typeface="+mj-lt"/>
              </a:rPr>
              <a:t>🇵🇱 #24</a:t>
            </a:r>
          </a:p>
        </p:txBody>
      </p:sp>
      <p:sp>
        <p:nvSpPr>
          <p:cNvPr id="43" name="Label"/>
          <p:cNvSpPr txBox="1">
            <a:spLocks noGrp="1"/>
          </p:cNvSpPr>
          <p:nvPr/>
        </p:nvSpPr>
        <p:spPr>
          <a:xfrm>
            <a:off x="9234899" y="2664000"/>
            <a:ext cx="27603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Польша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DESI 2024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Догоняющая модель</a:t>
            </a:r>
          </a:p>
        </p:txBody>
      </p:sp>
      <p:sp>
        <p:nvSpPr>
          <p:cNvPr id="60" name="Src"/>
          <p:cNvSpPr txBox="1">
            <a:spLocks noGrp="1"/>
          </p:cNvSpPr>
          <p:nvPr/>
        </p:nvSpPr>
        <p:spPr>
          <a:xfrm>
            <a:off x="180000" y="6570000"/>
            <a:ext cx="118332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1" dirty="0" smtClean="0">
                <a:solidFill>
                  <a:srgbClr val="546E7A"/>
                </a:solidFill>
                <a:latin typeface="+mj-lt"/>
              </a:rPr>
              <a:t>Источник: UN DESA EGDI 2024; NRI 2024; IMD WDCR 2024; EC Digital Decade 2024</a:t>
            </a:r>
          </a:p>
        </p:txBody>
      </p:sp>
      <p:sp>
        <p:nvSpPr>
          <p:cNvPr id="61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"/>
          <p:cNvSpPr txBox="1">
            <a:spLocks noGrp="1"/>
          </p:cNvSpPr>
          <p:nvPr/>
        </p:nvSpPr>
        <p:spPr>
          <a:xfrm>
            <a:off x="0" y="0"/>
            <a:ext cx="12193200" cy="118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" name="Line12"/>
          <p:cNvSpPr txBox="1">
            <a:spLocks noGrp="1"/>
          </p:cNvSpPr>
          <p:nvPr/>
        </p:nvSpPr>
        <p:spPr>
          <a:xfrm>
            <a:off x="0" y="1170000"/>
            <a:ext cx="121932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>
            <a:spLocks noGrp="1"/>
          </p:cNvSpPr>
          <p:nvPr/>
        </p:nvSpPr>
        <p:spPr>
          <a:xfrm>
            <a:off x="251999" y="72000"/>
            <a:ext cx="11761199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2100" b="1" i="0" dirty="0" smtClean="0">
                <a:solidFill>
                  <a:srgbClr val="FFFFFF"/>
                </a:solidFill>
                <a:latin typeface="+mj-lt"/>
              </a:rPr>
              <a:t>Реакция экономик на пандемийный шок 2020 года (% изменения ВВП)</a:t>
            </a:r>
          </a:p>
        </p:txBody>
      </p:sp>
      <p:sp>
        <p:nvSpPr>
          <p:cNvPr id="20" name="StatCard"/>
          <p:cNvSpPr txBox="1">
            <a:spLocks noGrp="1"/>
          </p:cNvSpPr>
          <p:nvPr/>
        </p:nvSpPr>
        <p:spPr>
          <a:xfrm>
            <a:off x="144000" y="1404000"/>
            <a:ext cx="2265840" cy="2340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565C0"/>
              </a:gs>
              <a:gs pos="100000">
                <a:srgbClr val="0D1B2A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0" name="Val"/>
          <p:cNvSpPr txBox="1">
            <a:spLocks noGrp="1"/>
          </p:cNvSpPr>
          <p:nvPr/>
        </p:nvSpPr>
        <p:spPr>
          <a:xfrm>
            <a:off x="144000" y="1620000"/>
            <a:ext cx="226584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3600" b="1" i="0" dirty="0" smtClean="0">
                <a:solidFill>
                  <a:srgbClr val="FFC300"/>
                </a:solidFill>
                <a:latin typeface="+mj-lt"/>
              </a:rPr>
              <a:t>−0.7%</a:t>
            </a:r>
          </a:p>
        </p:txBody>
      </p:sp>
      <p:sp>
        <p:nvSpPr>
          <p:cNvPr id="40" name="Label"/>
          <p:cNvSpPr txBox="1">
            <a:spLocks noGrp="1"/>
          </p:cNvSpPr>
          <p:nvPr/>
        </p:nvSpPr>
        <p:spPr>
          <a:xfrm>
            <a:off x="198000" y="2664000"/>
            <a:ext cx="215784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Республика Корея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Лучший результат</a:t>
            </a:r>
          </a:p>
        </p:txBody>
      </p:sp>
      <p:sp>
        <p:nvSpPr>
          <p:cNvPr id="21" name="StatCard"/>
          <p:cNvSpPr txBox="1">
            <a:spLocks noGrp="1"/>
          </p:cNvSpPr>
          <p:nvPr/>
        </p:nvSpPr>
        <p:spPr>
          <a:xfrm>
            <a:off x="2553840" y="1404000"/>
            <a:ext cx="2265840" cy="2340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1" name="Val"/>
          <p:cNvSpPr txBox="1">
            <a:spLocks noGrp="1"/>
          </p:cNvSpPr>
          <p:nvPr/>
        </p:nvSpPr>
        <p:spPr>
          <a:xfrm>
            <a:off x="2553840" y="1620000"/>
            <a:ext cx="226584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3600" b="1" i="0" dirty="0" smtClean="0">
                <a:solidFill>
                  <a:srgbClr val="FFC300"/>
                </a:solidFill>
                <a:latin typeface="+mj-lt"/>
              </a:rPr>
              <a:t>−2.0%</a:t>
            </a:r>
          </a:p>
        </p:txBody>
      </p:sp>
      <p:sp>
        <p:nvSpPr>
          <p:cNvPr id="41" name="Label"/>
          <p:cNvSpPr txBox="1">
            <a:spLocks noGrp="1"/>
          </p:cNvSpPr>
          <p:nvPr/>
        </p:nvSpPr>
        <p:spPr>
          <a:xfrm>
            <a:off x="2607840" y="2664000"/>
            <a:ext cx="215784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Польша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Мягкое падение</a:t>
            </a:r>
          </a:p>
        </p:txBody>
      </p:sp>
      <p:sp>
        <p:nvSpPr>
          <p:cNvPr id="22" name="StatCard"/>
          <p:cNvSpPr txBox="1">
            <a:spLocks noGrp="1"/>
          </p:cNvSpPr>
          <p:nvPr/>
        </p:nvSpPr>
        <p:spPr>
          <a:xfrm>
            <a:off x="4963680" y="1404000"/>
            <a:ext cx="2265840" cy="2340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565C0"/>
              </a:gs>
              <a:gs pos="100000">
                <a:srgbClr val="0D1B2A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2" name="Val"/>
          <p:cNvSpPr txBox="1">
            <a:spLocks noGrp="1"/>
          </p:cNvSpPr>
          <p:nvPr/>
        </p:nvSpPr>
        <p:spPr>
          <a:xfrm>
            <a:off x="4963680" y="1620000"/>
            <a:ext cx="226584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3600" b="1" i="0" dirty="0" smtClean="0">
                <a:solidFill>
                  <a:srgbClr val="FFC300"/>
                </a:solidFill>
                <a:latin typeface="+mj-lt"/>
              </a:rPr>
              <a:t>−3.0%</a:t>
            </a:r>
          </a:p>
        </p:txBody>
      </p:sp>
      <p:sp>
        <p:nvSpPr>
          <p:cNvPr id="42" name="Label"/>
          <p:cNvSpPr txBox="1">
            <a:spLocks noGrp="1"/>
          </p:cNvSpPr>
          <p:nvPr/>
        </p:nvSpPr>
        <p:spPr>
          <a:xfrm>
            <a:off x="5017680" y="2664000"/>
            <a:ext cx="215784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Эстония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Ниже среднего ЕС</a:t>
            </a:r>
          </a:p>
        </p:txBody>
      </p:sp>
      <p:sp>
        <p:nvSpPr>
          <p:cNvPr id="23" name="StatCard"/>
          <p:cNvSpPr txBox="1">
            <a:spLocks noGrp="1"/>
          </p:cNvSpPr>
          <p:nvPr/>
        </p:nvSpPr>
        <p:spPr>
          <a:xfrm>
            <a:off x="7373520" y="1404000"/>
            <a:ext cx="2265840" cy="2340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3" name="Val"/>
          <p:cNvSpPr txBox="1">
            <a:spLocks noGrp="1"/>
          </p:cNvSpPr>
          <p:nvPr/>
        </p:nvSpPr>
        <p:spPr>
          <a:xfrm>
            <a:off x="7373520" y="1620000"/>
            <a:ext cx="226584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3600" b="1" i="0" dirty="0" smtClean="0">
                <a:solidFill>
                  <a:srgbClr val="FFC300"/>
                </a:solidFill>
                <a:latin typeface="+mj-lt"/>
              </a:rPr>
              <a:t>−3.9%</a:t>
            </a:r>
          </a:p>
        </p:txBody>
      </p:sp>
      <p:sp>
        <p:nvSpPr>
          <p:cNvPr id="43" name="Label"/>
          <p:cNvSpPr txBox="1">
            <a:spLocks noGrp="1"/>
          </p:cNvSpPr>
          <p:nvPr/>
        </p:nvSpPr>
        <p:spPr>
          <a:xfrm>
            <a:off x="7427519" y="2664000"/>
            <a:ext cx="215784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Сингапур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Торгово-зависимая</a:t>
            </a:r>
          </a:p>
        </p:txBody>
      </p:sp>
      <p:sp>
        <p:nvSpPr>
          <p:cNvPr id="24" name="StatCard"/>
          <p:cNvSpPr txBox="1">
            <a:spLocks noGrp="1"/>
          </p:cNvSpPr>
          <p:nvPr/>
        </p:nvSpPr>
        <p:spPr>
          <a:xfrm>
            <a:off x="9783360" y="1404000"/>
            <a:ext cx="2265840" cy="2340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565C0"/>
              </a:gs>
              <a:gs pos="100000">
                <a:srgbClr val="0D1B2A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4" name="Val"/>
          <p:cNvSpPr txBox="1">
            <a:spLocks noGrp="1"/>
          </p:cNvSpPr>
          <p:nvPr/>
        </p:nvSpPr>
        <p:spPr>
          <a:xfrm>
            <a:off x="9783360" y="1620000"/>
            <a:ext cx="226584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3600" b="1" i="0" dirty="0" smtClean="0">
                <a:solidFill>
                  <a:srgbClr val="FFC300"/>
                </a:solidFill>
                <a:latin typeface="+mj-lt"/>
              </a:rPr>
              <a:t>−6.1%</a:t>
            </a:r>
          </a:p>
        </p:txBody>
      </p:sp>
      <p:sp>
        <p:nvSpPr>
          <p:cNvPr id="44" name="Label"/>
          <p:cNvSpPr txBox="1">
            <a:spLocks noGrp="1"/>
          </p:cNvSpPr>
          <p:nvPr/>
        </p:nvSpPr>
        <p:spPr>
          <a:xfrm>
            <a:off x="9837359" y="2664000"/>
            <a:ext cx="215784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Среднее по ЕС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Эталон сравнения</a:t>
            </a:r>
          </a:p>
        </p:txBody>
      </p:sp>
      <p:sp>
        <p:nvSpPr>
          <p:cNvPr id="60" name="Src"/>
          <p:cNvSpPr txBox="1">
            <a:spLocks noGrp="1"/>
          </p:cNvSpPr>
          <p:nvPr/>
        </p:nvSpPr>
        <p:spPr>
          <a:xfrm>
            <a:off x="180000" y="6570000"/>
            <a:ext cx="118332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1" dirty="0" smtClean="0">
                <a:solidFill>
                  <a:srgbClr val="546E7A"/>
                </a:solidFill>
                <a:latin typeface="+mj-lt"/>
              </a:rPr>
              <a:t>Источник: World Bank WDI; Eurostat; Bank of Korea, 2024</a:t>
            </a:r>
          </a:p>
        </p:txBody>
      </p:sp>
      <p:sp>
        <p:nvSpPr>
          <p:cNvPr id="61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A3A5C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" name="Accent"/>
          <p:cNvSpPr txBox="1">
            <a:spLocks noGrp="1"/>
          </p:cNvSpPr>
          <p:nvPr/>
        </p:nvSpPr>
        <p:spPr>
          <a:xfrm>
            <a:off x="0" y="0"/>
            <a:ext cx="251999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1565C0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" name="Chapter"/>
          <p:cNvSpPr txBox="1">
            <a:spLocks noGrp="1"/>
          </p:cNvSpPr>
          <p:nvPr/>
        </p:nvSpPr>
        <p:spPr>
          <a:xfrm>
            <a:off x="432000" y="540000"/>
            <a:ext cx="11581199" cy="18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5600" b="1" i="0" dirty="0" smtClean="0">
                <a:solidFill>
                  <a:srgbClr val="00B4D8"/>
                </a:solidFill>
                <a:latin typeface="+mj-lt"/>
              </a:rPr>
              <a:t>Глава II</a:t>
            </a:r>
          </a:p>
        </p:txBody>
      </p:sp>
      <p:sp>
        <p:nvSpPr>
          <p:cNvPr id="13" name="Line13"/>
          <p:cNvSpPr txBox="1">
            <a:spLocks noGrp="1"/>
          </p:cNvSpPr>
          <p:nvPr/>
        </p:nvSpPr>
        <p:spPr>
          <a:xfrm>
            <a:off x="1080000" y="2592000"/>
            <a:ext cx="100332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ub"/>
          <p:cNvSpPr txBox="1">
            <a:spLocks noGrp="1"/>
          </p:cNvSpPr>
          <p:nvPr/>
        </p:nvSpPr>
        <p:spPr>
          <a:xfrm>
            <a:off x="432000" y="2736000"/>
            <a:ext cx="11581199" cy="30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2000" b="0" i="0" dirty="0" smtClean="0">
                <a:solidFill>
                  <a:srgbClr val="FFFFFF"/>
                </a:solidFill>
                <a:latin typeface="+mj-lt"/>
              </a:rPr>
              <a:t>Эконометрический анализ</a:t>
            </a:r>
          </a:p>
          <a:p>
            <a:pPr algn="ctr">
              <a:spcBef>
                <a:spcPts val="0"/>
              </a:spcBef>
            </a:pPr>
            <a:r>
              <a:rPr lang="ru-RU" sz="2000" b="0" i="0" dirty="0" smtClean="0">
                <a:solidFill>
                  <a:srgbClr val="FFFFFF"/>
                </a:solidFill>
                <a:latin typeface="+mj-lt"/>
              </a:rPr>
              <a:t>49 стран · 707 наблюдений · 2010–2024</a:t>
            </a:r>
          </a:p>
        </p:txBody>
      </p:sp>
      <p:sp>
        <p:nvSpPr>
          <p:cNvPr id="15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"/>
          <p:cNvSpPr txBox="1">
            <a:spLocks noGrp="1"/>
          </p:cNvSpPr>
          <p:nvPr/>
        </p:nvSpPr>
        <p:spPr>
          <a:xfrm>
            <a:off x="0" y="0"/>
            <a:ext cx="12193200" cy="118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" name="Line12"/>
          <p:cNvSpPr txBox="1">
            <a:spLocks noGrp="1"/>
          </p:cNvSpPr>
          <p:nvPr/>
        </p:nvSpPr>
        <p:spPr>
          <a:xfrm>
            <a:off x="0" y="1170000"/>
            <a:ext cx="121932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Vbar"/>
          <p:cNvSpPr txBox="1">
            <a:spLocks noGrp="1"/>
          </p:cNvSpPr>
          <p:nvPr/>
        </p:nvSpPr>
        <p:spPr>
          <a:xfrm>
            <a:off x="0" y="1188000"/>
            <a:ext cx="64800" cy="5670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F0F4F8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4" name="Title"/>
          <p:cNvSpPr txBox="1">
            <a:spLocks noGrp="1"/>
          </p:cNvSpPr>
          <p:nvPr/>
        </p:nvSpPr>
        <p:spPr>
          <a:xfrm>
            <a:off x="251999" y="72000"/>
            <a:ext cx="11761199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2100" b="1" i="0" dirty="0" smtClean="0">
                <a:solidFill>
                  <a:srgbClr val="FFFFFF"/>
                </a:solidFill>
                <a:latin typeface="+mj-lt"/>
              </a:rPr>
              <a:t>Эконометрическая модель: методология</a:t>
            </a:r>
          </a:p>
        </p:txBody>
      </p:sp>
      <p:sp>
        <p:nvSpPr>
          <p:cNvPr id="15" name="Bullets"/>
          <p:cNvSpPr txBox="1">
            <a:spLocks noGrp="1"/>
          </p:cNvSpPr>
          <p:nvPr/>
        </p:nvSpPr>
        <p:spPr>
          <a:xfrm>
            <a:off x="216000" y="1260000"/>
            <a:ext cx="11833200" cy="54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1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Выборка: 49 стран, несбалансированная панель 2010–2024 гг., 707 наблюдений</a:t>
            </a:r>
          </a:p>
          <a:p>
            <a:pPr algn="l">
              <a:spcBef>
                <a:spcPts val="100"/>
              </a:spcBef>
            </a:pPr>
            <a:r>
              <a:rPr lang="ru-RU" sz="1300" b="0" i="0" dirty="0" smtClean="0">
                <a:solidFill>
                  <a:srgbClr val="546E7A"/>
                </a:solidFill>
                <a:latin typeface="+mj-lt"/>
              </a:rPr>
              <a:t>     Развитые ОЭСР (22) · Переходные (16) · Развивающиеся вкл. Узбекистан (11)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Зависимая переменная: ln(ВВП на душу населения, постоянные цены 2015)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Основной регрессор: ln(доля интернет-пользователей, %)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Контрольные переменные: торговая открытость, качество институтов (WGI), норма накопления капитала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Метод: FE-модели + робастные стандартные ошибки (кластеризация по стране)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Тест Чоу: F = 5,34; p = 1,15×10⁻¹¹ → структурная неоднородность подтверждена</a:t>
            </a:r>
          </a:p>
        </p:txBody>
      </p:sp>
      <p:sp>
        <p:nvSpPr>
          <p:cNvPr id="16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"/>
          <p:cNvSpPr txBox="1">
            <a:spLocks noGrp="1"/>
          </p:cNvSpPr>
          <p:nvPr/>
        </p:nvSpPr>
        <p:spPr>
          <a:xfrm>
            <a:off x="0" y="0"/>
            <a:ext cx="12193200" cy="118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" name="Line12"/>
          <p:cNvSpPr txBox="1">
            <a:spLocks noGrp="1"/>
          </p:cNvSpPr>
          <p:nvPr/>
        </p:nvSpPr>
        <p:spPr>
          <a:xfrm>
            <a:off x="0" y="1170000"/>
            <a:ext cx="121932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>
            <a:spLocks noGrp="1"/>
          </p:cNvSpPr>
          <p:nvPr/>
        </p:nvSpPr>
        <p:spPr>
          <a:xfrm>
            <a:off x="251999" y="72000"/>
            <a:ext cx="11761199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2100" b="1" i="0" dirty="0" smtClean="0">
                <a:solidFill>
                  <a:srgbClr val="FFFFFF"/>
                </a:solidFill>
                <a:latin typeface="+mj-lt"/>
              </a:rPr>
              <a:t>Ключевые результаты: коэффициенты FE-моделей по группам стран</a:t>
            </a:r>
          </a:p>
        </p:txBody>
      </p:sp>
      <p:sp>
        <p:nvSpPr>
          <p:cNvPr id="20" name="StatCard"/>
          <p:cNvSpPr txBox="1">
            <a:spLocks noGrp="1"/>
          </p:cNvSpPr>
          <p:nvPr/>
        </p:nvSpPr>
        <p:spPr>
          <a:xfrm>
            <a:off x="144000" y="1404000"/>
            <a:ext cx="3872400" cy="2340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565C0"/>
              </a:gs>
              <a:gs pos="100000">
                <a:srgbClr val="0D1B2A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0" name="Val"/>
          <p:cNvSpPr txBox="1">
            <a:spLocks noGrp="1"/>
          </p:cNvSpPr>
          <p:nvPr/>
        </p:nvSpPr>
        <p:spPr>
          <a:xfrm>
            <a:off x="144000" y="1620000"/>
            <a:ext cx="38724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3600" b="1" i="0" dirty="0" smtClean="0">
                <a:solidFill>
                  <a:srgbClr val="FFC300"/>
                </a:solidFill>
                <a:latin typeface="+mj-lt"/>
              </a:rPr>
              <a:t>β=0.197</a:t>
            </a:r>
          </a:p>
        </p:txBody>
      </p:sp>
      <p:sp>
        <p:nvSpPr>
          <p:cNvPr id="40" name="Label"/>
          <p:cNvSpPr txBox="1">
            <a:spLocks noGrp="1"/>
          </p:cNvSpPr>
          <p:nvPr/>
        </p:nvSpPr>
        <p:spPr>
          <a:xfrm>
            <a:off x="198000" y="2664000"/>
            <a:ext cx="37644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Развитые экономики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(p&lt;0.001)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+COVID: β=0.394***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+Геополит.: β=0.289**</a:t>
            </a:r>
          </a:p>
        </p:txBody>
      </p:sp>
      <p:sp>
        <p:nvSpPr>
          <p:cNvPr id="21" name="StatCard"/>
          <p:cNvSpPr txBox="1">
            <a:spLocks noGrp="1"/>
          </p:cNvSpPr>
          <p:nvPr/>
        </p:nvSpPr>
        <p:spPr>
          <a:xfrm>
            <a:off x="4160400" y="1404000"/>
            <a:ext cx="3872400" cy="2340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1" name="Val"/>
          <p:cNvSpPr txBox="1">
            <a:spLocks noGrp="1"/>
          </p:cNvSpPr>
          <p:nvPr/>
        </p:nvSpPr>
        <p:spPr>
          <a:xfrm>
            <a:off x="4160400" y="1620000"/>
            <a:ext cx="38724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3600" b="1" i="0" dirty="0" smtClean="0">
                <a:solidFill>
                  <a:srgbClr val="FFC300"/>
                </a:solidFill>
                <a:latin typeface="+mj-lt"/>
              </a:rPr>
              <a:t>β=0.309</a:t>
            </a:r>
          </a:p>
        </p:txBody>
      </p:sp>
      <p:sp>
        <p:nvSpPr>
          <p:cNvPr id="41" name="Label"/>
          <p:cNvSpPr txBox="1">
            <a:spLocks noGrp="1"/>
          </p:cNvSpPr>
          <p:nvPr/>
        </p:nvSpPr>
        <p:spPr>
          <a:xfrm>
            <a:off x="4214400" y="2664000"/>
            <a:ext cx="37644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Переходные экономики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(p&lt;0.001)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Наибольший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базовый эффект</a:t>
            </a:r>
          </a:p>
        </p:txBody>
      </p:sp>
      <p:sp>
        <p:nvSpPr>
          <p:cNvPr id="22" name="StatCard"/>
          <p:cNvSpPr txBox="1">
            <a:spLocks noGrp="1"/>
          </p:cNvSpPr>
          <p:nvPr/>
        </p:nvSpPr>
        <p:spPr>
          <a:xfrm>
            <a:off x="8176800" y="1404000"/>
            <a:ext cx="3872400" cy="2340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565C0"/>
              </a:gs>
              <a:gs pos="100000">
                <a:srgbClr val="0D1B2A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2" name="Val"/>
          <p:cNvSpPr txBox="1">
            <a:spLocks noGrp="1"/>
          </p:cNvSpPr>
          <p:nvPr/>
        </p:nvSpPr>
        <p:spPr>
          <a:xfrm>
            <a:off x="8176800" y="1620000"/>
            <a:ext cx="38724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3600" b="1" i="0" dirty="0" smtClean="0">
                <a:solidFill>
                  <a:srgbClr val="FFC300"/>
                </a:solidFill>
                <a:latin typeface="+mj-lt"/>
              </a:rPr>
              <a:t>β=0.198</a:t>
            </a:r>
          </a:p>
        </p:txBody>
      </p:sp>
      <p:sp>
        <p:nvSpPr>
          <p:cNvPr id="42" name="Label"/>
          <p:cNvSpPr txBox="1">
            <a:spLocks noGrp="1"/>
          </p:cNvSpPr>
          <p:nvPr/>
        </p:nvSpPr>
        <p:spPr>
          <a:xfrm>
            <a:off x="8230800" y="2664000"/>
            <a:ext cx="37644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Развивающиеся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вкл. Узбекистан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(p&lt;0.001)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Кризисные члены</a:t>
            </a:r>
          </a:p>
          <a:p>
            <a:pPr algn="ctr">
              <a:spcBef>
                <a:spcPts val="0"/>
              </a:spcBef>
            </a:pPr>
            <a:r>
              <a:rPr lang="ru-RU" sz="1100" b="0" i="0" dirty="0" smtClean="0">
                <a:solidFill>
                  <a:srgbClr val="FFFFFF"/>
                </a:solidFill>
                <a:latin typeface="+mj-lt"/>
              </a:rPr>
              <a:t>незначимы</a:t>
            </a:r>
          </a:p>
        </p:txBody>
      </p:sp>
      <p:sp>
        <p:nvSpPr>
          <p:cNvPr id="60" name="Src"/>
          <p:cNvSpPr txBox="1">
            <a:spLocks noGrp="1"/>
          </p:cNvSpPr>
          <p:nvPr/>
        </p:nvSpPr>
        <p:spPr>
          <a:xfrm>
            <a:off x="180000" y="6570000"/>
            <a:ext cx="118332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1" dirty="0" smtClean="0">
                <a:solidFill>
                  <a:srgbClr val="546E7A"/>
                </a:solidFill>
                <a:latin typeface="+mj-lt"/>
              </a:rPr>
              <a:t>Гипотеза H₁ подтверждена во всех трёх группах стран. Источник: расчёты автора, R Studio.</a:t>
            </a:r>
          </a:p>
        </p:txBody>
      </p:sp>
      <p:sp>
        <p:nvSpPr>
          <p:cNvPr id="61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A3A5C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" name="Accent"/>
          <p:cNvSpPr txBox="1">
            <a:spLocks noGrp="1"/>
          </p:cNvSpPr>
          <p:nvPr/>
        </p:nvSpPr>
        <p:spPr>
          <a:xfrm>
            <a:off x="0" y="0"/>
            <a:ext cx="251999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1565C0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" name="Chapter"/>
          <p:cNvSpPr txBox="1">
            <a:spLocks noGrp="1"/>
          </p:cNvSpPr>
          <p:nvPr/>
        </p:nvSpPr>
        <p:spPr>
          <a:xfrm>
            <a:off x="432000" y="540000"/>
            <a:ext cx="11581199" cy="18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5600" b="1" i="0" dirty="0" smtClean="0">
                <a:solidFill>
                  <a:srgbClr val="00B4D8"/>
                </a:solidFill>
                <a:latin typeface="+mj-lt"/>
              </a:rPr>
              <a:t>Глава III</a:t>
            </a:r>
          </a:p>
        </p:txBody>
      </p:sp>
      <p:sp>
        <p:nvSpPr>
          <p:cNvPr id="13" name="Line13"/>
          <p:cNvSpPr txBox="1">
            <a:spLocks noGrp="1"/>
          </p:cNvSpPr>
          <p:nvPr/>
        </p:nvSpPr>
        <p:spPr>
          <a:xfrm>
            <a:off x="1080000" y="2592000"/>
            <a:ext cx="100332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ub"/>
          <p:cNvSpPr txBox="1">
            <a:spLocks noGrp="1"/>
          </p:cNvSpPr>
          <p:nvPr/>
        </p:nvSpPr>
        <p:spPr>
          <a:xfrm>
            <a:off x="432000" y="2736000"/>
            <a:ext cx="11581199" cy="30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2000" b="0" i="0" dirty="0" smtClean="0">
                <a:solidFill>
                  <a:srgbClr val="FFFFFF"/>
                </a:solidFill>
                <a:latin typeface="+mj-lt"/>
              </a:rPr>
              <a:t>Цифровая трансформация Узбекистана</a:t>
            </a:r>
          </a:p>
          <a:p>
            <a:pPr algn="ctr">
              <a:spcBef>
                <a:spcPts val="0"/>
              </a:spcBef>
            </a:pPr>
            <a:r>
              <a:rPr lang="ru-RU" sz="2000" b="0" i="0" dirty="0" smtClean="0">
                <a:solidFill>
                  <a:srgbClr val="FFFFFF"/>
                </a:solidFill>
                <a:latin typeface="+mj-lt"/>
              </a:rPr>
              <a:t>и практические рекомендации</a:t>
            </a:r>
          </a:p>
        </p:txBody>
      </p:sp>
      <p:sp>
        <p:nvSpPr>
          <p:cNvPr id="15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"/>
          <p:cNvSpPr txBox="1">
            <a:spLocks noGrp="1"/>
          </p:cNvSpPr>
          <p:nvPr/>
        </p:nvSpPr>
        <p:spPr>
          <a:xfrm>
            <a:off x="0" y="0"/>
            <a:ext cx="12193200" cy="118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" name="Line12"/>
          <p:cNvSpPr txBox="1">
            <a:spLocks noGrp="1"/>
          </p:cNvSpPr>
          <p:nvPr/>
        </p:nvSpPr>
        <p:spPr>
          <a:xfrm>
            <a:off x="0" y="1170000"/>
            <a:ext cx="121932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Vbar"/>
          <p:cNvSpPr txBox="1">
            <a:spLocks noGrp="1"/>
          </p:cNvSpPr>
          <p:nvPr/>
        </p:nvSpPr>
        <p:spPr>
          <a:xfrm>
            <a:off x="0" y="1188000"/>
            <a:ext cx="64800" cy="5670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F0F4F8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4" name="Title"/>
          <p:cNvSpPr txBox="1">
            <a:spLocks noGrp="1"/>
          </p:cNvSpPr>
          <p:nvPr/>
        </p:nvSpPr>
        <p:spPr>
          <a:xfrm>
            <a:off x="251999" y="72000"/>
            <a:ext cx="11761199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2100" b="1" i="0" dirty="0" smtClean="0">
                <a:solidFill>
                  <a:srgbClr val="FFFFFF"/>
                </a:solidFill>
                <a:latin typeface="+mj-lt"/>
              </a:rPr>
              <a:t>Цифровая трансформация Узбекистана: текущее состояние</a:t>
            </a:r>
          </a:p>
        </p:txBody>
      </p:sp>
      <p:sp>
        <p:nvSpPr>
          <p:cNvPr id="15" name="Bullets"/>
          <p:cNvSpPr txBox="1">
            <a:spLocks noGrp="1"/>
          </p:cNvSpPr>
          <p:nvPr/>
        </p:nvSpPr>
        <p:spPr>
          <a:xfrm>
            <a:off x="216000" y="1260000"/>
            <a:ext cx="11833200" cy="54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1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Стратегия «Цифровой Узбекистан – 2030» (Указ №УП-6079, октябрь 2020)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E-Government индекс ООН 2024: значительный рост в рейтинге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IT Park Узбекистана: 2 500+ компаний-резидентов к концу 2024 г.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Рост ИКТ-экспорта, развитие электронной коммерции и цифровых платежей</a:t>
            </a:r>
          </a:p>
          <a:p>
            <a:pPr algn="l">
              <a:spcBef>
                <a:spcPts val="600"/>
              </a:spcBef>
            </a:pPr>
            <a:r>
              <a:rPr lang="ru-RU" sz="1400" b="0" i="0" dirty="0" smtClean="0">
                <a:solidFill>
                  <a:srgbClr val="E53935"/>
                </a:solidFill>
                <a:latin typeface="+mj-lt"/>
              </a:rPr>
              <a:t>⚠  ⚠ Асимметрия: цифровое государство опережает цифровой бизнес и население</a:t>
            </a:r>
          </a:p>
          <a:p>
            <a:pPr algn="l">
              <a:spcBef>
                <a:spcPts val="600"/>
              </a:spcBef>
            </a:pPr>
            <a:r>
              <a:rPr lang="ru-RU" sz="1400" b="0" i="0" dirty="0" smtClean="0">
                <a:solidFill>
                  <a:srgbClr val="E53935"/>
                </a:solidFill>
                <a:latin typeface="+mj-lt"/>
              </a:rPr>
              <a:t>⚠  ⚠ Региональный цифровой разрыв: городские vs. сельские районы</a:t>
            </a:r>
          </a:p>
          <a:p>
            <a:pPr algn="l">
              <a:spcBef>
                <a:spcPts val="600"/>
              </a:spcBef>
            </a:pPr>
            <a:r>
              <a:rPr lang="ru-RU" sz="1400" b="0" i="0" dirty="0" smtClean="0">
                <a:solidFill>
                  <a:srgbClr val="E53935"/>
                </a:solidFill>
                <a:latin typeface="+mj-lt"/>
              </a:rPr>
              <a:t>⚠  ⚠ Уровень интернет-проникновения ~80% — необходимо достижение 90%+</a:t>
            </a:r>
          </a:p>
        </p:txBody>
      </p:sp>
      <p:sp>
        <p:nvSpPr>
          <p:cNvPr id="16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"/>
          <p:cNvSpPr txBox="1">
            <a:spLocks noGrp="1"/>
          </p:cNvSpPr>
          <p:nvPr/>
        </p:nvSpPr>
        <p:spPr>
          <a:xfrm>
            <a:off x="0" y="0"/>
            <a:ext cx="12193200" cy="118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" name="Line12"/>
          <p:cNvSpPr txBox="1">
            <a:spLocks noGrp="1"/>
          </p:cNvSpPr>
          <p:nvPr/>
        </p:nvSpPr>
        <p:spPr>
          <a:xfrm>
            <a:off x="0" y="1170000"/>
            <a:ext cx="121932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Vbar"/>
          <p:cNvSpPr txBox="1">
            <a:spLocks noGrp="1"/>
          </p:cNvSpPr>
          <p:nvPr/>
        </p:nvSpPr>
        <p:spPr>
          <a:xfrm>
            <a:off x="0" y="1188000"/>
            <a:ext cx="64800" cy="5670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F0F4F8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4" name="Title"/>
          <p:cNvSpPr txBox="1">
            <a:spLocks noGrp="1"/>
          </p:cNvSpPr>
          <p:nvPr/>
        </p:nvSpPr>
        <p:spPr>
          <a:xfrm>
            <a:off x="251999" y="72000"/>
            <a:ext cx="11761199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2100" b="1" i="0" dirty="0" smtClean="0">
                <a:solidFill>
                  <a:srgbClr val="FFFFFF"/>
                </a:solidFill>
                <a:latin typeface="+mj-lt"/>
              </a:rPr>
              <a:t>Практические рекомендации: 5 приоритетов</a:t>
            </a:r>
          </a:p>
        </p:txBody>
      </p:sp>
      <p:sp>
        <p:nvSpPr>
          <p:cNvPr id="15" name="Bullets"/>
          <p:cNvSpPr txBox="1">
            <a:spLocks noGrp="1"/>
          </p:cNvSpPr>
          <p:nvPr/>
        </p:nvSpPr>
        <p:spPr>
          <a:xfrm>
            <a:off x="216000" y="1260000"/>
            <a:ext cx="11833200" cy="5454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1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1. Расширить интернет-проникновение до 90%+ → прирост ВВП: +84–124 USD на чел. в год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2. Устранить асимметрию цифровой зрелости: цифровой бизнес и цифровые навыки населения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3. Инфраструктура фискальной трансмиссии: интеграция MyID с системой соцвыплат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4. Учитывать тип кризиса: пандемийный шок vs. энергетический/инфляционный шок</a:t>
            </a:r>
          </a:p>
          <a:p>
            <a:pPr algn="l">
              <a:spcBef>
                <a:spcPts val="600"/>
              </a:spcBef>
            </a:pPr>
            <a:r>
              <a:rPr lang="ru-RU" sz="1500" b="0" i="0" dirty="0" smtClean="0">
                <a:solidFill>
                  <a:srgbClr val="1A237E"/>
                </a:solidFill>
                <a:latin typeface="+mj-lt"/>
              </a:rPr>
              <a:t>▶  5. Накапливать качественные данные → достичь статистической значимости кризисных эффектов</a:t>
            </a:r>
          </a:p>
        </p:txBody>
      </p:sp>
      <p:sp>
        <p:nvSpPr>
          <p:cNvPr id="16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"/>
          <p:cNvSpPr txBox="1">
            <a:spLocks noGrp="1"/>
          </p:cNvSpPr>
          <p:nvPr/>
        </p:nvSpPr>
        <p:spPr>
          <a:xfrm>
            <a:off x="0" y="0"/>
            <a:ext cx="12193200" cy="118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" name="Line12"/>
          <p:cNvSpPr txBox="1">
            <a:spLocks noGrp="1"/>
          </p:cNvSpPr>
          <p:nvPr/>
        </p:nvSpPr>
        <p:spPr>
          <a:xfrm>
            <a:off x="0" y="1170000"/>
            <a:ext cx="121932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>
            <a:spLocks noGrp="1"/>
          </p:cNvSpPr>
          <p:nvPr/>
        </p:nvSpPr>
        <p:spPr>
          <a:xfrm>
            <a:off x="251999" y="72000"/>
            <a:ext cx="11761199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2100" b="1" i="0" dirty="0" smtClean="0">
                <a:solidFill>
                  <a:srgbClr val="FFFFFF"/>
                </a:solidFill>
                <a:latin typeface="+mj-lt"/>
              </a:rPr>
              <a:t>Дорожная карта цифровой устойчивости Узбекистана до 2030</a:t>
            </a:r>
          </a:p>
        </p:txBody>
      </p:sp>
      <p:sp>
        <p:nvSpPr>
          <p:cNvPr id="20" name="Card"/>
          <p:cNvSpPr txBox="1">
            <a:spLocks noGrp="1"/>
          </p:cNvSpPr>
          <p:nvPr/>
        </p:nvSpPr>
        <p:spPr>
          <a:xfrm>
            <a:off x="144000" y="1296000"/>
            <a:ext cx="5436000" cy="54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90E0EF"/>
            </a:solidFill>
          </a:ln>
        </p:spPr>
        <p:txBody>
          <a:bodyPr/>
          <a:lstStyle/>
          <a:p/>
        </p:txBody>
      </p:sp>
      <p:sp>
        <p:nvSpPr>
          <p:cNvPr id="21" name="CardHdr"/>
          <p:cNvSpPr txBox="1">
            <a:spLocks noGrp="1"/>
          </p:cNvSpPr>
          <p:nvPr/>
        </p:nvSpPr>
        <p:spPr>
          <a:xfrm>
            <a:off x="144000" y="1296000"/>
            <a:ext cx="5436000" cy="396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0B4D8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22" name="CardTitle"/>
          <p:cNvSpPr txBox="1">
            <a:spLocks noGrp="1"/>
          </p:cNvSpPr>
          <p:nvPr/>
        </p:nvSpPr>
        <p:spPr>
          <a:xfrm>
            <a:off x="144000" y="1296000"/>
            <a:ext cx="5436000" cy="396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400" b="1" i="0" dirty="0" smtClean="0">
                <a:solidFill>
                  <a:srgbClr val="FFFFFF"/>
                </a:solidFill>
                <a:latin typeface="+mj-lt"/>
              </a:rPr>
              <a:t>Этап 1: 2025–2027</a:t>
            </a:r>
          </a:p>
        </p:txBody>
      </p:sp>
      <p:sp>
        <p:nvSpPr>
          <p:cNvPr id="23" name="CardBullets"/>
          <p:cNvSpPr txBox="1">
            <a:spLocks noGrp="1"/>
          </p:cNvSpPr>
          <p:nvPr/>
        </p:nvSpPr>
        <p:spPr>
          <a:xfrm>
            <a:off x="216000" y="1764000"/>
            <a:ext cx="5292000" cy="49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Инфраструктура фискальной трансмиссии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Интеграция MyID с адресными выплатами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Расширение широкополосного доступа в регионах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Цифровые навыки: программы для населения и МСП</a:t>
            </a:r>
          </a:p>
        </p:txBody>
      </p:sp>
      <p:sp>
        <p:nvSpPr>
          <p:cNvPr id="30" name="Card"/>
          <p:cNvSpPr txBox="1">
            <a:spLocks noGrp="1"/>
          </p:cNvSpPr>
          <p:nvPr/>
        </p:nvSpPr>
        <p:spPr>
          <a:xfrm>
            <a:off x="6263999" y="1296000"/>
            <a:ext cx="5436000" cy="54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90E0EF"/>
            </a:solidFill>
          </a:ln>
        </p:spPr>
        <p:txBody>
          <a:bodyPr/>
          <a:lstStyle/>
          <a:p/>
        </p:txBody>
      </p:sp>
      <p:sp>
        <p:nvSpPr>
          <p:cNvPr id="31" name="CardHdr"/>
          <p:cNvSpPr txBox="1">
            <a:spLocks noGrp="1"/>
          </p:cNvSpPr>
          <p:nvPr/>
        </p:nvSpPr>
        <p:spPr>
          <a:xfrm>
            <a:off x="6263999" y="1296000"/>
            <a:ext cx="5436000" cy="396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2" name="CardTitle"/>
          <p:cNvSpPr txBox="1">
            <a:spLocks noGrp="1"/>
          </p:cNvSpPr>
          <p:nvPr/>
        </p:nvSpPr>
        <p:spPr>
          <a:xfrm>
            <a:off x="6263999" y="1296000"/>
            <a:ext cx="5436000" cy="396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400" b="1" i="0" dirty="0" smtClean="0">
                <a:solidFill>
                  <a:srgbClr val="FFFFFF"/>
                </a:solidFill>
                <a:latin typeface="+mj-lt"/>
              </a:rPr>
              <a:t>Этап 2: 2027–2030+</a:t>
            </a:r>
          </a:p>
        </p:txBody>
      </p:sp>
      <p:sp>
        <p:nvSpPr>
          <p:cNvPr id="33" name="CardBullets"/>
          <p:cNvSpPr txBox="1">
            <a:spLocks noGrp="1"/>
          </p:cNvSpPr>
          <p:nvPr/>
        </p:nvSpPr>
        <p:spPr>
          <a:xfrm>
            <a:off x="6335999" y="1764000"/>
            <a:ext cx="5292000" cy="49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Устранение разрыва: бизнес-сектор ≈ государственный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Достижение «порога» антикризисной зрелости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Значимые interaction terms в будущих моделях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Адаптация опыта X-Road (Эстония) к масштабу Узбекистана</a:t>
            </a:r>
          </a:p>
        </p:txBody>
      </p:sp>
      <p:sp>
        <p:nvSpPr>
          <p:cNvPr id="50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"/>
          <p:cNvSpPr txBox="1">
            <a:spLocks noGrp="1"/>
          </p:cNvSpPr>
          <p:nvPr/>
        </p:nvSpPr>
        <p:spPr>
          <a:xfrm>
            <a:off x="0" y="0"/>
            <a:ext cx="12193200" cy="118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2" name="Line12"/>
          <p:cNvSpPr txBox="1">
            <a:spLocks noGrp="1"/>
          </p:cNvSpPr>
          <p:nvPr/>
        </p:nvSpPr>
        <p:spPr>
          <a:xfrm>
            <a:off x="0" y="1170000"/>
            <a:ext cx="121932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itle"/>
          <p:cNvSpPr txBox="1">
            <a:spLocks noGrp="1"/>
          </p:cNvSpPr>
          <p:nvPr/>
        </p:nvSpPr>
        <p:spPr>
          <a:xfrm>
            <a:off x="251999" y="72000"/>
            <a:ext cx="11761199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2100" b="1" i="0" dirty="0" smtClean="0">
                <a:solidFill>
                  <a:srgbClr val="FFFFFF"/>
                </a:solidFill>
                <a:latin typeface="+mj-lt"/>
              </a:rPr>
              <a:t>Научная новизна и практическая значимость</a:t>
            </a:r>
          </a:p>
        </p:txBody>
      </p:sp>
      <p:sp>
        <p:nvSpPr>
          <p:cNvPr id="20" name="Card"/>
          <p:cNvSpPr txBox="1">
            <a:spLocks noGrp="1"/>
          </p:cNvSpPr>
          <p:nvPr/>
        </p:nvSpPr>
        <p:spPr>
          <a:xfrm>
            <a:off x="144000" y="1296000"/>
            <a:ext cx="5436000" cy="54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90E0EF"/>
            </a:solidFill>
          </a:ln>
        </p:spPr>
        <p:txBody>
          <a:bodyPr/>
          <a:lstStyle/>
          <a:p/>
        </p:txBody>
      </p:sp>
      <p:sp>
        <p:nvSpPr>
          <p:cNvPr id="21" name="CardHdr"/>
          <p:cNvSpPr txBox="1">
            <a:spLocks noGrp="1"/>
          </p:cNvSpPr>
          <p:nvPr/>
        </p:nvSpPr>
        <p:spPr>
          <a:xfrm>
            <a:off x="144000" y="1296000"/>
            <a:ext cx="5436000" cy="396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0B4D8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22" name="CardTitle"/>
          <p:cNvSpPr txBox="1">
            <a:spLocks noGrp="1"/>
          </p:cNvSpPr>
          <p:nvPr/>
        </p:nvSpPr>
        <p:spPr>
          <a:xfrm>
            <a:off x="144000" y="1296000"/>
            <a:ext cx="5436000" cy="396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400" b="1" i="0" dirty="0" smtClean="0">
                <a:solidFill>
                  <a:srgbClr val="FFFFFF"/>
                </a:solidFill>
                <a:latin typeface="+mj-lt"/>
              </a:rPr>
              <a:t>Научная новизна</a:t>
            </a:r>
          </a:p>
        </p:txBody>
      </p:sp>
      <p:sp>
        <p:nvSpPr>
          <p:cNvPr id="23" name="CardBullets"/>
          <p:cNvSpPr txBox="1">
            <a:spLocks noGrp="1"/>
          </p:cNvSpPr>
          <p:nvPr/>
        </p:nvSpPr>
        <p:spPr>
          <a:xfrm>
            <a:off x="216000" y="1764000"/>
            <a:ext cx="5292000" cy="49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Систематизирована пятиканальная модель влияния цифровизации на устойчивость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Эмпирически подтверждена структурная неоднородность эффекта (тест Чоу)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Выявлен «порог» цифровой зрелости для значимого антикризисного эффекта</a:t>
            </a:r>
          </a:p>
        </p:txBody>
      </p:sp>
      <p:sp>
        <p:nvSpPr>
          <p:cNvPr id="30" name="Card"/>
          <p:cNvSpPr txBox="1">
            <a:spLocks noGrp="1"/>
          </p:cNvSpPr>
          <p:nvPr/>
        </p:nvSpPr>
        <p:spPr>
          <a:xfrm>
            <a:off x="6263999" y="1296000"/>
            <a:ext cx="5436000" cy="54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90E0EF"/>
            </a:solidFill>
          </a:ln>
        </p:spPr>
        <p:txBody>
          <a:bodyPr/>
          <a:lstStyle/>
          <a:p/>
        </p:txBody>
      </p:sp>
      <p:sp>
        <p:nvSpPr>
          <p:cNvPr id="31" name="CardHdr"/>
          <p:cNvSpPr txBox="1">
            <a:spLocks noGrp="1"/>
          </p:cNvSpPr>
          <p:nvPr/>
        </p:nvSpPr>
        <p:spPr>
          <a:xfrm>
            <a:off x="6263999" y="1296000"/>
            <a:ext cx="5436000" cy="396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1565C0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32" name="CardTitle"/>
          <p:cNvSpPr txBox="1">
            <a:spLocks noGrp="1"/>
          </p:cNvSpPr>
          <p:nvPr/>
        </p:nvSpPr>
        <p:spPr>
          <a:xfrm>
            <a:off x="6263999" y="1296000"/>
            <a:ext cx="5436000" cy="396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1400" b="1" i="0" dirty="0" smtClean="0">
                <a:solidFill>
                  <a:srgbClr val="FFFFFF"/>
                </a:solidFill>
                <a:latin typeface="+mj-lt"/>
              </a:rPr>
              <a:t>Практическая значимость</a:t>
            </a:r>
          </a:p>
        </p:txBody>
      </p:sp>
      <p:sp>
        <p:nvSpPr>
          <p:cNvPr id="33" name="CardBullets"/>
          <p:cNvSpPr txBox="1">
            <a:spLocks noGrp="1"/>
          </p:cNvSpPr>
          <p:nvPr/>
        </p:nvSpPr>
        <p:spPr>
          <a:xfrm>
            <a:off x="6335999" y="1764000"/>
            <a:ext cx="5292000" cy="49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Рекомендации для уточнения Стратегии «Цифровой Узбекистан – 2030»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Методика адаптации опыта Эстонии, Кореи, Польши к условиям Узбекистана</a:t>
            </a:r>
          </a:p>
          <a:p>
            <a:pPr algn="l">
              <a:spcBef>
                <a:spcPts val="500"/>
              </a:spcBef>
            </a:pPr>
            <a:r>
              <a:rPr lang="ru-RU" sz="1300" b="0" i="0" dirty="0" smtClean="0">
                <a:solidFill>
                  <a:srgbClr val="1A237E"/>
                </a:solidFill>
                <a:latin typeface="+mj-lt"/>
              </a:rPr>
              <a:t>▶  Прогнозные сценарии ВВП на душу населения до 2030 года</a:t>
            </a:r>
          </a:p>
        </p:txBody>
      </p:sp>
      <p:sp>
        <p:nvSpPr>
          <p:cNvPr id="50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Grad"/>
          <p:cNvSpPr txBox="1"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gradFill>
            <a:gsLst>
              <a:gs pos="0">
                <a:srgbClr val="0D1B2A"/>
              </a:gs>
              <a:gs pos="100000">
                <a:srgbClr val="1A3A5C"/>
              </a:gs>
            </a:gsLst>
            <a:lin ang="162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1" name="Circle"/>
          <p:cNvSpPr txBox="1">
            <a:spLocks noGrp="1"/>
          </p:cNvSpPr>
          <p:nvPr/>
        </p:nvSpPr>
        <p:spPr>
          <a:xfrm>
            <a:off x="6660000" y="-1440000"/>
            <a:ext cx="7920000" cy="7920000"/>
          </a:xfrm>
          <a:prstGeom prst="ellipse">
            <a:avLst/>
          </a:prstGeom>
          <a:solidFill>
            <a:srgbClr val="1565C0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Circle2"/>
          <p:cNvSpPr txBox="1">
            <a:spLocks noGrp="1"/>
          </p:cNvSpPr>
          <p:nvPr/>
        </p:nvSpPr>
        <p:spPr>
          <a:xfrm>
            <a:off x="7200000" y="2880000"/>
            <a:ext cx="5040000" cy="5040000"/>
          </a:xfrm>
          <a:prstGeom prst="ellipse">
            <a:avLst/>
          </a:prstGeom>
          <a:solidFill>
            <a:srgbClr val="00B4D8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Bar"/>
          <p:cNvSpPr txBox="1">
            <a:spLocks noGrp="1"/>
          </p:cNvSpPr>
          <p:nvPr/>
        </p:nvSpPr>
        <p:spPr>
          <a:xfrm>
            <a:off x="0" y="0"/>
            <a:ext cx="180000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1565C0"/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14" name="Line14"/>
          <p:cNvSpPr txBox="1">
            <a:spLocks noGrp="1"/>
          </p:cNvSpPr>
          <p:nvPr/>
        </p:nvSpPr>
        <p:spPr>
          <a:xfrm>
            <a:off x="288000" y="4500000"/>
            <a:ext cx="7632000" cy="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Label"/>
          <p:cNvSpPr txBox="1">
            <a:spLocks noGrp="1"/>
          </p:cNvSpPr>
          <p:nvPr/>
        </p:nvSpPr>
        <p:spPr>
          <a:xfrm>
            <a:off x="324000" y="4104000"/>
            <a:ext cx="4320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900" b="1" i="0" dirty="0" smtClean="0">
                <a:solidFill>
                  <a:srgbClr val="00B4D8"/>
                </a:solidFill>
                <a:latin typeface="+mj-lt"/>
              </a:rPr>
              <a:t>ДИПЛОМНАЯ РАБОТА</a:t>
            </a:r>
          </a:p>
        </p:txBody>
      </p:sp>
      <p:sp>
        <p:nvSpPr>
          <p:cNvPr id="16" name="Title"/>
          <p:cNvSpPr txBox="1">
            <a:spLocks noGrp="1"/>
          </p:cNvSpPr>
          <p:nvPr/>
        </p:nvSpPr>
        <p:spPr>
          <a:xfrm>
            <a:off x="324000" y="1080000"/>
            <a:ext cx="7560000" cy="324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3000" b="1" i="0" dirty="0" smtClean="0">
                <a:solidFill>
                  <a:srgbClr val="FFFFFF"/>
                </a:solidFill>
                <a:latin typeface="+mj-lt"/>
              </a:rPr>
              <a:t>Основные выводы</a:t>
            </a:r>
          </a:p>
        </p:txBody>
      </p:sp>
      <p:sp>
        <p:nvSpPr>
          <p:cNvPr id="17" name="Sub"/>
          <p:cNvSpPr txBox="1">
            <a:spLocks noGrp="1"/>
          </p:cNvSpPr>
          <p:nvPr/>
        </p:nvSpPr>
        <p:spPr>
          <a:xfrm>
            <a:off x="324000" y="4608000"/>
            <a:ext cx="7920000" cy="19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1300" b="0" i="0" dirty="0" smtClean="0">
                <a:solidFill>
                  <a:srgbClr val="90E0EF"/>
                </a:solidFill>
                <a:latin typeface="+mj-lt"/>
              </a:rPr>
              <a:t>✓ H₁ подтверждена: цифровизация значимо связана с ВВП во всех трёх группах (β=0.20–0.31)</a:t>
            </a:r>
          </a:p>
          <a:p>
            <a:pPr>
              <a:spcBef>
                <a:spcPts val="300"/>
              </a:spcBef>
            </a:pPr>
            <a:endParaRPr lang="ru-RU" dirty="0"/>
          </a:p>
          <a:p>
            <a:pPr algn="l">
              <a:spcBef>
                <a:spcPts val="0"/>
              </a:spcBef>
            </a:pPr>
            <a:r>
              <a:rPr lang="ru-RU" sz="1300" b="0" i="0" dirty="0" smtClean="0">
                <a:solidFill>
                  <a:srgbClr val="90E0EF"/>
                </a:solidFill>
                <a:latin typeface="+mj-lt"/>
              </a:rPr>
              <a:t>✓ Антикризисный эффект значим только при высокой цифровой зрелости</a:t>
            </a:r>
          </a:p>
          <a:p>
            <a:pPr>
              <a:spcBef>
                <a:spcPts val="300"/>
              </a:spcBef>
            </a:pPr>
            <a:endParaRPr lang="ru-RU" dirty="0"/>
          </a:p>
          <a:p>
            <a:pPr algn="l">
              <a:spcBef>
                <a:spcPts val="0"/>
              </a:spcBef>
            </a:pPr>
            <a:r>
              <a:rPr lang="ru-RU" sz="1300" b="0" i="0" dirty="0" smtClean="0">
                <a:solidFill>
                  <a:srgbClr val="90E0EF"/>
                </a:solidFill>
                <a:latin typeface="+mj-lt"/>
              </a:rPr>
              <a:t>✓ Для Узбекистана: последовательная реализация Стратегии «Цифровой Узбекистан – 2030» —</a:t>
            </a:r>
          </a:p>
          <a:p>
            <a:pPr algn="l">
              <a:spcBef>
                <a:spcPts val="0"/>
              </a:spcBef>
            </a:pPr>
            <a:r>
              <a:rPr lang="ru-RU" sz="1300" b="0" i="0" dirty="0" smtClean="0">
                <a:solidFill>
                  <a:srgbClr val="90E0EF"/>
                </a:solidFill>
                <a:latin typeface="+mj-lt"/>
              </a:rPr>
              <a:t>   необходимое условие перехода от роста к устойчивости</a:t>
            </a:r>
          </a:p>
          <a:p>
            <a:pPr>
              <a:spcBef>
                <a:spcPts val="300"/>
              </a:spcBef>
            </a:pPr>
            <a:endParaRPr lang="ru-RU" dirty="0"/>
          </a:p>
          <a:p>
            <a:pPr algn="l">
              <a:spcBef>
                <a:spcPts val="0"/>
              </a:spcBef>
            </a:pPr>
            <a:r>
              <a:rPr lang="ru-RU" sz="1300" b="0" i="0" dirty="0" smtClean="0">
                <a:solidFill>
                  <a:srgbClr val="90E0EF"/>
                </a:solidFill>
                <a:latin typeface="+mj-lt"/>
              </a:rPr>
              <a:t>Спасибо за внимание!</a:t>
            </a:r>
          </a:p>
        </p:txBody>
      </p:sp>
      <p:sp>
        <p:nvSpPr>
          <p:cNvPr id="18" name="Footer"/>
          <p:cNvSpPr txBox="1">
            <a:spLocks noGrp="1"/>
          </p:cNvSpPr>
          <p:nvPr/>
        </p:nvSpPr>
        <p:spPr>
          <a:xfrm>
            <a:off x="0" y="6462000"/>
            <a:ext cx="12193200" cy="396000"/>
          </a:xfrm>
          <a:prstGeom prst="rect">
            <a:avLst/>
          </a:prstGeom>
          <a:solidFill>
            <a:srgbClr val="1565C0">
              <a:alpha val="8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lideNum"/>
          <p:cNvSpPr txBox="1">
            <a:spLocks noGrp="1"/>
          </p:cNvSpPr>
          <p:nvPr/>
        </p:nvSpPr>
        <p:spPr>
          <a:xfrm>
            <a:off x="10933200" y="6624000"/>
            <a:ext cx="1152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>
              <a:spcBef>
                <a:spcPts val="0"/>
              </a:spcBef>
            </a:pPr>
            <a:r>
              <a:rPr lang="ru-RU" sz="900" b="0" i="0" dirty="0" smtClean="0">
                <a:solidFill>
                  <a:srgbClr val="90E0EF"/>
                </a:solidFill>
                <a:latin typeface="+mj-lt"/>
              </a:rPr>
              <a:t>15 / 15</a:t>
            </a:r>
          </a:p>
        </p:txBody>
      </p:sp>
    </p:spTree>
  </p:cSld>
  <p:clrMapOvr>
    <a:masterClrMapping/>
  </p:clrMapOvr>
</p:sld>
</file>